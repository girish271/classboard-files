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2"/>
  </p:notesMasterIdLst>
  <p:handoutMasterIdLst>
    <p:handoutMasterId r:id="rId103"/>
  </p:handoutMasterIdLst>
  <p:sldIdLst>
    <p:sldId id="256" r:id="rId2"/>
    <p:sldId id="1330" r:id="rId3"/>
    <p:sldId id="1420" r:id="rId4"/>
    <p:sldId id="1365" r:id="rId5"/>
    <p:sldId id="1421" r:id="rId6"/>
    <p:sldId id="1366" r:id="rId7"/>
    <p:sldId id="1422" r:id="rId8"/>
    <p:sldId id="1423" r:id="rId9"/>
    <p:sldId id="1424" r:id="rId10"/>
    <p:sldId id="1425" r:id="rId11"/>
    <p:sldId id="1426" r:id="rId12"/>
    <p:sldId id="1427" r:id="rId13"/>
    <p:sldId id="1428" r:id="rId14"/>
    <p:sldId id="1429" r:id="rId15"/>
    <p:sldId id="1430" r:id="rId16"/>
    <p:sldId id="1431" r:id="rId17"/>
    <p:sldId id="1433" r:id="rId18"/>
    <p:sldId id="1432" r:id="rId19"/>
    <p:sldId id="1434" r:id="rId20"/>
    <p:sldId id="1446" r:id="rId21"/>
    <p:sldId id="1435" r:id="rId22"/>
    <p:sldId id="1436" r:id="rId23"/>
    <p:sldId id="1437" r:id="rId24"/>
    <p:sldId id="1438" r:id="rId25"/>
    <p:sldId id="1439" r:id="rId26"/>
    <p:sldId id="1440" r:id="rId27"/>
    <p:sldId id="1441" r:id="rId28"/>
    <p:sldId id="1442" r:id="rId29"/>
    <p:sldId id="1443" r:id="rId30"/>
    <p:sldId id="1444" r:id="rId31"/>
    <p:sldId id="1445" r:id="rId32"/>
    <p:sldId id="1447" r:id="rId33"/>
    <p:sldId id="1448" r:id="rId34"/>
    <p:sldId id="1449" r:id="rId35"/>
    <p:sldId id="1450" r:id="rId36"/>
    <p:sldId id="1451" r:id="rId37"/>
    <p:sldId id="1452" r:id="rId38"/>
    <p:sldId id="1453" r:id="rId39"/>
    <p:sldId id="1454" r:id="rId40"/>
    <p:sldId id="1456" r:id="rId41"/>
    <p:sldId id="1455" r:id="rId42"/>
    <p:sldId id="1457" r:id="rId43"/>
    <p:sldId id="1459" r:id="rId44"/>
    <p:sldId id="1472" r:id="rId45"/>
    <p:sldId id="1458" r:id="rId46"/>
    <p:sldId id="1474" r:id="rId47"/>
    <p:sldId id="1476" r:id="rId48"/>
    <p:sldId id="1473" r:id="rId49"/>
    <p:sldId id="1475" r:id="rId50"/>
    <p:sldId id="1460" r:id="rId51"/>
    <p:sldId id="1461" r:id="rId52"/>
    <p:sldId id="1462" r:id="rId53"/>
    <p:sldId id="1463" r:id="rId54"/>
    <p:sldId id="1464" r:id="rId55"/>
    <p:sldId id="1465" r:id="rId56"/>
    <p:sldId id="1466" r:id="rId57"/>
    <p:sldId id="1467" r:id="rId58"/>
    <p:sldId id="1468" r:id="rId59"/>
    <p:sldId id="1469" r:id="rId60"/>
    <p:sldId id="1477" r:id="rId61"/>
    <p:sldId id="1470" r:id="rId62"/>
    <p:sldId id="1471" r:id="rId63"/>
    <p:sldId id="1478" r:id="rId64"/>
    <p:sldId id="1479" r:id="rId65"/>
    <p:sldId id="1480" r:id="rId66"/>
    <p:sldId id="1482" r:id="rId67"/>
    <p:sldId id="1481" r:id="rId68"/>
    <p:sldId id="1483" r:id="rId69"/>
    <p:sldId id="1484" r:id="rId70"/>
    <p:sldId id="1485" r:id="rId71"/>
    <p:sldId id="1489" r:id="rId72"/>
    <p:sldId id="1486" r:id="rId73"/>
    <p:sldId id="1487" r:id="rId74"/>
    <p:sldId id="1488" r:id="rId75"/>
    <p:sldId id="1490" r:id="rId76"/>
    <p:sldId id="1491" r:id="rId77"/>
    <p:sldId id="1493" r:id="rId78"/>
    <p:sldId id="1492" r:id="rId79"/>
    <p:sldId id="1494" r:id="rId80"/>
    <p:sldId id="1496" r:id="rId81"/>
    <p:sldId id="1497" r:id="rId82"/>
    <p:sldId id="1495" r:id="rId83"/>
    <p:sldId id="1498" r:id="rId84"/>
    <p:sldId id="1499" r:id="rId85"/>
    <p:sldId id="1513" r:id="rId86"/>
    <p:sldId id="1514" r:id="rId87"/>
    <p:sldId id="1515" r:id="rId88"/>
    <p:sldId id="1512" r:id="rId89"/>
    <p:sldId id="1511" r:id="rId90"/>
    <p:sldId id="1500" r:id="rId91"/>
    <p:sldId id="1501" r:id="rId92"/>
    <p:sldId id="1502" r:id="rId93"/>
    <p:sldId id="1503" r:id="rId94"/>
    <p:sldId id="1504" r:id="rId95"/>
    <p:sldId id="1505" r:id="rId96"/>
    <p:sldId id="1506" r:id="rId97"/>
    <p:sldId id="1509" r:id="rId98"/>
    <p:sldId id="1508" r:id="rId99"/>
    <p:sldId id="1507" r:id="rId100"/>
    <p:sldId id="1510" r:id="rId101"/>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3374D542-6E3E-455F-9BFB-B45891911720}">
          <p14:sldIdLst>
            <p14:sldId id="256"/>
            <p14:sldId id="1330"/>
            <p14:sldId id="1420"/>
            <p14:sldId id="1365"/>
            <p14:sldId id="1421"/>
            <p14:sldId id="1366"/>
            <p14:sldId id="1422"/>
            <p14:sldId id="1423"/>
            <p14:sldId id="1424"/>
            <p14:sldId id="1425"/>
            <p14:sldId id="1426"/>
            <p14:sldId id="1427"/>
            <p14:sldId id="1428"/>
            <p14:sldId id="1429"/>
            <p14:sldId id="1430"/>
            <p14:sldId id="1431"/>
            <p14:sldId id="1433"/>
            <p14:sldId id="1432"/>
            <p14:sldId id="1434"/>
            <p14:sldId id="1446"/>
            <p14:sldId id="1435"/>
            <p14:sldId id="1436"/>
            <p14:sldId id="1437"/>
            <p14:sldId id="1438"/>
            <p14:sldId id="1439"/>
            <p14:sldId id="1440"/>
            <p14:sldId id="1441"/>
            <p14:sldId id="1442"/>
            <p14:sldId id="1443"/>
            <p14:sldId id="1444"/>
            <p14:sldId id="1445"/>
            <p14:sldId id="1447"/>
            <p14:sldId id="1448"/>
            <p14:sldId id="1449"/>
            <p14:sldId id="1450"/>
            <p14:sldId id="1451"/>
            <p14:sldId id="1452"/>
            <p14:sldId id="1453"/>
            <p14:sldId id="1454"/>
            <p14:sldId id="1456"/>
            <p14:sldId id="1455"/>
            <p14:sldId id="1457"/>
            <p14:sldId id="1459"/>
            <p14:sldId id="1472"/>
            <p14:sldId id="1458"/>
            <p14:sldId id="1474"/>
            <p14:sldId id="1476"/>
            <p14:sldId id="1473"/>
            <p14:sldId id="1475"/>
            <p14:sldId id="1460"/>
            <p14:sldId id="1461"/>
            <p14:sldId id="1462"/>
            <p14:sldId id="1463"/>
            <p14:sldId id="1464"/>
            <p14:sldId id="1465"/>
            <p14:sldId id="1466"/>
            <p14:sldId id="1467"/>
            <p14:sldId id="1468"/>
            <p14:sldId id="1469"/>
            <p14:sldId id="1477"/>
            <p14:sldId id="1470"/>
            <p14:sldId id="1471"/>
            <p14:sldId id="1478"/>
            <p14:sldId id="1479"/>
            <p14:sldId id="1480"/>
            <p14:sldId id="1482"/>
            <p14:sldId id="1481"/>
            <p14:sldId id="1483"/>
            <p14:sldId id="1484"/>
            <p14:sldId id="1485"/>
            <p14:sldId id="1489"/>
            <p14:sldId id="1486"/>
            <p14:sldId id="1487"/>
            <p14:sldId id="1488"/>
            <p14:sldId id="1490"/>
            <p14:sldId id="1491"/>
            <p14:sldId id="1493"/>
            <p14:sldId id="1492"/>
            <p14:sldId id="1494"/>
            <p14:sldId id="1496"/>
            <p14:sldId id="1497"/>
            <p14:sldId id="1495"/>
            <p14:sldId id="1498"/>
            <p14:sldId id="1499"/>
            <p14:sldId id="1513"/>
            <p14:sldId id="1514"/>
            <p14:sldId id="1515"/>
            <p14:sldId id="1512"/>
            <p14:sldId id="1511"/>
            <p14:sldId id="1500"/>
            <p14:sldId id="1501"/>
            <p14:sldId id="1502"/>
            <p14:sldId id="1503"/>
            <p14:sldId id="1504"/>
            <p14:sldId id="1505"/>
            <p14:sldId id="1506"/>
            <p14:sldId id="1509"/>
            <p14:sldId id="1508"/>
            <p14:sldId id="1507"/>
            <p14:sldId id="151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463B"/>
    <a:srgbClr val="E3473B"/>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0" autoAdjust="0"/>
    <p:restoredTop sz="94598" autoAdjust="0"/>
  </p:normalViewPr>
  <p:slideViewPr>
    <p:cSldViewPr snapToGrid="0">
      <p:cViewPr varScale="1">
        <p:scale>
          <a:sx n="72" d="100"/>
          <a:sy n="72" d="100"/>
        </p:scale>
        <p:origin x="1350" y="78"/>
      </p:cViewPr>
      <p:guideLst>
        <p:guide orient="horz" pos="2160"/>
        <p:guide pos="2880"/>
      </p:guideLst>
    </p:cSldViewPr>
  </p:slideViewPr>
  <p:notesTextViewPr>
    <p:cViewPr>
      <p:scale>
        <a:sx n="1" d="1"/>
        <a:sy n="1" d="1"/>
      </p:scale>
      <p:origin x="0" y="0"/>
    </p:cViewPr>
  </p:notesTextViewPr>
  <p:notesViewPr>
    <p:cSldViewPr snapToGrid="0">
      <p:cViewPr varScale="1">
        <p:scale>
          <a:sx n="63" d="100"/>
          <a:sy n="63" d="100"/>
        </p:scale>
        <p:origin x="3134" y="6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CFA27D0-D55F-4AE0-BA23-4AD727EFD364}"/>
              </a:ext>
            </a:extLst>
          </p:cNvPr>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B2E19131-BE53-481D-AA6E-0324EB805125}"/>
              </a:ext>
            </a:extLst>
          </p:cNvPr>
          <p:cNvSpPr>
            <a:spLocks noGrp="1"/>
          </p:cNvSpPr>
          <p:nvPr>
            <p:ph type="dt" sz="quarter" idx="1"/>
          </p:nvPr>
        </p:nvSpPr>
        <p:spPr>
          <a:xfrm>
            <a:off x="5179484" y="1"/>
            <a:ext cx="3962400" cy="344091"/>
          </a:xfrm>
          <a:prstGeom prst="rect">
            <a:avLst/>
          </a:prstGeom>
        </p:spPr>
        <p:txBody>
          <a:bodyPr vert="horz" lIns="91440" tIns="45720" rIns="91440" bIns="45720" rtlCol="0"/>
          <a:lstStyle>
            <a:lvl1pPr algn="r">
              <a:defRPr sz="1200"/>
            </a:lvl1pPr>
          </a:lstStyle>
          <a:p>
            <a:fld id="{FEFF0A3A-45BD-432C-A603-45A7D5AC4D0C}" type="datetimeFigureOut">
              <a:rPr lang="en-IN" smtClean="0"/>
              <a:pPr/>
              <a:t>02-09-2021</a:t>
            </a:fld>
            <a:endParaRPr lang="en-IN"/>
          </a:p>
        </p:txBody>
      </p:sp>
      <p:sp>
        <p:nvSpPr>
          <p:cNvPr id="4" name="Footer Placeholder 3">
            <a:extLst>
              <a:ext uri="{FF2B5EF4-FFF2-40B4-BE49-F238E27FC236}">
                <a16:creationId xmlns:a16="http://schemas.microsoft.com/office/drawing/2014/main" id="{13FD9D77-D35C-41BA-A623-337F7491C7A2}"/>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30F0AC5-09E4-49E2-9714-7B40EFB21DE2}"/>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DC50F8BE-0248-4BC6-8698-DDE47A170CF5}" type="slidenum">
              <a:rPr lang="en-IN" smtClean="0"/>
              <a:pPr/>
              <a:t>‹#›</a:t>
            </a:fld>
            <a:endParaRPr lang="en-IN"/>
          </a:p>
        </p:txBody>
      </p:sp>
    </p:spTree>
    <p:extLst>
      <p:ext uri="{BB962C8B-B14F-4D97-AF65-F5344CB8AC3E}">
        <p14:creationId xmlns:p14="http://schemas.microsoft.com/office/powerpoint/2010/main" val="29737284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E4C3FCC2-4E7A-4671-AA79-177CB194E449}" type="datetimeFigureOut">
              <a:rPr lang="en-US" smtClean="0"/>
              <a:pPr/>
              <a:t>9/2/2021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5A01C38D-F26D-4167-83EF-8774BC62D548}" type="slidenum">
              <a:rPr lang="en-US" smtClean="0"/>
              <a:pPr/>
              <a:t>‹#›</a:t>
            </a:fld>
            <a:endParaRPr lang="en-US"/>
          </a:p>
        </p:txBody>
      </p:sp>
    </p:spTree>
    <p:extLst>
      <p:ext uri="{BB962C8B-B14F-4D97-AF65-F5344CB8AC3E}">
        <p14:creationId xmlns:p14="http://schemas.microsoft.com/office/powerpoint/2010/main" val="333605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191214" y="262785"/>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p:cNvSpPr/>
          <p:nvPr userDrawn="1"/>
        </p:nvSpPr>
        <p:spPr bwMode="blackWhite">
          <a:xfrm>
            <a:off x="191213" y="262785"/>
            <a:ext cx="8761576"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a:xfrm>
            <a:off x="390906" y="1536192"/>
            <a:ext cx="5157216" cy="640080"/>
          </a:xfrm>
        </p:spPr>
        <p:txBody>
          <a:bodyPr>
            <a:normAutofit/>
          </a:bodyPr>
          <a:lstStyle>
            <a:lvl1pPr>
              <a:defRPr sz="27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404622" y="2560320"/>
            <a:ext cx="7084314" cy="3977640"/>
          </a:xfrm>
        </p:spPr>
        <p:txBody>
          <a:bodyPr vert="horz" lIns="91440" tIns="45720" rIns="91440" bIns="45720" rtlCol="0">
            <a:normAutofit/>
          </a:bodyPr>
          <a:lstStyle>
            <a:lvl1pPr>
              <a:defRPr lang="en-US" sz="1800" b="1" smtClean="0">
                <a:solidFill>
                  <a:schemeClr val="tx1">
                    <a:lumMod val="75000"/>
                    <a:lumOff val="25000"/>
                  </a:schemeClr>
                </a:solidFill>
                <a:latin typeface="+mj-lt"/>
              </a:defRPr>
            </a:lvl1pPr>
            <a:lvl2pPr>
              <a:defRPr lang="en-US" sz="14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100" dirty="0" smtClean="0">
                <a:solidFill>
                  <a:schemeClr val="tx1">
                    <a:lumMod val="75000"/>
                    <a:lumOff val="25000"/>
                  </a:schemeClr>
                </a:solidFill>
              </a:defRPr>
            </a:lvl4pPr>
            <a:lvl5pPr>
              <a:defRPr lang="en-US" sz="1000" dirty="0">
                <a:solidFill>
                  <a:schemeClr val="tx1">
                    <a:lumMod val="75000"/>
                    <a:lumOff val="25000"/>
                  </a:schemeClr>
                </a:solidFill>
              </a:defRPr>
            </a:lvl5pPr>
          </a:lstStyle>
          <a:p>
            <a:pPr marL="0" lvl="0" indent="0">
              <a:lnSpc>
                <a:spcPct val="150000"/>
              </a:lnSpc>
              <a:spcBef>
                <a:spcPts val="750"/>
              </a:spcBef>
              <a:spcAft>
                <a:spcPts val="900"/>
              </a:spcAft>
              <a:buNone/>
            </a:pPr>
            <a:r>
              <a:rPr lang="en-US"/>
              <a:t>Click to edit Master text styles</a:t>
            </a:r>
          </a:p>
          <a:p>
            <a:pPr marL="0" lvl="1" indent="0">
              <a:lnSpc>
                <a:spcPct val="150000"/>
              </a:lnSpc>
              <a:spcBef>
                <a:spcPts val="750"/>
              </a:spcBef>
              <a:spcAft>
                <a:spcPts val="900"/>
              </a:spcAft>
              <a:buNone/>
            </a:pPr>
            <a:r>
              <a:rPr lang="en-US"/>
              <a:t>Second level</a:t>
            </a:r>
          </a:p>
          <a:p>
            <a:pPr marL="0" lvl="2" indent="0">
              <a:lnSpc>
                <a:spcPct val="150000"/>
              </a:lnSpc>
              <a:spcBef>
                <a:spcPts val="750"/>
              </a:spcBef>
              <a:spcAft>
                <a:spcPts val="900"/>
              </a:spcAft>
              <a:buNone/>
            </a:pPr>
            <a:r>
              <a:rPr lang="en-US"/>
              <a:t>Third level</a:t>
            </a:r>
          </a:p>
          <a:p>
            <a:pPr marL="0" lvl="3" indent="0">
              <a:lnSpc>
                <a:spcPct val="150000"/>
              </a:lnSpc>
              <a:spcBef>
                <a:spcPts val="750"/>
              </a:spcBef>
              <a:spcAft>
                <a:spcPts val="900"/>
              </a:spcAft>
              <a:buNone/>
            </a:pPr>
            <a:r>
              <a:rPr lang="en-US"/>
              <a:t>Fourth level</a:t>
            </a:r>
          </a:p>
          <a:p>
            <a:pPr marL="0" lvl="4" indent="0">
              <a:lnSpc>
                <a:spcPct val="150000"/>
              </a:lnSpc>
              <a:spcBef>
                <a:spcPts val="750"/>
              </a:spcBef>
              <a:spcAft>
                <a:spcPts val="900"/>
              </a:spcAft>
              <a:buNone/>
            </a:pPr>
            <a:r>
              <a:rPr lang="en-US"/>
              <a:t>Fifth level</a:t>
            </a:r>
            <a:endParaRPr lang="en-US" dirty="0"/>
          </a:p>
        </p:txBody>
      </p:sp>
      <p:sp>
        <p:nvSpPr>
          <p:cNvPr id="11" name="L-shape 10">
            <a:extLst>
              <a:ext uri="{FF2B5EF4-FFF2-40B4-BE49-F238E27FC236}">
                <a16:creationId xmlns:a16="http://schemas.microsoft.com/office/drawing/2014/main" id="{DD51BE57-7D13-D643-B7A8-5D7B5F437ADD}"/>
              </a:ext>
            </a:extLst>
          </p:cNvPr>
          <p:cNvSpPr/>
          <p:nvPr userDrawn="1"/>
        </p:nvSpPr>
        <p:spPr>
          <a:xfrm rot="10800000">
            <a:off x="1916104" y="-2"/>
            <a:ext cx="7227896" cy="5174938"/>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shape 11">
            <a:extLst>
              <a:ext uri="{FF2B5EF4-FFF2-40B4-BE49-F238E27FC236}">
                <a16:creationId xmlns:a16="http://schemas.microsoft.com/office/drawing/2014/main" id="{31ABB352-5B43-4A4E-8BAD-81E001686E0C}"/>
              </a:ext>
            </a:extLst>
          </p:cNvPr>
          <p:cNvSpPr/>
          <p:nvPr userDrawn="1"/>
        </p:nvSpPr>
        <p:spPr>
          <a:xfrm>
            <a:off x="0" y="1683062"/>
            <a:ext cx="7227896" cy="5174939"/>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0FE6AC9-4632-3B4E-808A-E22675BD8A04}"/>
              </a:ext>
            </a:extLst>
          </p:cNvPr>
          <p:cNvSpPr txBox="1"/>
          <p:nvPr userDrawn="1"/>
        </p:nvSpPr>
        <p:spPr>
          <a:xfrm>
            <a:off x="6303264" y="6569530"/>
            <a:ext cx="2282424" cy="202325"/>
          </a:xfrm>
          <a:prstGeom prst="rect">
            <a:avLst/>
          </a:prstGeom>
        </p:spPr>
        <p:txBody>
          <a:bodyPr vert="horz" wrap="square" lIns="91440" tIns="45720" rIns="91440" bIns="45720" rtlCol="0">
            <a:noAutofit/>
          </a:bodyPr>
          <a:lstStyle/>
          <a:p>
            <a:pPr marL="0" indent="0" algn="l">
              <a:lnSpc>
                <a:spcPct val="100000"/>
              </a:lnSpc>
              <a:spcAft>
                <a:spcPts val="600"/>
              </a:spcAft>
              <a:buNone/>
            </a:pPr>
            <a:r>
              <a:rPr lang="en-US" sz="900" b="0" dirty="0">
                <a:solidFill>
                  <a:schemeClr val="tx1">
                    <a:lumMod val="50000"/>
                    <a:lumOff val="50000"/>
                  </a:schemeClr>
                </a:solidFill>
                <a:latin typeface="Century Gothic" panose="020B0502020202020204" pitchFamily="34" charset="0"/>
                <a:cs typeface="Segoe UI" panose="020B0502040204020203" pitchFamily="34" charset="0"/>
              </a:rPr>
              <a:t>COURSE:OS	UNIT: 5         Pg. </a:t>
            </a:r>
            <a:fld id="{9797E4EC-1DFC-48AB-99D7-D9FEFAC238D0}" type="slidenum">
              <a:rPr lang="en-US" sz="900" b="0" kern="1200" smtClean="0">
                <a:solidFill>
                  <a:schemeClr val="tx1">
                    <a:lumMod val="50000"/>
                    <a:lumOff val="50000"/>
                  </a:schemeClr>
                </a:solidFill>
                <a:latin typeface="Century Gothic" panose="020B0502020202020204" pitchFamily="34" charset="0"/>
                <a:ea typeface="+mn-ea"/>
                <a:cs typeface="Segoe UI" panose="020B0502040204020203" pitchFamily="34" charset="0"/>
              </a:rPr>
              <a:pPr marL="0" indent="0" algn="l">
                <a:lnSpc>
                  <a:spcPct val="100000"/>
                </a:lnSpc>
                <a:spcAft>
                  <a:spcPts val="600"/>
                </a:spcAft>
                <a:buNone/>
              </a:pPr>
              <a:t>‹#›</a:t>
            </a:fld>
            <a:endParaRPr lang="en-US" sz="900" b="0" kern="1200" dirty="0">
              <a:solidFill>
                <a:schemeClr val="tx1">
                  <a:lumMod val="50000"/>
                  <a:lumOff val="50000"/>
                </a:schemeClr>
              </a:solidFill>
              <a:latin typeface="Century Gothic" panose="020B0502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697828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7B85FB-BE77-4A54-BF87-FDBF0A74D14B}"/>
              </a:ext>
            </a:extLst>
          </p:cNvPr>
          <p:cNvSpPr/>
          <p:nvPr userDrawn="1"/>
        </p:nvSpPr>
        <p:spPr>
          <a:xfrm>
            <a:off x="768096" y="1685235"/>
            <a:ext cx="2267712" cy="2862322"/>
          </a:xfrm>
          <a:prstGeom prst="rect">
            <a:avLst/>
          </a:prstGeom>
        </p:spPr>
        <p:txBody>
          <a:bodyPr wrap="square">
            <a:spAutoFit/>
          </a:bodyPr>
          <a:lstStyle/>
          <a:p>
            <a:r>
              <a:rPr lang="en-US" sz="2000" b="1" dirty="0">
                <a:solidFill>
                  <a:srgbClr val="C00000"/>
                </a:solidFill>
                <a:latin typeface="Century Gothic" panose="020B0502020202020204" pitchFamily="34" charset="0"/>
              </a:rPr>
              <a:t>DEPT &amp; SEM	: </a:t>
            </a:r>
            <a:br>
              <a:rPr lang="en-US" sz="2000" b="1" dirty="0">
                <a:solidFill>
                  <a:srgbClr val="C00000"/>
                </a:solidFill>
                <a:latin typeface="Century Gothic" panose="020B0502020202020204" pitchFamily="34" charset="0"/>
              </a:rPr>
            </a:br>
            <a:br>
              <a:rPr lang="en-US" sz="2000" b="1" dirty="0">
                <a:solidFill>
                  <a:srgbClr val="FFFF00"/>
                </a:solidFill>
                <a:latin typeface="Century Gothic" panose="020B0502020202020204" pitchFamily="34" charset="0"/>
              </a:rPr>
            </a:br>
            <a:r>
              <a:rPr lang="en-US" sz="2000" b="1" dirty="0">
                <a:solidFill>
                  <a:srgbClr val="C00000"/>
                </a:solidFill>
                <a:latin typeface="Century Gothic" panose="020B0502020202020204" pitchFamily="34" charset="0"/>
              </a:rPr>
              <a:t>SUBJECT NAME	:</a:t>
            </a:r>
            <a:br>
              <a:rPr lang="en-US" sz="2000" b="1" dirty="0">
                <a:solidFill>
                  <a:srgbClr val="C00000"/>
                </a:solidFill>
                <a:latin typeface="Century Gothic" panose="020B0502020202020204" pitchFamily="34" charset="0"/>
              </a:rPr>
            </a:br>
            <a:br>
              <a:rPr lang="en-US" sz="2000" b="1" dirty="0">
                <a:solidFill>
                  <a:srgbClr val="FFFF00"/>
                </a:solidFill>
                <a:latin typeface="Century Gothic" panose="020B0502020202020204" pitchFamily="34" charset="0"/>
              </a:rPr>
            </a:br>
            <a:r>
              <a:rPr lang="en-US" sz="2000" b="1" dirty="0">
                <a:solidFill>
                  <a:srgbClr val="C00000"/>
                </a:solidFill>
                <a:latin typeface="Century Gothic" panose="020B0502020202020204" pitchFamily="34" charset="0"/>
              </a:rPr>
              <a:t>COURSE CODE	:</a:t>
            </a:r>
            <a:br>
              <a:rPr lang="en-US" sz="2000" b="1" dirty="0">
                <a:solidFill>
                  <a:srgbClr val="C00000"/>
                </a:solidFill>
                <a:latin typeface="Century Gothic" panose="020B0502020202020204" pitchFamily="34" charset="0"/>
              </a:rPr>
            </a:br>
            <a:br>
              <a:rPr lang="en-US" sz="2000" b="1" dirty="0">
                <a:solidFill>
                  <a:srgbClr val="C00000"/>
                </a:solidFill>
                <a:latin typeface="Century Gothic" panose="020B0502020202020204" pitchFamily="34" charset="0"/>
              </a:rPr>
            </a:br>
            <a:r>
              <a:rPr lang="en-US" sz="2000" b="1" dirty="0">
                <a:solidFill>
                  <a:srgbClr val="C00000"/>
                </a:solidFill>
                <a:latin typeface="Century Gothic" panose="020B0502020202020204" pitchFamily="34" charset="0"/>
              </a:rPr>
              <a:t>UNIT		:</a:t>
            </a:r>
            <a:br>
              <a:rPr lang="en-US" sz="2000" b="1" dirty="0">
                <a:solidFill>
                  <a:srgbClr val="C00000"/>
                </a:solidFill>
                <a:latin typeface="Century Gothic" panose="020B0502020202020204" pitchFamily="34" charset="0"/>
              </a:rPr>
            </a:br>
            <a:br>
              <a:rPr lang="en-US" sz="2000" b="1" dirty="0">
                <a:solidFill>
                  <a:srgbClr val="C00000"/>
                </a:solidFill>
                <a:latin typeface="Century Gothic" panose="020B0502020202020204" pitchFamily="34" charset="0"/>
              </a:rPr>
            </a:br>
            <a:r>
              <a:rPr lang="en-US" sz="2000" b="1" dirty="0">
                <a:solidFill>
                  <a:srgbClr val="C00000"/>
                </a:solidFill>
                <a:latin typeface="Century Gothic" panose="020B0502020202020204" pitchFamily="34" charset="0"/>
              </a:rPr>
              <a:t>PREPARED BY	:</a:t>
            </a:r>
            <a:endParaRPr lang="en-IN" sz="2000" dirty="0"/>
          </a:p>
        </p:txBody>
      </p:sp>
      <p:sp>
        <p:nvSpPr>
          <p:cNvPr id="9" name="L-shape 8">
            <a:extLst>
              <a:ext uri="{FF2B5EF4-FFF2-40B4-BE49-F238E27FC236}">
                <a16:creationId xmlns:a16="http://schemas.microsoft.com/office/drawing/2014/main" id="{1E7C5966-CFE5-604F-8AE4-1C7E7F09D6E0}"/>
              </a:ext>
            </a:extLst>
          </p:cNvPr>
          <p:cNvSpPr/>
          <p:nvPr userDrawn="1"/>
        </p:nvSpPr>
        <p:spPr>
          <a:xfrm rot="10800000">
            <a:off x="1916104" y="-2"/>
            <a:ext cx="7227896" cy="5174938"/>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shape 9">
            <a:extLst>
              <a:ext uri="{FF2B5EF4-FFF2-40B4-BE49-F238E27FC236}">
                <a16:creationId xmlns:a16="http://schemas.microsoft.com/office/drawing/2014/main" id="{D6E4C64B-C13B-2142-8A2B-CBB52E4C3075}"/>
              </a:ext>
            </a:extLst>
          </p:cNvPr>
          <p:cNvSpPr/>
          <p:nvPr userDrawn="1"/>
        </p:nvSpPr>
        <p:spPr>
          <a:xfrm>
            <a:off x="0" y="1683062"/>
            <a:ext cx="7227896" cy="5174939"/>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6269062-7BE6-8A4A-A724-D337344B8317}"/>
              </a:ext>
            </a:extLst>
          </p:cNvPr>
          <p:cNvSpPr txBox="1"/>
          <p:nvPr userDrawn="1"/>
        </p:nvSpPr>
        <p:spPr>
          <a:xfrm>
            <a:off x="6303264" y="6569530"/>
            <a:ext cx="2282424" cy="202325"/>
          </a:xfrm>
          <a:prstGeom prst="rect">
            <a:avLst/>
          </a:prstGeom>
        </p:spPr>
        <p:txBody>
          <a:bodyPr vert="horz" wrap="square" lIns="91440" tIns="45720" rIns="91440" bIns="45720" rtlCol="0">
            <a:noAutofit/>
          </a:bodyPr>
          <a:lstStyle/>
          <a:p>
            <a:pPr marL="0" indent="0" algn="l">
              <a:lnSpc>
                <a:spcPct val="100000"/>
              </a:lnSpc>
              <a:spcAft>
                <a:spcPts val="600"/>
              </a:spcAft>
              <a:buNone/>
            </a:pPr>
            <a:r>
              <a:rPr lang="en-US" sz="900" b="0" dirty="0">
                <a:solidFill>
                  <a:schemeClr val="tx1">
                    <a:lumMod val="50000"/>
                    <a:lumOff val="50000"/>
                  </a:schemeClr>
                </a:solidFill>
                <a:latin typeface="Century Gothic" panose="020B0502020202020204" pitchFamily="34" charset="0"/>
                <a:cs typeface="Segoe UI" panose="020B0502040204020203" pitchFamily="34" charset="0"/>
              </a:rPr>
              <a:t>COURSE:OS	UNIT: 5         Pg. </a:t>
            </a:r>
            <a:fld id="{9797E4EC-1DFC-48AB-99D7-D9FEFAC238D0}" type="slidenum">
              <a:rPr lang="en-US" sz="900" b="0" kern="1200" smtClean="0">
                <a:solidFill>
                  <a:schemeClr val="tx1">
                    <a:lumMod val="50000"/>
                    <a:lumOff val="50000"/>
                  </a:schemeClr>
                </a:solidFill>
                <a:latin typeface="Century Gothic" panose="020B0502020202020204" pitchFamily="34" charset="0"/>
                <a:ea typeface="+mn-ea"/>
                <a:cs typeface="Segoe UI" panose="020B0502040204020203" pitchFamily="34" charset="0"/>
              </a:rPr>
              <a:pPr marL="0" indent="0" algn="l">
                <a:lnSpc>
                  <a:spcPct val="100000"/>
                </a:lnSpc>
                <a:spcAft>
                  <a:spcPts val="600"/>
                </a:spcAft>
                <a:buNone/>
              </a:pPr>
              <a:t>‹#›</a:t>
            </a:fld>
            <a:endParaRPr lang="en-US" sz="900" b="0" kern="1200" dirty="0">
              <a:solidFill>
                <a:schemeClr val="tx1">
                  <a:lumMod val="50000"/>
                  <a:lumOff val="50000"/>
                </a:schemeClr>
              </a:solidFill>
              <a:latin typeface="Century Gothic" panose="020B0502020202020204" pitchFamily="34" charset="0"/>
              <a:ea typeface="+mn-ea"/>
              <a:cs typeface="Segoe UI" panose="020B0502040204020203" pitchFamily="34" charset="0"/>
            </a:endParaRPr>
          </a:p>
        </p:txBody>
      </p:sp>
      <p:pic>
        <p:nvPicPr>
          <p:cNvPr id="7" name="Picture 6">
            <a:extLst>
              <a:ext uri="{FF2B5EF4-FFF2-40B4-BE49-F238E27FC236}">
                <a16:creationId xmlns:a16="http://schemas.microsoft.com/office/drawing/2014/main" id="{8007FCF8-B176-4314-8F1B-66026714428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226579" y="150008"/>
            <a:ext cx="1914878" cy="627914"/>
          </a:xfrm>
          <a:prstGeom prst="rect">
            <a:avLst/>
          </a:prstGeom>
        </p:spPr>
      </p:pic>
    </p:spTree>
    <p:extLst>
      <p:ext uri="{BB962C8B-B14F-4D97-AF65-F5344CB8AC3E}">
        <p14:creationId xmlns:p14="http://schemas.microsoft.com/office/powerpoint/2010/main" val="4221146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453325" y="1604211"/>
            <a:ext cx="8237348" cy="4572752"/>
          </a:xfrm>
        </p:spPr>
        <p:txBody>
          <a:bodyPr>
            <a:normAutofit/>
          </a:bodyPr>
          <a:lstStyle>
            <a:lvl1pPr marL="0" indent="0">
              <a:spcAft>
                <a:spcPts val="900"/>
              </a:spcAft>
              <a:buSzPct val="25000"/>
              <a:buFont typeface="Segoe UI" panose="020B0502040204020203" pitchFamily="34" charset="0"/>
              <a:buChar char=" "/>
              <a:defRPr sz="1800"/>
            </a:lvl1pPr>
            <a:lvl2pPr marL="301229" indent="5954">
              <a:spcBef>
                <a:spcPts val="450"/>
              </a:spcBef>
              <a:spcAft>
                <a:spcPts val="900"/>
              </a:spcAft>
              <a:buFont typeface="Segoe UI" panose="020B0502040204020203" pitchFamily="34" charset="0"/>
              <a:buChar char=" "/>
              <a:defRPr sz="16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Click to edit Master text styles</a:t>
            </a:r>
          </a:p>
          <a:p>
            <a:pPr lvl="1"/>
            <a:r>
              <a:rPr lang="en-US"/>
              <a:t>Second level</a:t>
            </a:r>
          </a:p>
        </p:txBody>
      </p:sp>
      <p:sp>
        <p:nvSpPr>
          <p:cNvPr id="2" name="TextBox 1">
            <a:extLst>
              <a:ext uri="{FF2B5EF4-FFF2-40B4-BE49-F238E27FC236}">
                <a16:creationId xmlns:a16="http://schemas.microsoft.com/office/drawing/2014/main" id="{7C8B3D87-1DFC-FB4B-86C4-56BD0C24394E}"/>
              </a:ext>
            </a:extLst>
          </p:cNvPr>
          <p:cNvSpPr txBox="1"/>
          <p:nvPr userDrawn="1"/>
        </p:nvSpPr>
        <p:spPr>
          <a:xfrm>
            <a:off x="6541477" y="6506308"/>
            <a:ext cx="0" cy="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E4333072-E0D0-1E43-8862-0555F08CD556}"/>
              </a:ext>
            </a:extLst>
          </p:cNvPr>
          <p:cNvSpPr txBox="1"/>
          <p:nvPr userDrawn="1"/>
        </p:nvSpPr>
        <p:spPr>
          <a:xfrm>
            <a:off x="8311662" y="433754"/>
            <a:ext cx="0" cy="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6" name="Title Placeholder 1">
            <a:extLst>
              <a:ext uri="{FF2B5EF4-FFF2-40B4-BE49-F238E27FC236}">
                <a16:creationId xmlns:a16="http://schemas.microsoft.com/office/drawing/2014/main" id="{FA204DBC-7244-2648-BCE5-3CD8071A7B05}"/>
              </a:ext>
            </a:extLst>
          </p:cNvPr>
          <p:cNvSpPr>
            <a:spLocks noGrp="1"/>
          </p:cNvSpPr>
          <p:nvPr>
            <p:ph type="title"/>
          </p:nvPr>
        </p:nvSpPr>
        <p:spPr>
          <a:xfrm>
            <a:off x="628650" y="253514"/>
            <a:ext cx="6599246" cy="479910"/>
          </a:xfrm>
          <a:prstGeom prst="rect">
            <a:avLst/>
          </a:prstGeom>
        </p:spPr>
        <p:txBody>
          <a:bodyPr vert="horz" lIns="91440" tIns="45720" rIns="91440" bIns="45720" rtlCol="0" anchor="ctr" anchorCtr="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2710340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453325" y="1604211"/>
            <a:ext cx="8237348" cy="4572752"/>
          </a:xfrm>
        </p:spPr>
        <p:txBody>
          <a:bodyPr/>
          <a:lstStyle>
            <a:lvl1pPr marL="0" indent="0">
              <a:spcAft>
                <a:spcPts val="900"/>
              </a:spcAft>
              <a:buSzPct val="25000"/>
              <a:buFont typeface="Segoe UI" panose="020B0502040204020203" pitchFamily="34" charset="0"/>
              <a:buChar char=" "/>
              <a:defRPr sz="1800"/>
            </a:lvl1pPr>
            <a:lvl2pPr marL="301229" indent="5954">
              <a:spcBef>
                <a:spcPts val="450"/>
              </a:spcBef>
              <a:spcAft>
                <a:spcPts val="900"/>
              </a:spcAft>
              <a:buFont typeface="Segoe UI" panose="020B0502040204020203" pitchFamily="34" charset="0"/>
              <a:buChar char=" "/>
              <a:defRPr sz="14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Click to edit Master text styles</a:t>
            </a:r>
          </a:p>
          <a:p>
            <a:pPr lvl="1"/>
            <a:r>
              <a:rPr lang="en-US"/>
              <a:t>Second level</a:t>
            </a:r>
          </a:p>
        </p:txBody>
      </p:sp>
      <p:sp>
        <p:nvSpPr>
          <p:cNvPr id="5" name="Title Placeholder 1">
            <a:extLst>
              <a:ext uri="{FF2B5EF4-FFF2-40B4-BE49-F238E27FC236}">
                <a16:creationId xmlns:a16="http://schemas.microsoft.com/office/drawing/2014/main" id="{E04E79F9-AA71-A540-8584-DE923C8C9C87}"/>
              </a:ext>
            </a:extLst>
          </p:cNvPr>
          <p:cNvSpPr>
            <a:spLocks noGrp="1"/>
          </p:cNvSpPr>
          <p:nvPr>
            <p:ph type="title"/>
          </p:nvPr>
        </p:nvSpPr>
        <p:spPr>
          <a:xfrm>
            <a:off x="628650" y="253514"/>
            <a:ext cx="6599246" cy="479910"/>
          </a:xfrm>
          <a:prstGeom prst="rect">
            <a:avLst/>
          </a:prstGeom>
        </p:spPr>
        <p:txBody>
          <a:bodyPr vert="horz" lIns="91440" tIns="45720" rIns="91440" bIns="45720" rtlCol="0" anchor="ctr" anchorCtr="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140465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818146" y="1507068"/>
            <a:ext cx="3541418" cy="4669896"/>
          </a:xfrm>
        </p:spPr>
        <p:txBody>
          <a:bodyPr anchor="ctr">
            <a:normAutofit/>
          </a:bodyPr>
          <a:lstStyle>
            <a:lvl1pPr marL="0" indent="0" algn="l">
              <a:lnSpc>
                <a:spcPct val="150000"/>
              </a:lnSpc>
              <a:spcAft>
                <a:spcPts val="900"/>
              </a:spcAft>
              <a:buSzPct val="25000"/>
              <a:buFont typeface="Segoe UI" panose="020B0502040204020203" pitchFamily="34" charset="0"/>
              <a:buChar char=" "/>
              <a:defRPr sz="1200"/>
            </a:lvl1pPr>
            <a:lvl2pPr marL="301229" indent="5954" algn="l">
              <a:spcBef>
                <a:spcPts val="450"/>
              </a:spcBef>
              <a:spcAft>
                <a:spcPts val="900"/>
              </a:spcAft>
              <a:buFont typeface="Segoe UI" panose="020B0502040204020203" pitchFamily="34" charset="0"/>
              <a:buChar char=" "/>
              <a:defRPr sz="12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987636" y="1507068"/>
            <a:ext cx="3666946" cy="4669896"/>
          </a:xfrm>
        </p:spPr>
        <p:txBody>
          <a:bodyPr anchor="ctr">
            <a:normAutofit/>
          </a:bodyPr>
          <a:lstStyle>
            <a:lvl1pPr marL="0" indent="0">
              <a:spcAft>
                <a:spcPts val="900"/>
              </a:spcAft>
              <a:buSzPct val="25000"/>
              <a:buFont typeface="Segoe UI" panose="020B0502040204020203" pitchFamily="34" charset="0"/>
              <a:buChar char=" "/>
              <a:defRPr sz="1200"/>
            </a:lvl1pPr>
            <a:lvl2pPr marL="301229" indent="5954">
              <a:spcBef>
                <a:spcPts val="450"/>
              </a:spcBef>
              <a:spcAft>
                <a:spcPts val="900"/>
              </a:spcAft>
              <a:buFont typeface="Segoe UI" panose="020B0502040204020203" pitchFamily="34" charset="0"/>
              <a:buChar char=" "/>
              <a:defRPr sz="12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Click to edit Master text styles</a:t>
            </a:r>
          </a:p>
          <a:p>
            <a:pPr lvl="1"/>
            <a:r>
              <a:rPr lang="en-US"/>
              <a:t>Second level</a:t>
            </a:r>
          </a:p>
        </p:txBody>
      </p:sp>
      <p:sp>
        <p:nvSpPr>
          <p:cNvPr id="5" name="Title Placeholder 1">
            <a:extLst>
              <a:ext uri="{FF2B5EF4-FFF2-40B4-BE49-F238E27FC236}">
                <a16:creationId xmlns:a16="http://schemas.microsoft.com/office/drawing/2014/main" id="{0C77CC4A-4D56-0E48-9BCA-04D20CF4FEA8}"/>
              </a:ext>
            </a:extLst>
          </p:cNvPr>
          <p:cNvSpPr>
            <a:spLocks noGrp="1"/>
          </p:cNvSpPr>
          <p:nvPr>
            <p:ph type="title"/>
          </p:nvPr>
        </p:nvSpPr>
        <p:spPr>
          <a:xfrm>
            <a:off x="628650" y="253514"/>
            <a:ext cx="6599246" cy="479910"/>
          </a:xfrm>
          <a:prstGeom prst="rect">
            <a:avLst/>
          </a:prstGeom>
        </p:spPr>
        <p:txBody>
          <a:bodyPr vert="horz" lIns="91440" tIns="45720" rIns="91440" bIns="45720" rtlCol="0" anchor="ctr" anchorCtr="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2049444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CBB79B3E-720D-8E45-9440-316F5C59F619}"/>
              </a:ext>
            </a:extLst>
          </p:cNvPr>
          <p:cNvSpPr>
            <a:spLocks noGrp="1"/>
          </p:cNvSpPr>
          <p:nvPr>
            <p:ph type="title"/>
          </p:nvPr>
        </p:nvSpPr>
        <p:spPr>
          <a:xfrm>
            <a:off x="628650" y="253514"/>
            <a:ext cx="6599246" cy="479910"/>
          </a:xfrm>
          <a:prstGeom prst="rect">
            <a:avLst/>
          </a:prstGeom>
        </p:spPr>
        <p:txBody>
          <a:bodyPr vert="horz" lIns="91440" tIns="45720" rIns="91440" bIns="45720" rtlCol="0" anchor="ctr" anchorCtr="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993501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675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1ADDB3-943A-4DBF-A535-FD9CF50550CE}"/>
              </a:ext>
            </a:extLst>
          </p:cNvPr>
          <p:cNvSpPr>
            <a:spLocks noGrp="1"/>
          </p:cNvSpPr>
          <p:nvPr>
            <p:ph sz="half" idx="1"/>
          </p:nvPr>
        </p:nvSpPr>
        <p:spPr>
          <a:xfrm>
            <a:off x="3048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C534A1-0C27-4CCE-8DA2-959495DAF3CB}"/>
              </a:ext>
            </a:extLst>
          </p:cNvPr>
          <p:cNvSpPr>
            <a:spLocks noGrp="1"/>
          </p:cNvSpPr>
          <p:nvPr>
            <p:ph sz="half" idx="2"/>
          </p:nvPr>
        </p:nvSpPr>
        <p:spPr>
          <a:xfrm>
            <a:off x="46101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190448C2-611B-0B49-A7F5-BEDB53ABF52E}"/>
              </a:ext>
            </a:extLst>
          </p:cNvPr>
          <p:cNvSpPr>
            <a:spLocks noGrp="1"/>
          </p:cNvSpPr>
          <p:nvPr>
            <p:ph type="title"/>
          </p:nvPr>
        </p:nvSpPr>
        <p:spPr>
          <a:xfrm>
            <a:off x="628650" y="253514"/>
            <a:ext cx="6599246" cy="479910"/>
          </a:xfrm>
          <a:prstGeom prst="rect">
            <a:avLst/>
          </a:prstGeom>
        </p:spPr>
        <p:txBody>
          <a:bodyPr vert="horz" lIns="91440" tIns="45720" rIns="91440" bIns="45720" rtlCol="0" anchor="ctr" anchorCtr="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3775895650"/>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E32A06DA-7FF5-4DDE-94D0-63A83DB241E8}"/>
              </a:ext>
            </a:extLst>
          </p:cNvPr>
          <p:cNvCxnSpPr>
            <a:cxnSpLocks/>
          </p:cNvCxnSpPr>
          <p:nvPr userDrawn="1"/>
        </p:nvCxnSpPr>
        <p:spPr>
          <a:xfrm>
            <a:off x="49203" y="685799"/>
            <a:ext cx="7225054" cy="10237"/>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28650" y="253514"/>
            <a:ext cx="6599246" cy="479910"/>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CBC0CD5C-12EC-433F-86F9-93766F08CADE}"/>
              </a:ext>
            </a:extLst>
          </p:cNvPr>
          <p:cNvSpPr txBox="1"/>
          <p:nvPr userDrawn="1"/>
        </p:nvSpPr>
        <p:spPr>
          <a:xfrm>
            <a:off x="9020908" y="1196391"/>
            <a:ext cx="685800" cy="914400"/>
          </a:xfrm>
          <a:prstGeom prst="rect">
            <a:avLst/>
          </a:prstGeom>
        </p:spPr>
        <p:txBody>
          <a:bodyPr vert="horz" wrap="none" lIns="68580" tIns="34290" rIns="68580" bIns="34290" rtlCol="0">
            <a:noAutofit/>
          </a:bodyPr>
          <a:lstStyle/>
          <a:p>
            <a:pPr marL="0" indent="0" algn="l">
              <a:lnSpc>
                <a:spcPts val="1350"/>
              </a:lnSpc>
              <a:spcAft>
                <a:spcPts val="450"/>
              </a:spcAft>
              <a:buNone/>
            </a:pPr>
            <a:endParaRPr lang="en-IN" sz="9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08784202-F930-4423-90C1-321CCDE04C24}"/>
              </a:ext>
            </a:extLst>
          </p:cNvPr>
          <p:cNvSpPr txBox="1"/>
          <p:nvPr userDrawn="1"/>
        </p:nvSpPr>
        <p:spPr>
          <a:xfrm>
            <a:off x="8820883" y="448628"/>
            <a:ext cx="309929" cy="228600"/>
          </a:xfrm>
          <a:prstGeom prst="rect">
            <a:avLst/>
          </a:prstGeom>
        </p:spPr>
        <p:txBody>
          <a:bodyPr vert="horz" wrap="square" lIns="68580" tIns="34290" rIns="68580" bIns="34290" rtlCol="0">
            <a:noAutofit/>
          </a:bodyPr>
          <a:lstStyle/>
          <a:p>
            <a:pPr marL="0" indent="0" algn="l">
              <a:lnSpc>
                <a:spcPts val="1350"/>
              </a:lnSpc>
              <a:spcAft>
                <a:spcPts val="450"/>
              </a:spcAft>
              <a:buNone/>
            </a:pPr>
            <a:endParaRPr lang="en-IN" sz="788" b="1"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L-shape 3">
            <a:extLst>
              <a:ext uri="{FF2B5EF4-FFF2-40B4-BE49-F238E27FC236}">
                <a16:creationId xmlns:a16="http://schemas.microsoft.com/office/drawing/2014/main" id="{62A75336-BC13-4240-AE0A-CE061945C44F}"/>
              </a:ext>
            </a:extLst>
          </p:cNvPr>
          <p:cNvSpPr/>
          <p:nvPr userDrawn="1"/>
        </p:nvSpPr>
        <p:spPr>
          <a:xfrm rot="10800000">
            <a:off x="1916104" y="-2"/>
            <a:ext cx="7227896" cy="5174938"/>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shape 11">
            <a:extLst>
              <a:ext uri="{FF2B5EF4-FFF2-40B4-BE49-F238E27FC236}">
                <a16:creationId xmlns:a16="http://schemas.microsoft.com/office/drawing/2014/main" id="{75EC54BC-F7B2-F240-9F20-8FB9FE0A0321}"/>
              </a:ext>
            </a:extLst>
          </p:cNvPr>
          <p:cNvSpPr/>
          <p:nvPr userDrawn="1"/>
        </p:nvSpPr>
        <p:spPr>
          <a:xfrm>
            <a:off x="0" y="1683062"/>
            <a:ext cx="7227896" cy="5174939"/>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B000DB9-53A1-F94D-A904-174EF922A3AF}"/>
              </a:ext>
            </a:extLst>
          </p:cNvPr>
          <p:cNvSpPr txBox="1"/>
          <p:nvPr userDrawn="1"/>
        </p:nvSpPr>
        <p:spPr>
          <a:xfrm>
            <a:off x="6303264" y="6569530"/>
            <a:ext cx="2282424" cy="202325"/>
          </a:xfrm>
          <a:prstGeom prst="rect">
            <a:avLst/>
          </a:prstGeom>
        </p:spPr>
        <p:txBody>
          <a:bodyPr vert="horz" wrap="square" lIns="91440" tIns="45720" rIns="91440" bIns="45720" rtlCol="0">
            <a:noAutofit/>
          </a:bodyPr>
          <a:lstStyle/>
          <a:p>
            <a:pPr marL="0" indent="0" algn="l">
              <a:lnSpc>
                <a:spcPct val="100000"/>
              </a:lnSpc>
              <a:spcAft>
                <a:spcPts val="600"/>
              </a:spcAft>
              <a:buNone/>
            </a:pPr>
            <a:r>
              <a:rPr lang="en-US" sz="900" b="0" dirty="0">
                <a:solidFill>
                  <a:schemeClr val="tx1">
                    <a:lumMod val="50000"/>
                    <a:lumOff val="50000"/>
                  </a:schemeClr>
                </a:solidFill>
                <a:latin typeface="Century Gothic" panose="020B0502020202020204" pitchFamily="34" charset="0"/>
                <a:cs typeface="Segoe UI" panose="020B0502040204020203" pitchFamily="34" charset="0"/>
              </a:rPr>
              <a:t>COURSE:OS	UNIT: 5         Pg. </a:t>
            </a:r>
            <a:fld id="{9797E4EC-1DFC-48AB-99D7-D9FEFAC238D0}" type="slidenum">
              <a:rPr lang="en-US" sz="900" b="0" kern="1200" smtClean="0">
                <a:solidFill>
                  <a:schemeClr val="tx1">
                    <a:lumMod val="50000"/>
                    <a:lumOff val="50000"/>
                  </a:schemeClr>
                </a:solidFill>
                <a:latin typeface="Century Gothic" panose="020B0502020202020204" pitchFamily="34" charset="0"/>
                <a:ea typeface="+mn-ea"/>
                <a:cs typeface="Segoe UI" panose="020B0502040204020203" pitchFamily="34" charset="0"/>
              </a:rPr>
              <a:pPr marL="0" indent="0" algn="l">
                <a:lnSpc>
                  <a:spcPct val="100000"/>
                </a:lnSpc>
                <a:spcAft>
                  <a:spcPts val="600"/>
                </a:spcAft>
                <a:buNone/>
              </a:pPr>
              <a:t>‹#›</a:t>
            </a:fld>
            <a:endParaRPr lang="en-US" sz="900" b="0" kern="1200" dirty="0">
              <a:solidFill>
                <a:schemeClr val="tx1">
                  <a:lumMod val="50000"/>
                  <a:lumOff val="50000"/>
                </a:schemeClr>
              </a:solidFill>
              <a:latin typeface="Century Gothic" panose="020B0502020202020204" pitchFamily="34" charset="0"/>
              <a:ea typeface="+mn-ea"/>
              <a:cs typeface="Segoe UI" panose="020B0502040204020203" pitchFamily="34" charset="0"/>
            </a:endParaRPr>
          </a:p>
        </p:txBody>
      </p:sp>
      <p:pic>
        <p:nvPicPr>
          <p:cNvPr id="14" name="Picture 13">
            <a:extLst>
              <a:ext uri="{FF2B5EF4-FFF2-40B4-BE49-F238E27FC236}">
                <a16:creationId xmlns:a16="http://schemas.microsoft.com/office/drawing/2014/main" id="{8007FCF8-B176-4314-8F1B-660267144289}"/>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a:stretch/>
        </p:blipFill>
        <p:spPr>
          <a:xfrm>
            <a:off x="7226579" y="150008"/>
            <a:ext cx="1914878" cy="627914"/>
          </a:xfrm>
          <a:prstGeom prst="rect">
            <a:avLst/>
          </a:prstGeom>
        </p:spPr>
      </p:pic>
    </p:spTree>
    <p:extLst>
      <p:ext uri="{BB962C8B-B14F-4D97-AF65-F5344CB8AC3E}">
        <p14:creationId xmlns:p14="http://schemas.microsoft.com/office/powerpoint/2010/main" val="2308514094"/>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63" r:id="rId4"/>
    <p:sldLayoutId id="2147483652" r:id="rId5"/>
    <p:sldLayoutId id="2147483661" r:id="rId6"/>
    <p:sldLayoutId id="2147483655" r:id="rId7"/>
    <p:sldLayoutId id="2147483664" r:id="rId8"/>
  </p:sldLayoutIdLst>
  <p:hf hdr="0"/>
  <p:txStyles>
    <p:titleStyle>
      <a:lvl1pPr algn="l" defTabSz="685800" rtl="0" eaLnBrk="1" latinLnBrk="0" hangingPunct="1">
        <a:lnSpc>
          <a:spcPct val="90000"/>
        </a:lnSpc>
        <a:spcBef>
          <a:spcPct val="0"/>
        </a:spcBef>
        <a:buNone/>
        <a:defRPr lang="en-US" sz="2100" b="1" kern="1200">
          <a:solidFill>
            <a:srgbClr val="C00000"/>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14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1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0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hyperlink" Target="https://www.geeksforgeeks.org/computer-network-denial-of-service-ddos-attack/" TargetMode="Externa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hyperlink" Target="https://www.kaspersky.co.in/resource-center/threats/how-safe-are-money-etransfers" TargetMode="Externa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0FE0F52F-ADF1-4011-A51B-92383D0AB7F8}"/>
              </a:ext>
            </a:extLst>
          </p:cNvPr>
          <p:cNvSpPr txBox="1">
            <a:spLocks/>
          </p:cNvSpPr>
          <p:nvPr/>
        </p:nvSpPr>
        <p:spPr>
          <a:xfrm>
            <a:off x="6058321" y="5000625"/>
            <a:ext cx="2820554" cy="765420"/>
          </a:xfrm>
          <a:prstGeom prst="rect">
            <a:avLst/>
          </a:prstGeom>
        </p:spPr>
        <p:txBody>
          <a:bodyPr>
            <a:noAutofit/>
          </a:bodyPr>
          <a:lstStyle>
            <a:lvl1pPr marL="0" indent="0" algn="l" defTabSz="914400" rtl="0" eaLnBrk="1" latinLnBrk="0" hangingPunct="1">
              <a:lnSpc>
                <a:spcPct val="110000"/>
              </a:lnSpc>
              <a:spcBef>
                <a:spcPts val="1000"/>
              </a:spcBef>
              <a:buFont typeface="Arial" panose="020B0604020202020204" pitchFamily="34" charset="0"/>
              <a:buNone/>
              <a:defRPr sz="1300" kern="1200">
                <a:solidFill>
                  <a:schemeClr val="bg1"/>
                </a:solidFill>
                <a:latin typeface="Segoe UI Light" panose="020B0502040204020203" pitchFamily="34" charset="0"/>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900" u="sng" dirty="0"/>
          </a:p>
        </p:txBody>
      </p:sp>
      <p:sp>
        <p:nvSpPr>
          <p:cNvPr id="2" name="TextBox 1">
            <a:extLst>
              <a:ext uri="{FF2B5EF4-FFF2-40B4-BE49-F238E27FC236}">
                <a16:creationId xmlns:a16="http://schemas.microsoft.com/office/drawing/2014/main" id="{C306FF7B-CE5D-415D-9BFF-73E8C6A6585E}"/>
              </a:ext>
            </a:extLst>
          </p:cNvPr>
          <p:cNvSpPr txBox="1"/>
          <p:nvPr/>
        </p:nvSpPr>
        <p:spPr>
          <a:xfrm>
            <a:off x="2813747" y="1772129"/>
            <a:ext cx="5866957" cy="2885215"/>
          </a:xfrm>
          <a:prstGeom prst="rect">
            <a:avLst/>
          </a:prstGeom>
        </p:spPr>
        <p:txBody>
          <a:bodyPr vert="horz" wrap="square" lIns="91440" tIns="45720" rIns="91440" bIns="45720" rtlCol="0">
            <a:noAutofit/>
          </a:bodyPr>
          <a:lstStyle/>
          <a:p>
            <a:pPr marL="0" indent="0" algn="l">
              <a:lnSpc>
                <a:spcPts val="1800"/>
              </a:lnSpc>
              <a:spcAft>
                <a:spcPts val="600"/>
              </a:spcAft>
              <a:buNone/>
            </a:pPr>
            <a:r>
              <a:rPr lang="en-IN" sz="2000" b="1" dirty="0">
                <a:solidFill>
                  <a:schemeClr val="accent1">
                    <a:lumMod val="50000"/>
                  </a:schemeClr>
                </a:solidFill>
                <a:latin typeface="Century Gothic" panose="020B0502020202020204" pitchFamily="34" charset="0"/>
                <a:cs typeface="Segoe UI" panose="020B0502040204020203" pitchFamily="34" charset="0"/>
              </a:rPr>
              <a:t>CSE &amp; II SEM </a:t>
            </a:r>
            <a:endParaRPr lang="en-IN" sz="2000" b="1" i="1" dirty="0">
              <a:solidFill>
                <a:srgbClr val="00B0F0"/>
              </a:solidFill>
              <a:latin typeface="Century Gothic" panose="020B0502020202020204" pitchFamily="34" charset="0"/>
              <a:cs typeface="Segoe UI" panose="020B0502040204020203" pitchFamily="34" charset="0"/>
            </a:endParaRPr>
          </a:p>
          <a:p>
            <a:pPr marL="0" indent="0" algn="l">
              <a:lnSpc>
                <a:spcPts val="1800"/>
              </a:lnSpc>
              <a:spcAft>
                <a:spcPts val="600"/>
              </a:spcAft>
              <a:buNone/>
            </a:pPr>
            <a:endParaRPr lang="en-IN" sz="2000" b="1" i="1" dirty="0">
              <a:solidFill>
                <a:srgbClr val="00B0F0"/>
              </a:solidFill>
              <a:latin typeface="Century Gothic" panose="020B0502020202020204" pitchFamily="34" charset="0"/>
              <a:cs typeface="Segoe UI" panose="020B0502040204020203" pitchFamily="34" charset="0"/>
            </a:endParaRPr>
          </a:p>
          <a:p>
            <a:pPr>
              <a:lnSpc>
                <a:spcPts val="1800"/>
              </a:lnSpc>
              <a:spcAft>
                <a:spcPts val="600"/>
              </a:spcAft>
            </a:pPr>
            <a:r>
              <a:rPr lang="en-IN" sz="2000" b="1" dirty="0">
                <a:solidFill>
                  <a:schemeClr val="accent1">
                    <a:lumMod val="50000"/>
                  </a:schemeClr>
                </a:solidFill>
                <a:latin typeface="Century Gothic" panose="020B0502020202020204" pitchFamily="34" charset="0"/>
                <a:cs typeface="Segoe UI" panose="020B0502040204020203" pitchFamily="34" charset="0"/>
              </a:rPr>
              <a:t>Operating System</a:t>
            </a:r>
          </a:p>
          <a:p>
            <a:pPr marL="0" indent="0" algn="l">
              <a:lnSpc>
                <a:spcPts val="1800"/>
              </a:lnSpc>
              <a:spcAft>
                <a:spcPts val="600"/>
              </a:spcAft>
              <a:buNone/>
            </a:pPr>
            <a:endParaRPr lang="en-IN" sz="2000" b="1" i="1" dirty="0">
              <a:solidFill>
                <a:srgbClr val="00B0F0"/>
              </a:solidFill>
              <a:latin typeface="Century Gothic" panose="020B0502020202020204" pitchFamily="34" charset="0"/>
              <a:cs typeface="Segoe UI" panose="020B0502040204020203" pitchFamily="34" charset="0"/>
            </a:endParaRPr>
          </a:p>
          <a:p>
            <a:pPr>
              <a:lnSpc>
                <a:spcPts val="1800"/>
              </a:lnSpc>
              <a:spcAft>
                <a:spcPts val="600"/>
              </a:spcAft>
            </a:pPr>
            <a:r>
              <a:rPr lang="en-IN" sz="2000" b="1" dirty="0">
                <a:solidFill>
                  <a:schemeClr val="accent1">
                    <a:lumMod val="50000"/>
                  </a:schemeClr>
                </a:solidFill>
                <a:latin typeface="Century Gothic" panose="020B0502020202020204" pitchFamily="34" charset="0"/>
                <a:cs typeface="Segoe UI" panose="020B0502040204020203" pitchFamily="34" charset="0"/>
              </a:rPr>
              <a:t>OS</a:t>
            </a:r>
          </a:p>
          <a:p>
            <a:pPr marL="0" indent="0" algn="l">
              <a:lnSpc>
                <a:spcPts val="1800"/>
              </a:lnSpc>
              <a:spcAft>
                <a:spcPts val="600"/>
              </a:spcAft>
              <a:buNone/>
            </a:pPr>
            <a:endParaRPr lang="en-IN" sz="2000" b="1" i="1" dirty="0">
              <a:solidFill>
                <a:srgbClr val="00B0F0"/>
              </a:solidFill>
              <a:latin typeface="Century Gothic" panose="020B0502020202020204" pitchFamily="34" charset="0"/>
              <a:cs typeface="Segoe UI" panose="020B0502040204020203" pitchFamily="34" charset="0"/>
            </a:endParaRPr>
          </a:p>
          <a:p>
            <a:pPr>
              <a:lnSpc>
                <a:spcPts val="1800"/>
              </a:lnSpc>
              <a:spcAft>
                <a:spcPts val="600"/>
              </a:spcAft>
            </a:pPr>
            <a:r>
              <a:rPr lang="en-IN" sz="2000" b="1" dirty="0">
                <a:solidFill>
                  <a:schemeClr val="accent1">
                    <a:lumMod val="50000"/>
                  </a:schemeClr>
                </a:solidFill>
                <a:latin typeface="Century Gothic" panose="020B0502020202020204" pitchFamily="34" charset="0"/>
                <a:cs typeface="Segoe UI" panose="020B0502040204020203" pitchFamily="34" charset="0"/>
              </a:rPr>
              <a:t>V</a:t>
            </a:r>
          </a:p>
          <a:p>
            <a:pPr marL="0" indent="0" algn="l">
              <a:lnSpc>
                <a:spcPts val="1800"/>
              </a:lnSpc>
              <a:spcAft>
                <a:spcPts val="600"/>
              </a:spcAft>
              <a:buNone/>
            </a:pPr>
            <a:endParaRPr lang="en-IN" sz="2000" b="1" i="1" dirty="0">
              <a:solidFill>
                <a:srgbClr val="00B0F0"/>
              </a:solidFill>
              <a:latin typeface="Century Gothic" panose="020B0502020202020204" pitchFamily="34" charset="0"/>
              <a:cs typeface="Segoe UI" panose="020B0502040204020203" pitchFamily="34" charset="0"/>
            </a:endParaRPr>
          </a:p>
          <a:p>
            <a:pPr indent="0">
              <a:lnSpc>
                <a:spcPts val="1800"/>
              </a:lnSpc>
              <a:spcAft>
                <a:spcPts val="600"/>
              </a:spcAft>
              <a:buNone/>
            </a:pPr>
            <a:r>
              <a:rPr lang="en-IN" sz="2000" b="1" dirty="0">
                <a:solidFill>
                  <a:schemeClr val="accent1">
                    <a:lumMod val="50000"/>
                  </a:schemeClr>
                </a:solidFill>
                <a:latin typeface="Century Gothic" panose="020B0502020202020204" pitchFamily="34" charset="0"/>
                <a:cs typeface="Segoe UI" panose="020B0502040204020203" pitchFamily="34" charset="0"/>
              </a:rPr>
              <a:t>P BHAVYA</a:t>
            </a:r>
          </a:p>
        </p:txBody>
      </p:sp>
    </p:spTree>
    <p:extLst>
      <p:ext uri="{BB962C8B-B14F-4D97-AF65-F5344CB8AC3E}">
        <p14:creationId xmlns:p14="http://schemas.microsoft.com/office/powerpoint/2010/main" val="2997580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276DBB-234A-4F93-B97C-C3AA49631601}"/>
              </a:ext>
            </a:extLst>
          </p:cNvPr>
          <p:cNvSpPr>
            <a:spLocks noGrp="1"/>
          </p:cNvSpPr>
          <p:nvPr>
            <p:ph type="title"/>
          </p:nvPr>
        </p:nvSpPr>
        <p:spPr>
          <a:xfrm>
            <a:off x="0" y="253514"/>
            <a:ext cx="7125196" cy="479910"/>
          </a:xfrm>
        </p:spPr>
        <p:txBody>
          <a:bodyPr>
            <a:normAutofit/>
          </a:bodyPr>
          <a:lstStyle/>
          <a:p>
            <a:r>
              <a:rPr lang="en-IN" b="1" dirty="0"/>
              <a:t>CONTENT :</a:t>
            </a:r>
            <a:r>
              <a:rPr lang="en-IN" sz="2400" b="1" dirty="0"/>
              <a:t> </a:t>
            </a:r>
          </a:p>
        </p:txBody>
      </p:sp>
      <p:sp>
        <p:nvSpPr>
          <p:cNvPr id="2" name="Rectangle 1">
            <a:extLst>
              <a:ext uri="{FF2B5EF4-FFF2-40B4-BE49-F238E27FC236}">
                <a16:creationId xmlns:a16="http://schemas.microsoft.com/office/drawing/2014/main" id="{63418553-3AAC-0541-AE08-2741D4B0B445}"/>
              </a:ext>
            </a:extLst>
          </p:cNvPr>
          <p:cNvSpPr/>
          <p:nvPr/>
        </p:nvSpPr>
        <p:spPr>
          <a:xfrm>
            <a:off x="304800" y="907472"/>
            <a:ext cx="6733309" cy="4603469"/>
          </a:xfrm>
          <a:prstGeom prst="rect">
            <a:avLst/>
          </a:prstGeom>
        </p:spPr>
        <p:txBody>
          <a:bodyPr/>
          <a:lstStyle/>
          <a:p>
            <a:pPr marL="540385" marR="452755" indent="-285750" algn="just">
              <a:lnSpc>
                <a:spcPct val="150000"/>
              </a:lnSpc>
              <a:spcBef>
                <a:spcPts val="955"/>
              </a:spcBef>
              <a:spcAft>
                <a:spcPts val="0"/>
              </a:spcAft>
              <a:buFont typeface="Wingdings" panose="05000000000000000000" pitchFamily="2" charset="2"/>
              <a:buChar char="§"/>
            </a:pPr>
            <a:r>
              <a:rPr lang="en-US" sz="1800" b="1" dirty="0">
                <a:effectLst/>
                <a:latin typeface="Times New Roman" panose="02020603050405020304" pitchFamily="18" charset="0"/>
                <a:ea typeface="Times New Roman" panose="02020603050405020304" pitchFamily="18" charset="0"/>
              </a:rPr>
              <a:t>System</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Protection: Goals</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of protection</a:t>
            </a:r>
          </a:p>
          <a:p>
            <a:pPr marL="540385" marR="452755" indent="-285750" algn="just">
              <a:lnSpc>
                <a:spcPct val="150000"/>
              </a:lnSpc>
              <a:spcBef>
                <a:spcPts val="955"/>
              </a:spcBef>
              <a:spcAft>
                <a:spcPts val="0"/>
              </a:spcAft>
              <a:buFont typeface="Wingdings" panose="05000000000000000000" pitchFamily="2" charset="2"/>
              <a:buChar char="§"/>
            </a:pPr>
            <a:r>
              <a:rPr lang="en-US" sz="1800" b="1" dirty="0">
                <a:effectLst/>
                <a:latin typeface="Times New Roman" panose="02020603050405020304" pitchFamily="18" charset="0"/>
                <a:ea typeface="Times New Roman" panose="02020603050405020304" pitchFamily="18" charset="0"/>
              </a:rPr>
              <a:t> Principles</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and</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domain of protection</a:t>
            </a:r>
          </a:p>
          <a:p>
            <a:pPr marL="540385" marR="452755" indent="-285750" algn="just">
              <a:lnSpc>
                <a:spcPct val="150000"/>
              </a:lnSpc>
              <a:spcBef>
                <a:spcPts val="955"/>
              </a:spcBef>
              <a:spcAft>
                <a:spcPts val="0"/>
              </a:spcAft>
              <a:buFont typeface="Wingdings" panose="05000000000000000000" pitchFamily="2" charset="2"/>
              <a:buChar char="§"/>
            </a:pPr>
            <a:r>
              <a:rPr lang="en-US" sz="1800" b="1" dirty="0">
                <a:effectLst/>
                <a:latin typeface="Times New Roman" panose="02020603050405020304" pitchFamily="18" charset="0"/>
                <a:ea typeface="Times New Roman" panose="02020603050405020304" pitchFamily="18" charset="0"/>
              </a:rPr>
              <a:t> Access</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matrix,</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Access</a:t>
            </a:r>
            <a:r>
              <a:rPr lang="en-US" sz="1800" b="1" spc="-2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control</a:t>
            </a:r>
          </a:p>
          <a:p>
            <a:pPr marL="540385" marR="452755" indent="-285750" algn="just">
              <a:lnSpc>
                <a:spcPct val="150000"/>
              </a:lnSpc>
              <a:spcBef>
                <a:spcPts val="955"/>
              </a:spcBef>
              <a:spcAft>
                <a:spcPts val="0"/>
              </a:spcAft>
              <a:buFont typeface="Wingdings" panose="05000000000000000000" pitchFamily="2" charset="2"/>
              <a:buChar char="§"/>
            </a:pPr>
            <a:r>
              <a:rPr lang="en-US" sz="1800" b="1" spc="-2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Revocation</a:t>
            </a:r>
            <a:r>
              <a:rPr lang="en-US" sz="1800" b="1" spc="2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of</a:t>
            </a:r>
            <a:r>
              <a:rPr lang="en-US" sz="1800" b="1" spc="-3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access</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rights</a:t>
            </a:r>
            <a:r>
              <a:rPr lang="en-US" sz="1800"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342900" lvl="0" indent="-342900">
              <a:lnSpc>
                <a:spcPct val="200000"/>
              </a:lnSpc>
              <a:buFont typeface="Arial" panose="020B0604020202020204" pitchFamily="34" charset="0"/>
              <a:buChar char="•"/>
            </a:pPr>
            <a:endParaRPr lang="en-US" altLang="en-US" b="1" i="1" dirty="0">
              <a:solidFill>
                <a:srgbClr val="0070C0"/>
              </a:solidFill>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87E03D-C1DB-46F5-AE9B-F5A3ADF0D5C6}"/>
              </a:ext>
            </a:extLst>
          </p:cNvPr>
          <p:cNvSpPr>
            <a:spLocks noGrp="1"/>
          </p:cNvSpPr>
          <p:nvPr>
            <p:ph idx="1"/>
          </p:nvPr>
        </p:nvSpPr>
        <p:spPr>
          <a:xfrm>
            <a:off x="453325" y="887104"/>
            <a:ext cx="8237348" cy="5289859"/>
          </a:xfrm>
        </p:spPr>
        <p:txBody>
          <a:bodyPr/>
          <a:lstStyle/>
          <a:p>
            <a:pPr marL="285750" indent="-285750">
              <a:lnSpc>
                <a:spcPct val="150000"/>
              </a:lnSpc>
              <a:buFont typeface="Wingdings" panose="05000000000000000000" pitchFamily="2" charset="2"/>
              <a:buChar char="q"/>
            </a:pPr>
            <a:r>
              <a:rPr lang="en-US" sz="1800" b="1" dirty="0">
                <a:effectLst/>
                <a:latin typeface="Times New Roman" panose="02020603050405020304" pitchFamily="18" charset="0"/>
                <a:ea typeface="Times New Roman" panose="02020603050405020304" pitchFamily="18" charset="0"/>
              </a:rPr>
              <a:t>System Security: Introduction</a:t>
            </a:r>
          </a:p>
          <a:p>
            <a:pPr marL="285750" indent="-285750">
              <a:lnSpc>
                <a:spcPct val="150000"/>
              </a:lnSpc>
              <a:buFont typeface="Wingdings" panose="05000000000000000000" pitchFamily="2" charset="2"/>
              <a:buChar char="q"/>
            </a:pPr>
            <a:r>
              <a:rPr lang="en-US" sz="1800" b="1" dirty="0">
                <a:effectLst/>
                <a:latin typeface="Times New Roman" panose="02020603050405020304" pitchFamily="18" charset="0"/>
                <a:ea typeface="Times New Roman" panose="02020603050405020304" pitchFamily="18" charset="0"/>
              </a:rPr>
              <a:t>Program threats</a:t>
            </a:r>
          </a:p>
          <a:p>
            <a:pPr marL="285750" indent="-285750">
              <a:lnSpc>
                <a:spcPct val="150000"/>
              </a:lnSpc>
              <a:buFont typeface="Wingdings" panose="05000000000000000000" pitchFamily="2" charset="2"/>
              <a:buChar char="q"/>
            </a:pPr>
            <a:r>
              <a:rPr lang="en-US" sz="1800" b="1" dirty="0">
                <a:effectLst/>
                <a:latin typeface="Times New Roman" panose="02020603050405020304" pitchFamily="18" charset="0"/>
                <a:ea typeface="Times New Roman" panose="02020603050405020304" pitchFamily="18" charset="0"/>
              </a:rPr>
              <a:t> System and network threats</a:t>
            </a:r>
          </a:p>
          <a:p>
            <a:pPr marL="285750" indent="-285750">
              <a:lnSpc>
                <a:spcPct val="150000"/>
              </a:lnSpc>
              <a:buFont typeface="Wingdings" panose="05000000000000000000" pitchFamily="2" charset="2"/>
              <a:buChar char="q"/>
            </a:pPr>
            <a:r>
              <a:rPr lang="en-US" sz="1800" b="1" dirty="0">
                <a:effectLst/>
                <a:latin typeface="Times New Roman" panose="02020603050405020304" pitchFamily="18" charset="0"/>
                <a:ea typeface="Times New Roman" panose="02020603050405020304" pitchFamily="18" charset="0"/>
              </a:rPr>
              <a:t> Cryptography as a</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security</a:t>
            </a:r>
          </a:p>
          <a:p>
            <a:pPr marL="285750" indent="-285750">
              <a:lnSpc>
                <a:spcPct val="150000"/>
              </a:lnSpc>
              <a:buFont typeface="Wingdings" panose="05000000000000000000" pitchFamily="2" charset="2"/>
              <a:buChar char="q"/>
            </a:pPr>
            <a:r>
              <a:rPr lang="en-US" sz="1800" b="1" dirty="0">
                <a:effectLst/>
                <a:latin typeface="Times New Roman" panose="02020603050405020304" pitchFamily="18" charset="0"/>
                <a:ea typeface="Times New Roman" panose="02020603050405020304" pitchFamily="18" charset="0"/>
              </a:rPr>
              <a:t>User authentication</a:t>
            </a:r>
          </a:p>
          <a:p>
            <a:pPr marL="285750" indent="-285750">
              <a:lnSpc>
                <a:spcPct val="150000"/>
              </a:lnSpc>
              <a:buFont typeface="Wingdings" panose="05000000000000000000" pitchFamily="2" charset="2"/>
              <a:buChar char="q"/>
            </a:pPr>
            <a:r>
              <a:rPr lang="en-US" sz="1800" b="1" dirty="0">
                <a:effectLst/>
                <a:latin typeface="Times New Roman" panose="02020603050405020304" pitchFamily="18" charset="0"/>
                <a:ea typeface="Times New Roman" panose="02020603050405020304" pitchFamily="18" charset="0"/>
              </a:rPr>
              <a:t> Implementing security defenses</a:t>
            </a:r>
          </a:p>
          <a:p>
            <a:pPr marL="285750" indent="-285750">
              <a:lnSpc>
                <a:spcPct val="150000"/>
              </a:lnSpc>
              <a:buFont typeface="Wingdings" panose="05000000000000000000" pitchFamily="2" charset="2"/>
              <a:buChar char="q"/>
            </a:pPr>
            <a:r>
              <a:rPr lang="en-US" sz="1800" b="1" dirty="0">
                <a:effectLst/>
                <a:latin typeface="Times New Roman" panose="02020603050405020304" pitchFamily="18" charset="0"/>
                <a:ea typeface="Times New Roman" panose="02020603050405020304" pitchFamily="18" charset="0"/>
              </a:rPr>
              <a:t> Firewalling to protect systems and</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networks</a:t>
            </a:r>
          </a:p>
          <a:p>
            <a:pPr marL="285750" indent="-285750">
              <a:lnSpc>
                <a:spcPct val="150000"/>
              </a:lnSpc>
              <a:buFont typeface="Wingdings" panose="05000000000000000000" pitchFamily="2" charset="2"/>
              <a:buChar char="q"/>
            </a:pPr>
            <a:r>
              <a:rPr lang="en-US" sz="1800" b="1" spc="-3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Computer</a:t>
            </a:r>
            <a:r>
              <a:rPr lang="en-US" sz="1800" b="1" spc="-2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security</a:t>
            </a:r>
            <a:r>
              <a:rPr lang="en-US" sz="1800" b="1" spc="-3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classification.</a:t>
            </a:r>
            <a:endParaRPr lang="en-IN" sz="1800" b="1" dirty="0">
              <a:effectLst/>
              <a:latin typeface="Times New Roman" panose="02020603050405020304" pitchFamily="18" charset="0"/>
              <a:ea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B6F8AC8C-3C4B-4B96-9E2A-23FB55D1CA0F}"/>
              </a:ext>
            </a:extLst>
          </p:cNvPr>
          <p:cNvSpPr>
            <a:spLocks noGrp="1"/>
          </p:cNvSpPr>
          <p:nvPr>
            <p:ph type="title"/>
          </p:nvPr>
        </p:nvSpPr>
        <p:spPr>
          <a:xfrm>
            <a:off x="1" y="253514"/>
            <a:ext cx="7227896" cy="427523"/>
          </a:xfrm>
        </p:spPr>
        <p:txBody>
          <a:bodyPr/>
          <a:lstStyle/>
          <a:p>
            <a:r>
              <a:rPr lang="en-US" dirty="0"/>
              <a:t>CONTENT :</a:t>
            </a:r>
            <a:endParaRPr lang="en-IN" dirty="0"/>
          </a:p>
        </p:txBody>
      </p:sp>
    </p:spTree>
    <p:extLst>
      <p:ext uri="{BB962C8B-B14F-4D97-AF65-F5344CB8AC3E}">
        <p14:creationId xmlns:p14="http://schemas.microsoft.com/office/powerpoint/2010/main" val="4264969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086" y="825731"/>
            <a:ext cx="8110331" cy="5681086"/>
          </a:xfrm>
        </p:spPr>
        <p:txBody>
          <a:bodyPr>
            <a:normAutofit/>
          </a:bodyPr>
          <a:lstStyle/>
          <a:p>
            <a:pPr marL="285750" indent="-285750" algn="just">
              <a:spcBef>
                <a:spcPts val="500"/>
              </a:spcBef>
              <a:spcAft>
                <a:spcPts val="500"/>
              </a:spcAft>
              <a:buFont typeface="Wingdings" panose="05000000000000000000" pitchFamily="2" charset="2"/>
              <a:buChar char="q"/>
            </a:pPr>
            <a:r>
              <a:rPr lang="en-US" b="1" i="0" dirty="0">
                <a:effectLst/>
                <a:latin typeface="Times New Roman" panose="02020603050405020304" pitchFamily="18" charset="0"/>
                <a:cs typeface="Times New Roman" panose="02020603050405020304" pitchFamily="18" charset="0"/>
              </a:rPr>
              <a:t>Protection</a:t>
            </a:r>
            <a:r>
              <a:rPr lang="en-US" b="0" i="0" dirty="0">
                <a:effectLst/>
                <a:latin typeface="Times New Roman" panose="02020603050405020304" pitchFamily="18" charset="0"/>
                <a:cs typeface="Times New Roman" panose="02020603050405020304" pitchFamily="18" charset="0"/>
              </a:rPr>
              <a:t> refers to a mechanism which controls the access of programs, </a:t>
            </a:r>
            <a:r>
              <a:rPr lang="en-US" sz="1900" b="0" i="0" dirty="0">
                <a:effectLst/>
                <a:latin typeface="Times New Roman" panose="02020603050405020304" pitchFamily="18" charset="0"/>
                <a:cs typeface="Times New Roman" panose="02020603050405020304" pitchFamily="18" charset="0"/>
              </a:rPr>
              <a:t>processes, or users to the resources defined by a computer system.</a:t>
            </a:r>
          </a:p>
          <a:p>
            <a:pPr marL="285750" indent="-285750" algn="just">
              <a:spcBef>
                <a:spcPts val="500"/>
              </a:spcBef>
              <a:spcAft>
                <a:spcPts val="500"/>
              </a:spcAft>
              <a:buFont typeface="Wingdings" panose="05000000000000000000" pitchFamily="2" charset="2"/>
              <a:buChar char="q"/>
            </a:pPr>
            <a:r>
              <a:rPr lang="en-US" sz="1900" b="0" i="0" dirty="0">
                <a:effectLst/>
                <a:latin typeface="Times New Roman" panose="02020603050405020304" pitchFamily="18" charset="0"/>
                <a:cs typeface="Times New Roman" panose="02020603050405020304" pitchFamily="18" charset="0"/>
              </a:rPr>
              <a:t> We can take protection as a helper to multi programming operating system, so that many users might safely share a common logical name space such as directory or files.</a:t>
            </a:r>
          </a:p>
          <a:p>
            <a:pPr marL="285750" indent="-285750" algn="just">
              <a:spcBef>
                <a:spcPts val="500"/>
              </a:spcBef>
              <a:spcAft>
                <a:spcPts val="500"/>
              </a:spcAft>
              <a:buSzPct val="100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Modern protection concepts have evolved to increase the </a:t>
            </a:r>
            <a:r>
              <a:rPr lang="en-US" sz="1900" b="1" dirty="0">
                <a:latin typeface="Times New Roman" panose="02020603050405020304" pitchFamily="18" charset="0"/>
                <a:cs typeface="Times New Roman" panose="02020603050405020304" pitchFamily="18" charset="0"/>
              </a:rPr>
              <a:t>reliability </a:t>
            </a:r>
            <a:r>
              <a:rPr lang="en-US" sz="1900" dirty="0">
                <a:latin typeface="Times New Roman" panose="02020603050405020304" pitchFamily="18" charset="0"/>
                <a:cs typeface="Times New Roman" panose="02020603050405020304" pitchFamily="18" charset="0"/>
              </a:rPr>
              <a:t>of any complex system that makes use of shared resources.</a:t>
            </a:r>
          </a:p>
          <a:p>
            <a:pPr algn="just" fontAlgn="base">
              <a:spcBef>
                <a:spcPts val="500"/>
              </a:spcBef>
              <a:spcAft>
                <a:spcPts val="500"/>
              </a:spcAft>
              <a:buNone/>
            </a:pPr>
            <a:r>
              <a:rPr lang="en-US" sz="1900" b="1" i="0" u="sng" dirty="0">
                <a:effectLst/>
                <a:latin typeface="Times New Roman" panose="02020603050405020304" pitchFamily="18" charset="0"/>
                <a:cs typeface="Times New Roman" panose="02020603050405020304" pitchFamily="18" charset="0"/>
              </a:rPr>
              <a:t>Goal  of Protection:</a:t>
            </a:r>
          </a:p>
          <a:p>
            <a:pPr marL="285750" indent="-285750" algn="just" fontAlgn="base">
              <a:spcBef>
                <a:spcPts val="500"/>
              </a:spcBef>
              <a:spcAft>
                <a:spcPts val="500"/>
              </a:spcAft>
              <a:buFont typeface="Wingdings" panose="05000000000000000000" pitchFamily="2" charset="2"/>
              <a:buChar char="q"/>
            </a:pPr>
            <a:r>
              <a:rPr lang="en-US" sz="1900" b="0" i="0" dirty="0">
                <a:effectLst/>
                <a:latin typeface="Times New Roman" panose="02020603050405020304" pitchFamily="18" charset="0"/>
                <a:cs typeface="Times New Roman" panose="02020603050405020304" pitchFamily="18" charset="0"/>
              </a:rPr>
              <a:t>To </a:t>
            </a:r>
            <a:r>
              <a:rPr lang="en-US" sz="1900" dirty="0">
                <a:latin typeface="Times New Roman" panose="02020603050405020304" pitchFamily="18" charset="0"/>
                <a:cs typeface="Times New Roman" panose="02020603050405020304" pitchFamily="18" charset="0"/>
              </a:rPr>
              <a:t>prevent the mischievous, intentional violation of an access restriction by a user.</a:t>
            </a:r>
            <a:endParaRPr lang="en-US" sz="1900" b="0" i="0" dirty="0">
              <a:effectLst/>
              <a:latin typeface="Times New Roman" panose="02020603050405020304" pitchFamily="18" charset="0"/>
              <a:cs typeface="Times New Roman" panose="02020603050405020304" pitchFamily="18" charset="0"/>
            </a:endParaRPr>
          </a:p>
          <a:p>
            <a:pPr marL="285750" indent="-285750" algn="just" fontAlgn="base">
              <a:spcBef>
                <a:spcPts val="500"/>
              </a:spcBef>
              <a:spcAft>
                <a:spcPts val="500"/>
              </a:spcAft>
              <a:buFont typeface="Wingdings" panose="05000000000000000000" pitchFamily="2" charset="2"/>
              <a:buChar char="q"/>
            </a:pPr>
            <a:r>
              <a:rPr lang="en-US" sz="1900" b="0" i="0" dirty="0">
                <a:effectLst/>
                <a:latin typeface="Times New Roman" panose="02020603050405020304" pitchFamily="18" charset="0"/>
                <a:cs typeface="Times New Roman" panose="02020603050405020304" pitchFamily="18" charset="0"/>
              </a:rPr>
              <a:t>To ensure that each active programs or processes in the system uses resources   like CPU, memory, software and even the OS only as the stated policy.</a:t>
            </a:r>
          </a:p>
        </p:txBody>
      </p:sp>
      <p:sp>
        <p:nvSpPr>
          <p:cNvPr id="3" name="Title 2"/>
          <p:cNvSpPr>
            <a:spLocks noGrp="1"/>
          </p:cNvSpPr>
          <p:nvPr>
            <p:ph type="title"/>
          </p:nvPr>
        </p:nvSpPr>
        <p:spPr>
          <a:xfrm>
            <a:off x="0" y="253514"/>
            <a:ext cx="6599246" cy="479910"/>
          </a:xfrm>
        </p:spPr>
        <p:txBody>
          <a:bodyPr>
            <a:noAutofit/>
          </a:bodyPr>
          <a:lstStyle/>
          <a:p>
            <a:pPr>
              <a:lnSpc>
                <a:spcPct val="150000"/>
              </a:lnSpc>
            </a:pPr>
            <a:r>
              <a:rPr lang="en-US" sz="2800" b="1" dirty="0">
                <a:latin typeface="Times New Roman" panose="02020603050405020304" pitchFamily="18" charset="0"/>
                <a:cs typeface="Times New Roman" panose="02020603050405020304" pitchFamily="18" charset="0"/>
              </a:rPr>
              <a:t>GOALS OF PROTECTION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494468-570E-4A78-8FB2-C883FFD9D49F}"/>
              </a:ext>
            </a:extLst>
          </p:cNvPr>
          <p:cNvSpPr>
            <a:spLocks noGrp="1"/>
          </p:cNvSpPr>
          <p:nvPr>
            <p:ph idx="1"/>
          </p:nvPr>
        </p:nvSpPr>
        <p:spPr>
          <a:xfrm>
            <a:off x="453325" y="914400"/>
            <a:ext cx="8237348" cy="5565913"/>
          </a:xfrm>
        </p:spPr>
        <p:txBody>
          <a:bodyPr>
            <a:noAutofit/>
          </a:bodyPr>
          <a:lstStyle/>
          <a:p>
            <a:pPr marL="285750" indent="-285750" algn="just" fontAlgn="base">
              <a:lnSpc>
                <a:spcPct val="100000"/>
              </a:lnSpc>
              <a:spcBef>
                <a:spcPts val="900"/>
              </a:spcBef>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A protection-oriented system provides means to distinguish between authorized and unauthorized usage</a:t>
            </a:r>
            <a:endParaRPr lang="en-US" sz="1900" b="0" i="0" dirty="0">
              <a:effectLst/>
              <a:latin typeface="Times New Roman" panose="02020603050405020304" pitchFamily="18" charset="0"/>
              <a:cs typeface="Times New Roman" panose="02020603050405020304" pitchFamily="18" charset="0"/>
            </a:endParaRPr>
          </a:p>
          <a:p>
            <a:pPr marL="285750" indent="-285750" algn="just" fontAlgn="base">
              <a:lnSpc>
                <a:spcPct val="100000"/>
              </a:lnSpc>
              <a:spcBef>
                <a:spcPts val="900"/>
              </a:spcBef>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Protection can improve reliability by detecting latent errors at the interfaces between component subsystems.</a:t>
            </a:r>
          </a:p>
          <a:p>
            <a:pPr algn="just" fontAlgn="base">
              <a:lnSpc>
                <a:spcPct val="100000"/>
              </a:lnSpc>
              <a:spcBef>
                <a:spcPts val="900"/>
              </a:spcBef>
              <a:buNone/>
            </a:pPr>
            <a:r>
              <a:rPr lang="en-US" sz="1900" dirty="0">
                <a:latin typeface="Times New Roman" panose="02020603050405020304" pitchFamily="18" charset="0"/>
                <a:cs typeface="Times New Roman" panose="02020603050405020304" pitchFamily="18" charset="0"/>
              </a:rPr>
              <a:t>              --- Early detection of interface errors can often prevent contamination of a healthy subsystem by a malfunctioning subsystem.</a:t>
            </a:r>
          </a:p>
          <a:p>
            <a:pPr marL="285750" indent="-285750" algn="just">
              <a:lnSpc>
                <a:spcPct val="100000"/>
              </a:lnSpc>
              <a:spcBef>
                <a:spcPts val="900"/>
              </a:spcBef>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The role of protection in a computer system is to provide a mechanism for the enforcement of the policies governing resource use.</a:t>
            </a:r>
          </a:p>
          <a:p>
            <a:pPr marL="285750" indent="-285750" algn="just">
              <a:lnSpc>
                <a:spcPct val="100000"/>
              </a:lnSpc>
              <a:spcBef>
                <a:spcPts val="900"/>
              </a:spcBef>
              <a:buFont typeface="Wingdings" panose="05000000000000000000" pitchFamily="2" charset="2"/>
              <a:buChar char="q"/>
            </a:pPr>
            <a:r>
              <a:rPr lang="en-US" sz="1900" b="0" i="0" dirty="0">
                <a:effectLst/>
                <a:latin typeface="Times New Roman" panose="02020603050405020304" pitchFamily="18" charset="0"/>
                <a:cs typeface="Times New Roman" panose="02020603050405020304" pitchFamily="18" charset="0"/>
              </a:rPr>
              <a:t>Some policies are defined at the time of design of the system, some are designed by management of the system and some are defined by the users of the system to protect their own files and programs.</a:t>
            </a:r>
          </a:p>
          <a:p>
            <a:pPr algn="just">
              <a:lnSpc>
                <a:spcPct val="100000"/>
              </a:lnSpc>
              <a:spcBef>
                <a:spcPts val="900"/>
              </a:spcBef>
            </a:pPr>
            <a:r>
              <a:rPr lang="en-US" sz="1900" b="0" i="0" dirty="0">
                <a:effectLst/>
                <a:latin typeface="Times New Roman" panose="02020603050405020304" pitchFamily="18" charset="0"/>
                <a:cs typeface="Times New Roman" panose="02020603050405020304" pitchFamily="18" charset="0"/>
              </a:rPr>
              <a:t>          -----Policy is different from mechanism. Mechanisms determine how something will be done and policies determine what will be done. Policies are changed over time and place to place. Separation of mechanism and policy is important for the flexibility of the system.</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6AE88612-3B51-4E66-9967-C0ACB6A7E530}"/>
              </a:ext>
            </a:extLst>
          </p:cNvPr>
          <p:cNvSpPr>
            <a:spLocks noGrp="1"/>
          </p:cNvSpPr>
          <p:nvPr>
            <p:ph type="title"/>
          </p:nvPr>
        </p:nvSpPr>
        <p:spPr>
          <a:xfrm>
            <a:off x="145774" y="253514"/>
            <a:ext cx="7082122" cy="479910"/>
          </a:xfrm>
        </p:spPr>
        <p:txBody>
          <a:bodyPr/>
          <a:lstStyle/>
          <a:p>
            <a:r>
              <a:rPr lang="en-US" b="1" dirty="0"/>
              <a:t>GOALS OF PROTECTION :</a:t>
            </a:r>
            <a:endParaRPr lang="en-IN" dirty="0"/>
          </a:p>
        </p:txBody>
      </p:sp>
    </p:spTree>
    <p:extLst>
      <p:ext uri="{BB962C8B-B14F-4D97-AF65-F5344CB8AC3E}">
        <p14:creationId xmlns:p14="http://schemas.microsoft.com/office/powerpoint/2010/main" val="1459186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7078" y="967409"/>
            <a:ext cx="8044070" cy="5446643"/>
          </a:xfrm>
        </p:spPr>
        <p:txBody>
          <a:bodyPr>
            <a:normAutofit/>
          </a:bodyPr>
          <a:lstStyle/>
          <a:p>
            <a:pPr algn="just">
              <a:lnSpc>
                <a:spcPct val="100000"/>
              </a:lnSpc>
              <a:spcBef>
                <a:spcPts val="700"/>
              </a:spcBef>
              <a:spcAft>
                <a:spcPts val="700"/>
              </a:spcAft>
              <a:buSzPct val="100000"/>
              <a:buFont typeface="Wingdings" pitchFamily="2" charset="2"/>
              <a:buChar char="§"/>
            </a:pPr>
            <a:r>
              <a:rPr lang="en-US" dirty="0"/>
              <a:t>  </a:t>
            </a:r>
            <a:r>
              <a:rPr lang="en-US" sz="1900" b="1" dirty="0">
                <a:latin typeface="Times New Roman" panose="02020603050405020304" pitchFamily="18" charset="0"/>
                <a:cs typeface="Times New Roman" panose="02020603050405020304" pitchFamily="18" charset="0"/>
              </a:rPr>
              <a:t>Guiding principle </a:t>
            </a:r>
            <a:r>
              <a:rPr lang="en-US" sz="1900" dirty="0">
                <a:latin typeface="Times New Roman" panose="02020603050405020304" pitchFamily="18" charset="0"/>
                <a:cs typeface="Times New Roman" panose="02020603050405020304" pitchFamily="18" charset="0"/>
              </a:rPr>
              <a:t>– it  can be used throughout a design of project ,resultant the system consistent and easy to understand .</a:t>
            </a:r>
          </a:p>
          <a:p>
            <a:pPr algn="just">
              <a:lnSpc>
                <a:spcPct val="100000"/>
              </a:lnSpc>
              <a:spcBef>
                <a:spcPts val="700"/>
              </a:spcBef>
              <a:spcAft>
                <a:spcPts val="700"/>
              </a:spcAft>
              <a:buSzPct val="100000"/>
              <a:buFont typeface="Wingdings" pitchFamily="2" charset="2"/>
              <a:buChar char="§"/>
            </a:pPr>
            <a:r>
              <a:rPr lang="en-US" sz="1900" dirty="0">
                <a:latin typeface="Times New Roman" panose="02020603050405020304" pitchFamily="18" charset="0"/>
                <a:cs typeface="Times New Roman" panose="02020603050405020304" pitchFamily="18" charset="0"/>
              </a:rPr>
              <a:t>   Guiding principle used by OS  for protection is called the </a:t>
            </a:r>
            <a:r>
              <a:rPr lang="en-US" sz="1900" b="1" dirty="0">
                <a:latin typeface="Times New Roman" panose="02020603050405020304" pitchFamily="18" charset="0"/>
                <a:cs typeface="Times New Roman" panose="02020603050405020304" pitchFamily="18" charset="0"/>
              </a:rPr>
              <a:t>principle of least privilege</a:t>
            </a:r>
          </a:p>
          <a:p>
            <a:pPr algn="just">
              <a:lnSpc>
                <a:spcPct val="100000"/>
              </a:lnSpc>
              <a:spcBef>
                <a:spcPts val="700"/>
              </a:spcBef>
              <a:spcAft>
                <a:spcPts val="700"/>
              </a:spcAft>
              <a:buSzPct val="100000"/>
              <a:buFont typeface="Wingdings" pitchFamily="2" charset="2"/>
              <a:buChar char="§"/>
            </a:pP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Principle of least privilege - </a:t>
            </a:r>
            <a:r>
              <a:rPr lang="en-US" sz="1900" dirty="0">
                <a:latin typeface="Times New Roman" panose="02020603050405020304" pitchFamily="18" charset="0"/>
                <a:cs typeface="Times New Roman" panose="02020603050405020304" pitchFamily="18" charset="0"/>
              </a:rPr>
              <a:t> It dictates that programs, users, and even systems be given </a:t>
            </a:r>
            <a:r>
              <a:rPr lang="en-US" sz="1900" b="1" dirty="0">
                <a:latin typeface="Times New Roman" panose="02020603050405020304" pitchFamily="18" charset="0"/>
                <a:cs typeface="Times New Roman" panose="02020603050405020304" pitchFamily="18" charset="0"/>
              </a:rPr>
              <a:t>just enough privileges </a:t>
            </a:r>
            <a:r>
              <a:rPr lang="en-US" sz="1900" dirty="0">
                <a:latin typeface="Times New Roman" panose="02020603050405020304" pitchFamily="18" charset="0"/>
                <a:cs typeface="Times New Roman" panose="02020603050405020304" pitchFamily="18" charset="0"/>
              </a:rPr>
              <a:t>to </a:t>
            </a:r>
            <a:r>
              <a:rPr lang="en-US" sz="1900" b="1" dirty="0">
                <a:latin typeface="Times New Roman" panose="02020603050405020304" pitchFamily="18" charset="0"/>
                <a:cs typeface="Times New Roman" panose="02020603050405020304" pitchFamily="18" charset="0"/>
              </a:rPr>
              <a:t>perform their tasks</a:t>
            </a:r>
            <a:r>
              <a:rPr lang="en-US" sz="1900" dirty="0">
                <a:latin typeface="Times New Roman" panose="02020603050405020304" pitchFamily="18" charset="0"/>
                <a:cs typeface="Times New Roman" panose="02020603050405020304" pitchFamily="18" charset="0"/>
              </a:rPr>
              <a:t>.</a:t>
            </a:r>
          </a:p>
          <a:p>
            <a:pPr algn="just">
              <a:lnSpc>
                <a:spcPct val="100000"/>
              </a:lnSpc>
              <a:spcBef>
                <a:spcPts val="700"/>
              </a:spcBef>
              <a:spcAft>
                <a:spcPts val="700"/>
              </a:spcAft>
              <a:buSzPct val="100000"/>
              <a:buFont typeface="Wingdings" pitchFamily="2" charset="2"/>
              <a:buChar char="§"/>
            </a:pPr>
            <a:r>
              <a:rPr lang="en-US" sz="1900" dirty="0">
                <a:latin typeface="Times New Roman" panose="02020603050405020304" pitchFamily="18" charset="0"/>
                <a:cs typeface="Times New Roman" panose="02020603050405020304" pitchFamily="18" charset="0"/>
              </a:rPr>
              <a:t>    EX: Security guard with a passkey - If this key allows the guard into just the public areas - minimal damage. If the passkey allows access to all areas, then damage from its being lost, stolen, misused, copied, or otherwise compromised will be Maximum damage.</a:t>
            </a:r>
          </a:p>
          <a:p>
            <a:pPr algn="just">
              <a:lnSpc>
                <a:spcPct val="100000"/>
              </a:lnSpc>
              <a:spcBef>
                <a:spcPts val="700"/>
              </a:spcBef>
              <a:spcAft>
                <a:spcPts val="700"/>
              </a:spcAft>
              <a:buSzPct val="100000"/>
              <a:buFont typeface="Wingdings" pitchFamily="2" charset="2"/>
              <a:buChar char="§"/>
            </a:pPr>
            <a:r>
              <a:rPr lang="en-US" sz="1900" dirty="0">
                <a:latin typeface="Times New Roman" panose="02020603050405020304" pitchFamily="18" charset="0"/>
                <a:cs typeface="Times New Roman" panose="02020603050405020304" pitchFamily="18" charset="0"/>
              </a:rPr>
              <a:t>  </a:t>
            </a:r>
            <a:r>
              <a:rPr lang="en-US" sz="1900" dirty="0">
                <a:effectLst/>
                <a:latin typeface="Times New Roman" panose="02020603050405020304" pitchFamily="18" charset="0"/>
              </a:rPr>
              <a:t>An operating system following the principle of least privilege implements its features, programs, system calls, and data structures so that failure or compromise of a component does the minimum damage and allows the minimum damage to be done.</a:t>
            </a:r>
            <a:endParaRPr lang="en-US" sz="19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0" y="253514"/>
            <a:ext cx="6599246" cy="479910"/>
          </a:xfrm>
        </p:spPr>
        <p:txBody>
          <a:bodyPr/>
          <a:lstStyle/>
          <a:p>
            <a:r>
              <a:rPr lang="en-US" dirty="0"/>
              <a:t>PRINCIPLES OF PROTECTION: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A092DA-5B3D-4089-AE4E-D01C10E0E106}"/>
              </a:ext>
            </a:extLst>
          </p:cNvPr>
          <p:cNvSpPr>
            <a:spLocks noGrp="1"/>
          </p:cNvSpPr>
          <p:nvPr>
            <p:ph idx="1"/>
          </p:nvPr>
        </p:nvSpPr>
        <p:spPr>
          <a:xfrm>
            <a:off x="453325" y="733424"/>
            <a:ext cx="8237348" cy="5443539"/>
          </a:xfrm>
        </p:spPr>
        <p:txBody>
          <a:bodyPr>
            <a:noAutofit/>
          </a:bodyPr>
          <a:lstStyle/>
          <a:p>
            <a:pPr marL="285750" indent="-285750" algn="just">
              <a:lnSpc>
                <a:spcPct val="110000"/>
              </a:lnSpc>
              <a:spcBef>
                <a:spcPts val="700"/>
              </a:spcBef>
              <a:spcAft>
                <a:spcPts val="7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Ex: Daemon process - The overflow of a buffer in a system daemon might cause the daemon process to fail, we ensure that any  remote  user should not  gain maximum privileges and access to the entire system</a:t>
            </a:r>
          </a:p>
          <a:p>
            <a:pPr marL="285750" indent="-285750" algn="just">
              <a:lnSpc>
                <a:spcPct val="110000"/>
              </a:lnSpc>
              <a:spcBef>
                <a:spcPts val="700"/>
              </a:spcBef>
              <a:spcAft>
                <a:spcPts val="7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An operating system also provides system calls and services that allow applications to be written with </a:t>
            </a:r>
            <a:r>
              <a:rPr lang="en-US" sz="1900" b="1" dirty="0">
                <a:latin typeface="Times New Roman" panose="02020603050405020304" pitchFamily="18" charset="0"/>
                <a:cs typeface="Times New Roman" panose="02020603050405020304" pitchFamily="18" charset="0"/>
              </a:rPr>
              <a:t>fine-grained access controls.</a:t>
            </a:r>
          </a:p>
          <a:p>
            <a:pPr marL="285750" indent="-28575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It provides mechanisms to enable privileges when they are needed and to disable them when they are not needed.</a:t>
            </a:r>
          </a:p>
          <a:p>
            <a:pPr marL="285750" indent="-28575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Managing users with the principle of least privilege entails creating a separate account for each user, with just the privileges that the user needs.</a:t>
            </a:r>
          </a:p>
          <a:p>
            <a:pPr marL="285750" indent="-28575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 An operator who needs to mount tapes and back up files on the system has access to just those commands and files needed to accomplish the job. Some systems implement </a:t>
            </a:r>
            <a:r>
              <a:rPr lang="en-US" sz="1900" b="1" dirty="0">
                <a:effectLst/>
                <a:latin typeface="Times New Roman" panose="02020603050405020304" pitchFamily="18" charset="0"/>
                <a:cs typeface="Times New Roman" panose="02020603050405020304" pitchFamily="18" charset="0"/>
              </a:rPr>
              <a:t>role-based access control (RBAC) </a:t>
            </a:r>
            <a:r>
              <a:rPr lang="en-US" sz="1900" dirty="0">
                <a:effectLst/>
                <a:latin typeface="Times New Roman" panose="02020603050405020304" pitchFamily="18" charset="0"/>
                <a:cs typeface="Times New Roman" panose="02020603050405020304" pitchFamily="18" charset="0"/>
              </a:rPr>
              <a:t>to provide this functionality. </a:t>
            </a:r>
          </a:p>
          <a:p>
            <a:pPr marL="285750" indent="-28575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principle of least privilege can help produce a more secure computing environment.</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F9E7874-2022-4681-848F-8D41867EEE0B}"/>
              </a:ext>
            </a:extLst>
          </p:cNvPr>
          <p:cNvSpPr>
            <a:spLocks noGrp="1"/>
          </p:cNvSpPr>
          <p:nvPr>
            <p:ph type="title"/>
          </p:nvPr>
        </p:nvSpPr>
        <p:spPr>
          <a:xfrm>
            <a:off x="106017" y="253514"/>
            <a:ext cx="7121879" cy="479910"/>
          </a:xfrm>
        </p:spPr>
        <p:txBody>
          <a:bodyPr/>
          <a:lstStyle/>
          <a:p>
            <a:r>
              <a:rPr lang="en-US" dirty="0"/>
              <a:t>PRINCIPLES OF PROTECTION:</a:t>
            </a:r>
            <a:endParaRPr lang="en-IN" dirty="0"/>
          </a:p>
        </p:txBody>
      </p:sp>
    </p:spTree>
    <p:extLst>
      <p:ext uri="{BB962C8B-B14F-4D97-AF65-F5344CB8AC3E}">
        <p14:creationId xmlns:p14="http://schemas.microsoft.com/office/powerpoint/2010/main" val="749917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57EBB1-AEEE-4D44-BF3C-6BB1CEE83BEB}"/>
              </a:ext>
            </a:extLst>
          </p:cNvPr>
          <p:cNvSpPr>
            <a:spLocks noGrp="1"/>
          </p:cNvSpPr>
          <p:nvPr>
            <p:ph idx="1"/>
          </p:nvPr>
        </p:nvSpPr>
        <p:spPr>
          <a:xfrm>
            <a:off x="453325" y="874643"/>
            <a:ext cx="8237348" cy="5302320"/>
          </a:xfrm>
        </p:spPr>
        <p:txBody>
          <a:bodyPr>
            <a:normAutofit/>
          </a:bodyPr>
          <a:lstStyle/>
          <a:p>
            <a:pPr marL="285750" indent="-285750" algn="just">
              <a:lnSpc>
                <a:spcPct val="100000"/>
              </a:lnSpc>
              <a:spcAft>
                <a:spcPts val="700"/>
              </a:spcAft>
              <a:buFont typeface="Wingdings" panose="05000000000000000000" pitchFamily="2" charset="2"/>
              <a:buChar char="q"/>
            </a:pPr>
            <a:r>
              <a:rPr lang="en-US" sz="1900" dirty="0">
                <a:effectLst/>
                <a:latin typeface="Times New Roman" panose="02020603050405020304" pitchFamily="18" charset="0"/>
              </a:rPr>
              <a:t>A computer system is a collection </a:t>
            </a:r>
            <a:r>
              <a:rPr lang="en-US" sz="1900" b="1" dirty="0">
                <a:effectLst/>
                <a:latin typeface="Times New Roman" panose="02020603050405020304" pitchFamily="18" charset="0"/>
              </a:rPr>
              <a:t>of processes and objects</a:t>
            </a:r>
            <a:r>
              <a:rPr lang="en-US" sz="1900" dirty="0">
                <a:effectLst/>
                <a:latin typeface="Times New Roman" panose="02020603050405020304" pitchFamily="18" charset="0"/>
              </a:rPr>
              <a:t>.</a:t>
            </a:r>
          </a:p>
          <a:p>
            <a:pPr marL="285750" indent="-285750" algn="just">
              <a:lnSpc>
                <a:spcPct val="100000"/>
              </a:lnSpc>
              <a:spcAft>
                <a:spcPts val="700"/>
              </a:spcAft>
              <a:buFont typeface="Wingdings" panose="05000000000000000000" pitchFamily="2" charset="2"/>
              <a:buChar char="q"/>
            </a:pPr>
            <a:r>
              <a:rPr lang="en-US" sz="1900" b="1" dirty="0">
                <a:effectLst/>
                <a:latin typeface="Times New Roman" panose="02020603050405020304" pitchFamily="18" charset="0"/>
              </a:rPr>
              <a:t>Hardware objects</a:t>
            </a:r>
            <a:r>
              <a:rPr lang="en-US" sz="1900" dirty="0">
                <a:effectLst/>
                <a:latin typeface="Times New Roman" panose="02020603050405020304" pitchFamily="18" charset="0"/>
              </a:rPr>
              <a:t>(resources)(such as the CPU, memory segments, printers, disks, and tape drives) and </a:t>
            </a:r>
            <a:r>
              <a:rPr lang="en-US" sz="1900" b="1" dirty="0">
                <a:effectLst/>
                <a:latin typeface="Times New Roman" panose="02020603050405020304" pitchFamily="18" charset="0"/>
              </a:rPr>
              <a:t>software objects</a:t>
            </a:r>
            <a:r>
              <a:rPr lang="en-US" sz="1900" dirty="0">
                <a:effectLst/>
                <a:latin typeface="Times New Roman" panose="02020603050405020304" pitchFamily="18" charset="0"/>
              </a:rPr>
              <a:t>(such as files, programs, and semaphores).</a:t>
            </a:r>
          </a:p>
          <a:p>
            <a:pPr marL="285750" indent="-285750" algn="just">
              <a:lnSpc>
                <a:spcPct val="100000"/>
              </a:lnSpc>
              <a:spcAft>
                <a:spcPts val="700"/>
              </a:spcAft>
              <a:buFont typeface="Wingdings" panose="05000000000000000000" pitchFamily="2" charset="2"/>
              <a:buChar char="q"/>
            </a:pPr>
            <a:r>
              <a:rPr lang="en-US" sz="1900" dirty="0">
                <a:effectLst/>
                <a:latin typeface="Times New Roman" panose="02020603050405020304" pitchFamily="18" charset="0"/>
              </a:rPr>
              <a:t>Each object has a unique name that differentiates it from all other objects in the system, and each can be accessed only through well-defined and meaningful operations. </a:t>
            </a:r>
            <a:endParaRPr lang="en-US" sz="1900" dirty="0">
              <a:latin typeface="Times New Roman" panose="02020603050405020304" pitchFamily="18" charset="0"/>
            </a:endParaRPr>
          </a:p>
          <a:p>
            <a:pPr marL="285750" indent="-285750" algn="just">
              <a:lnSpc>
                <a:spcPct val="100000"/>
              </a:lnSpc>
              <a:spcAft>
                <a:spcPts val="700"/>
              </a:spcAft>
              <a:buFont typeface="Wingdings" panose="05000000000000000000" pitchFamily="2" charset="2"/>
              <a:buChar char="q"/>
            </a:pPr>
            <a:r>
              <a:rPr lang="en-US" sz="1900" dirty="0">
                <a:effectLst/>
                <a:latin typeface="Times New Roman" panose="02020603050405020304" pitchFamily="18" charset="0"/>
              </a:rPr>
              <a:t>The operations that are possible may depend on the object.(Ex: Data files can be created, opened, read, written, closed, and deleted).</a:t>
            </a:r>
          </a:p>
          <a:p>
            <a:pPr algn="just">
              <a:lnSpc>
                <a:spcPct val="100000"/>
              </a:lnSpc>
              <a:spcAft>
                <a:spcPts val="700"/>
              </a:spcAft>
              <a:buNone/>
            </a:pPr>
            <a:r>
              <a:rPr lang="en-US" sz="1900" b="1" dirty="0">
                <a:latin typeface="Times New Roman" panose="02020603050405020304" pitchFamily="18" charset="0"/>
              </a:rPr>
              <a:t>Two things to be  take care of when a  process request resources:</a:t>
            </a:r>
          </a:p>
          <a:p>
            <a:pPr algn="just">
              <a:lnSpc>
                <a:spcPct val="100000"/>
              </a:lnSpc>
              <a:spcAft>
                <a:spcPts val="700"/>
              </a:spcAft>
              <a:buNone/>
            </a:pPr>
            <a:r>
              <a:rPr lang="en-US" sz="1900" dirty="0">
                <a:effectLst/>
                <a:latin typeface="Times New Roman" panose="02020603050405020304" pitchFamily="18" charset="0"/>
              </a:rPr>
              <a:t>1. A process should be allowed to access only those resources for which it has proper authorization.</a:t>
            </a:r>
          </a:p>
          <a:p>
            <a:pPr algn="just">
              <a:lnSpc>
                <a:spcPct val="100000"/>
              </a:lnSpc>
              <a:spcAft>
                <a:spcPts val="700"/>
              </a:spcAft>
              <a:buNone/>
            </a:pPr>
            <a:r>
              <a:rPr lang="en-US" sz="1900" dirty="0">
                <a:effectLst/>
                <a:latin typeface="Times New Roman" panose="02020603050405020304" pitchFamily="18" charset="0"/>
              </a:rPr>
              <a:t>2.  Process should be able to access only those resources that it currently requires to complete its task. This commonly referred to as the </a:t>
            </a:r>
            <a:r>
              <a:rPr lang="en-US" sz="1900" b="1" dirty="0">
                <a:effectLst/>
                <a:latin typeface="Times New Roman" panose="02020603050405020304" pitchFamily="18" charset="0"/>
              </a:rPr>
              <a:t>need-to-know principle.</a:t>
            </a:r>
            <a:endParaRPr lang="en-IN" sz="1900" b="1" dirty="0"/>
          </a:p>
        </p:txBody>
      </p:sp>
      <p:sp>
        <p:nvSpPr>
          <p:cNvPr id="3" name="Title 2">
            <a:extLst>
              <a:ext uri="{FF2B5EF4-FFF2-40B4-BE49-F238E27FC236}">
                <a16:creationId xmlns:a16="http://schemas.microsoft.com/office/drawing/2014/main" id="{436B8CDF-8430-4889-B44F-725D4FA3E59F}"/>
              </a:ext>
            </a:extLst>
          </p:cNvPr>
          <p:cNvSpPr>
            <a:spLocks noGrp="1"/>
          </p:cNvSpPr>
          <p:nvPr>
            <p:ph type="title"/>
          </p:nvPr>
        </p:nvSpPr>
        <p:spPr>
          <a:xfrm>
            <a:off x="0" y="253514"/>
            <a:ext cx="7227896" cy="427523"/>
          </a:xfrm>
        </p:spPr>
        <p:txBody>
          <a:bodyPr>
            <a:noAutofit/>
          </a:bodyPr>
          <a:lstStyle/>
          <a:p>
            <a:r>
              <a:rPr lang="en-IN" sz="2800" dirty="0">
                <a:effectLst/>
                <a:latin typeface="Times New Roman" panose="02020603050405020304" pitchFamily="18" charset="0"/>
                <a:cs typeface="Times New Roman" panose="02020603050405020304" pitchFamily="18" charset="0"/>
              </a:rPr>
              <a:t>Domain of Protection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305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7264EF-F156-4DDE-B0FC-AF49479E9E7A}"/>
              </a:ext>
            </a:extLst>
          </p:cNvPr>
          <p:cNvSpPr>
            <a:spLocks noGrp="1"/>
          </p:cNvSpPr>
          <p:nvPr>
            <p:ph idx="1"/>
          </p:nvPr>
        </p:nvSpPr>
        <p:spPr>
          <a:xfrm>
            <a:off x="453325" y="901148"/>
            <a:ext cx="8237348" cy="5275815"/>
          </a:xfrm>
        </p:spPr>
        <p:txBody>
          <a:bodyPr/>
          <a:lstStyle/>
          <a:p>
            <a:pPr algn="just">
              <a:lnSpc>
                <a:spcPct val="100000"/>
              </a:lnSpc>
              <a:spcBef>
                <a:spcPts val="500"/>
              </a:spcBef>
              <a:spcAft>
                <a:spcPts val="500"/>
              </a:spcAft>
            </a:pPr>
            <a:r>
              <a:rPr lang="en-IN" b="1" u="sng" dirty="0">
                <a:effectLst/>
                <a:latin typeface="Times New Roman" panose="02020603050405020304" pitchFamily="18" charset="0"/>
                <a:cs typeface="Times New Roman" panose="02020603050405020304" pitchFamily="18" charset="0"/>
              </a:rPr>
              <a:t>Domain Structure :</a:t>
            </a:r>
          </a:p>
          <a:p>
            <a:pPr marL="285750" indent="-285750" algn="just">
              <a:lnSpc>
                <a:spcPct val="100000"/>
              </a:lnSpc>
              <a:spcBef>
                <a:spcPts val="500"/>
              </a:spcBef>
              <a:spcAft>
                <a:spcPts val="5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a:t>
            </a:r>
            <a:r>
              <a:rPr lang="en-US" dirty="0">
                <a:effectLst/>
                <a:latin typeface="Times New Roman" panose="02020603050405020304" pitchFamily="18" charset="0"/>
                <a:cs typeface="Times New Roman" panose="02020603050405020304" pitchFamily="18" charset="0"/>
              </a:rPr>
              <a:t> process operates with in a </a:t>
            </a:r>
            <a:r>
              <a:rPr lang="en-US" b="1" dirty="0">
                <a:effectLst/>
                <a:latin typeface="Times New Roman" panose="02020603050405020304" pitchFamily="18" charset="0"/>
                <a:cs typeface="Times New Roman" panose="02020603050405020304" pitchFamily="18" charset="0"/>
              </a:rPr>
              <a:t>protection domain</a:t>
            </a:r>
            <a:r>
              <a:rPr lang="en-US" b="1" dirty="0">
                <a:latin typeface="Times New Roman" panose="02020603050405020304" pitchFamily="18" charset="0"/>
                <a:cs typeface="Times New Roman" panose="02020603050405020304" pitchFamily="18" charset="0"/>
              </a:rPr>
              <a:t>- </a:t>
            </a:r>
            <a:r>
              <a:rPr lang="en-US" b="1" dirty="0">
                <a:effectLst/>
                <a:latin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cs typeface="Times New Roman" panose="02020603050405020304" pitchFamily="18" charset="0"/>
              </a:rPr>
              <a:t>which specifies </a:t>
            </a:r>
            <a:r>
              <a:rPr lang="en-US" b="1" dirty="0">
                <a:effectLst/>
                <a:latin typeface="Times New Roman" panose="02020603050405020304" pitchFamily="18" charset="0"/>
                <a:cs typeface="Times New Roman" panose="02020603050405020304" pitchFamily="18" charset="0"/>
              </a:rPr>
              <a:t>set of  resources that the process may access. </a:t>
            </a:r>
          </a:p>
          <a:p>
            <a:pPr marL="285750" indent="-285750" algn="just">
              <a:lnSpc>
                <a:spcPct val="100000"/>
              </a:lnSpc>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Each domain defines a set of objects and the types of operations that may be invoked on each object. </a:t>
            </a:r>
          </a:p>
          <a:p>
            <a:pPr marL="285750" indent="-285750" algn="just">
              <a:lnSpc>
                <a:spcPct val="100000"/>
              </a:lnSpc>
              <a:spcBef>
                <a:spcPts val="500"/>
              </a:spcBef>
              <a:spcAft>
                <a:spcPts val="500"/>
              </a:spcAft>
              <a:buFont typeface="Wingdings" panose="05000000000000000000" pitchFamily="2" charset="2"/>
              <a:buChar char="q"/>
            </a:pPr>
            <a:r>
              <a:rPr lang="en-US" b="1" dirty="0">
                <a:effectLst/>
                <a:latin typeface="Times New Roman" panose="02020603050405020304" pitchFamily="18" charset="0"/>
                <a:cs typeface="Times New Roman" panose="02020603050405020304" pitchFamily="18" charset="0"/>
              </a:rPr>
              <a:t>Access right </a:t>
            </a:r>
            <a:r>
              <a:rPr lang="en-US" dirty="0">
                <a:effectLst/>
                <a:latin typeface="Times New Roman" panose="02020603050405020304" pitchFamily="18" charset="0"/>
                <a:cs typeface="Times New Roman" panose="02020603050405020304" pitchFamily="18" charset="0"/>
              </a:rPr>
              <a:t>- The ability to execute an operation on an object . </a:t>
            </a:r>
          </a:p>
          <a:p>
            <a:pPr marL="285750" indent="-285750" algn="just">
              <a:lnSpc>
                <a:spcPct val="100000"/>
              </a:lnSpc>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A domain is a collection of access rights, each of which is an ordered pair   </a:t>
            </a:r>
          </a:p>
          <a:p>
            <a:pPr algn="just">
              <a:lnSpc>
                <a:spcPct val="100000"/>
              </a:lnSpc>
              <a:spcBef>
                <a:spcPts val="500"/>
              </a:spcBef>
              <a:spcAft>
                <a:spcPts val="500"/>
              </a:spcAft>
              <a:buNone/>
            </a:pPr>
            <a:r>
              <a:rPr lang="en-US" b="1" dirty="0">
                <a:latin typeface="Times New Roman" panose="02020603050405020304" pitchFamily="18" charset="0"/>
                <a:cs typeface="Times New Roman" panose="02020603050405020304" pitchFamily="18" charset="0"/>
              </a:rPr>
              <a:t>                      </a:t>
            </a:r>
            <a:r>
              <a:rPr lang="en-US" b="1" dirty="0">
                <a:effectLst/>
                <a:latin typeface="Times New Roman" panose="02020603050405020304" pitchFamily="18" charset="0"/>
                <a:cs typeface="Times New Roman" panose="02020603050405020304" pitchFamily="18" charset="0"/>
              </a:rPr>
              <a:t>&lt;object-name, rights-set&gt;.</a:t>
            </a:r>
          </a:p>
          <a:p>
            <a:pPr marL="285750" indent="-285750" algn="just">
              <a:lnSpc>
                <a:spcPct val="100000"/>
              </a:lnSpc>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For example, if domain has the access right &lt;file F,{ read , write } &gt;</a:t>
            </a:r>
          </a:p>
          <a:p>
            <a:pPr marL="285750" indent="-285750" algn="just">
              <a:lnSpc>
                <a:spcPct val="100000"/>
              </a:lnSpc>
              <a:spcBef>
                <a:spcPts val="500"/>
              </a:spcBef>
              <a:spcAft>
                <a:spcPts val="500"/>
              </a:spcAft>
              <a:buFont typeface="Wingdings" panose="05000000000000000000" pitchFamily="2" charset="2"/>
              <a:buChar char="q"/>
            </a:pPr>
            <a:r>
              <a:rPr lang="en-US" dirty="0">
                <a:effectLst/>
                <a:latin typeface="Times New Roman" panose="02020603050405020304" pitchFamily="18" charset="0"/>
              </a:rPr>
              <a:t>Domains  don’t need to be  disjoint, Domains may share access rights.</a:t>
            </a:r>
          </a:p>
          <a:p>
            <a:pPr marL="285750" indent="-285750" algn="just">
              <a:lnSpc>
                <a:spcPct val="100000"/>
              </a:lnSpc>
              <a:spcBef>
                <a:spcPts val="500"/>
              </a:spcBef>
              <a:spcAft>
                <a:spcPts val="500"/>
              </a:spcAf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IN" b="1" dirty="0"/>
          </a:p>
        </p:txBody>
      </p:sp>
      <p:sp>
        <p:nvSpPr>
          <p:cNvPr id="3" name="Title 2">
            <a:extLst>
              <a:ext uri="{FF2B5EF4-FFF2-40B4-BE49-F238E27FC236}">
                <a16:creationId xmlns:a16="http://schemas.microsoft.com/office/drawing/2014/main" id="{7D3AFF2D-A0F3-411C-8F8A-35E3E031490A}"/>
              </a:ext>
            </a:extLst>
          </p:cNvPr>
          <p:cNvSpPr>
            <a:spLocks noGrp="1"/>
          </p:cNvSpPr>
          <p:nvPr>
            <p:ph type="title"/>
          </p:nvPr>
        </p:nvSpPr>
        <p:spPr>
          <a:xfrm>
            <a:off x="92765" y="253514"/>
            <a:ext cx="7135131" cy="479910"/>
          </a:xfrm>
        </p:spPr>
        <p:txBody>
          <a:bodyPr/>
          <a:lstStyle/>
          <a:p>
            <a:r>
              <a:rPr lang="en-IN" sz="2400" dirty="0">
                <a:effectLst/>
                <a:latin typeface="Times New Roman" panose="02020603050405020304" pitchFamily="18" charset="0"/>
                <a:cs typeface="Times New Roman" panose="02020603050405020304" pitchFamily="18" charset="0"/>
              </a:rPr>
              <a:t>Domain of Protection :</a:t>
            </a:r>
            <a:endParaRPr lang="en-IN" dirty="0"/>
          </a:p>
        </p:txBody>
      </p:sp>
      <p:pic>
        <p:nvPicPr>
          <p:cNvPr id="5" name="Picture 4">
            <a:extLst>
              <a:ext uri="{FF2B5EF4-FFF2-40B4-BE49-F238E27FC236}">
                <a16:creationId xmlns:a16="http://schemas.microsoft.com/office/drawing/2014/main" id="{AF6E6C05-E603-4D43-968E-4BF0167FFD5E}"/>
              </a:ext>
            </a:extLst>
          </p:cNvPr>
          <p:cNvPicPr>
            <a:picLocks noChangeAspect="1"/>
          </p:cNvPicPr>
          <p:nvPr/>
        </p:nvPicPr>
        <p:blipFill>
          <a:blip r:embed="rId2"/>
          <a:stretch>
            <a:fillRect/>
          </a:stretch>
        </p:blipFill>
        <p:spPr>
          <a:xfrm>
            <a:off x="1309067" y="4704522"/>
            <a:ext cx="5200650" cy="2054087"/>
          </a:xfrm>
          <a:prstGeom prst="rect">
            <a:avLst/>
          </a:prstGeom>
        </p:spPr>
      </p:pic>
    </p:spTree>
    <p:extLst>
      <p:ext uri="{BB962C8B-B14F-4D97-AF65-F5344CB8AC3E}">
        <p14:creationId xmlns:p14="http://schemas.microsoft.com/office/powerpoint/2010/main" val="2237291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8559E6-57A1-4C92-8225-31A7A6E8C2FA}"/>
              </a:ext>
            </a:extLst>
          </p:cNvPr>
          <p:cNvSpPr>
            <a:spLocks noGrp="1"/>
          </p:cNvSpPr>
          <p:nvPr>
            <p:ph idx="1"/>
          </p:nvPr>
        </p:nvSpPr>
        <p:spPr>
          <a:xfrm>
            <a:off x="453325" y="901148"/>
            <a:ext cx="8237348" cy="5275815"/>
          </a:xfrm>
        </p:spPr>
        <p:txBody>
          <a:bodyPr>
            <a:normAutofit/>
          </a:bodyPr>
          <a:lstStyle/>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rPr>
              <a:t>The association between a process and a domain may be either </a:t>
            </a:r>
            <a:r>
              <a:rPr lang="en-US" b="1" dirty="0">
                <a:effectLst/>
                <a:latin typeface="Times New Roman" panose="02020603050405020304" pitchFamily="18" charset="0"/>
              </a:rPr>
              <a:t>static</a:t>
            </a:r>
            <a:r>
              <a:rPr lang="en-US" dirty="0">
                <a:effectLst/>
                <a:latin typeface="Times New Roman" panose="02020603050405020304" pitchFamily="18" charset="0"/>
              </a:rPr>
              <a:t> - if the set of resources available to the process is </a:t>
            </a:r>
            <a:r>
              <a:rPr lang="en-US" b="1" dirty="0">
                <a:effectLst/>
                <a:latin typeface="Times New Roman" panose="02020603050405020304" pitchFamily="18" charset="0"/>
              </a:rPr>
              <a:t>fixed </a:t>
            </a:r>
            <a:r>
              <a:rPr lang="en-US" dirty="0">
                <a:effectLst/>
                <a:latin typeface="Times New Roman" panose="02020603050405020304" pitchFamily="18" charset="0"/>
              </a:rPr>
              <a:t>throughout the process’s lifetime, or </a:t>
            </a:r>
            <a:r>
              <a:rPr lang="en-US" b="1" dirty="0">
                <a:effectLst/>
                <a:latin typeface="Times New Roman" panose="02020603050405020304" pitchFamily="18" charset="0"/>
              </a:rPr>
              <a:t>dynamic</a:t>
            </a:r>
            <a:r>
              <a:rPr lang="en-US" b="1" dirty="0">
                <a:latin typeface="Times New Roman" panose="02020603050405020304" pitchFamily="18" charset="0"/>
              </a:rPr>
              <a:t> - </a:t>
            </a:r>
            <a:r>
              <a:rPr lang="en-US" dirty="0">
                <a:effectLst/>
                <a:latin typeface="Times New Roman" panose="02020603050405020304" pitchFamily="18" charset="0"/>
              </a:rPr>
              <a:t>if the set of resources available to the process is </a:t>
            </a:r>
            <a:r>
              <a:rPr lang="en-US" b="1" dirty="0">
                <a:effectLst/>
                <a:latin typeface="Times New Roman" panose="02020603050405020304" pitchFamily="18" charset="0"/>
              </a:rPr>
              <a:t>Flexible</a:t>
            </a:r>
            <a:r>
              <a:rPr lang="en-US" dirty="0">
                <a:effectLst/>
                <a:latin typeface="Times New Roman" panose="02020603050405020304" pitchFamily="18" charset="0"/>
              </a:rPr>
              <a:t> throughout the process’s lifetime.</a:t>
            </a:r>
          </a:p>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rPr>
              <a:t>If a domain is static, we must define the domain to include both read and write access.</a:t>
            </a:r>
          </a:p>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rPr>
              <a:t>If the association is dynamic, a mechanism is available to allow domain switching, enabling the process to switch from one domain to another.</a:t>
            </a:r>
          </a:p>
          <a:p>
            <a:pPr algn="just">
              <a:lnSpc>
                <a:spcPct val="100000"/>
              </a:lnSpc>
              <a:spcBef>
                <a:spcPts val="700"/>
              </a:spcBef>
              <a:spcAft>
                <a:spcPts val="700"/>
              </a:spcAft>
              <a:buNone/>
            </a:pPr>
            <a:r>
              <a:rPr lang="en-US" b="1" dirty="0">
                <a:effectLst/>
                <a:latin typeface="Times New Roman" panose="02020603050405020304" pitchFamily="18" charset="0"/>
              </a:rPr>
              <a:t>A domain can be realized in a variety of ways</a:t>
            </a:r>
            <a:r>
              <a:rPr lang="en-US" b="1" dirty="0">
                <a:latin typeface="Times New Roman" panose="02020603050405020304" pitchFamily="18" charset="0"/>
              </a:rPr>
              <a:t>:</a:t>
            </a:r>
          </a:p>
          <a:p>
            <a:pPr marL="285750" indent="-285750" algn="just">
              <a:lnSpc>
                <a:spcPct val="100000"/>
              </a:lnSpc>
              <a:spcBef>
                <a:spcPts val="700"/>
              </a:spcBef>
              <a:spcAft>
                <a:spcPts val="700"/>
              </a:spcAft>
              <a:buFont typeface="Wingdings" panose="05000000000000000000" pitchFamily="2" charset="2"/>
              <a:buChar char="q"/>
            </a:pPr>
            <a:r>
              <a:rPr lang="en-US" b="1" dirty="0">
                <a:effectLst/>
                <a:latin typeface="Times New Roman" panose="02020603050405020304" pitchFamily="18" charset="0"/>
              </a:rPr>
              <a:t>Each user may be a domain</a:t>
            </a:r>
            <a:r>
              <a:rPr lang="en-US" b="1" dirty="0">
                <a:latin typeface="Times New Roman" panose="02020603050405020304" pitchFamily="18" charset="0"/>
              </a:rPr>
              <a:t>:</a:t>
            </a:r>
            <a:r>
              <a:rPr lang="en-US" dirty="0">
                <a:effectLst/>
                <a:latin typeface="Times New Roman" panose="02020603050405020304" pitchFamily="18" charset="0"/>
              </a:rPr>
              <a:t> </a:t>
            </a:r>
          </a:p>
          <a:p>
            <a:pPr algn="just">
              <a:lnSpc>
                <a:spcPct val="100000"/>
              </a:lnSpc>
              <a:spcBef>
                <a:spcPts val="700"/>
              </a:spcBef>
              <a:spcAft>
                <a:spcPts val="700"/>
              </a:spcAft>
              <a:buNone/>
            </a:pPr>
            <a:r>
              <a:rPr lang="en-US" dirty="0">
                <a:effectLst/>
                <a:latin typeface="Times New Roman" panose="02020603050405020304" pitchFamily="18" charset="0"/>
              </a:rPr>
              <a:t>                Domain switching occurs when the user is changed — generally when one user logs out and another user logs in. In this case, the set of objects that can be accessed depends on the identity of the user. </a:t>
            </a:r>
          </a:p>
        </p:txBody>
      </p:sp>
      <p:sp>
        <p:nvSpPr>
          <p:cNvPr id="3" name="Title 2">
            <a:extLst>
              <a:ext uri="{FF2B5EF4-FFF2-40B4-BE49-F238E27FC236}">
                <a16:creationId xmlns:a16="http://schemas.microsoft.com/office/drawing/2014/main" id="{E4212D92-905B-49C4-AA9C-ACDBE29387E8}"/>
              </a:ext>
            </a:extLst>
          </p:cNvPr>
          <p:cNvSpPr>
            <a:spLocks noGrp="1"/>
          </p:cNvSpPr>
          <p:nvPr>
            <p:ph type="title"/>
          </p:nvPr>
        </p:nvSpPr>
        <p:spPr>
          <a:xfrm>
            <a:off x="0" y="253514"/>
            <a:ext cx="7227896" cy="479910"/>
          </a:xfrm>
        </p:spPr>
        <p:txBody>
          <a:bodyPr>
            <a:normAutofit/>
          </a:bodyPr>
          <a:lstStyle/>
          <a:p>
            <a:r>
              <a:rPr lang="en-IN" sz="2800" dirty="0">
                <a:effectLst/>
                <a:latin typeface="Times New Roman" panose="02020603050405020304" pitchFamily="18" charset="0"/>
                <a:cs typeface="Times New Roman" panose="02020603050405020304" pitchFamily="18" charset="0"/>
              </a:rPr>
              <a:t>Domain of Protection :</a:t>
            </a:r>
            <a:endParaRPr lang="en-IN" sz="2800" dirty="0"/>
          </a:p>
        </p:txBody>
      </p:sp>
    </p:spTree>
    <p:extLst>
      <p:ext uri="{BB962C8B-B14F-4D97-AF65-F5344CB8AC3E}">
        <p14:creationId xmlns:p14="http://schemas.microsoft.com/office/powerpoint/2010/main" val="161804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8983D9-365B-4DF1-A7FB-C6079F6A7823}"/>
              </a:ext>
            </a:extLst>
          </p:cNvPr>
          <p:cNvSpPr>
            <a:spLocks noGrp="1"/>
          </p:cNvSpPr>
          <p:nvPr>
            <p:ph idx="1"/>
          </p:nvPr>
        </p:nvSpPr>
        <p:spPr>
          <a:xfrm>
            <a:off x="453325" y="834887"/>
            <a:ext cx="8237348" cy="5342076"/>
          </a:xfrm>
        </p:spPr>
        <p:txBody>
          <a:bodyPr>
            <a:normAutofit fontScale="92500" lnSpcReduction="10000"/>
          </a:bodyPr>
          <a:lstStyle/>
          <a:p>
            <a:pPr marL="285750" indent="-285750" algn="just">
              <a:lnSpc>
                <a:spcPct val="100000"/>
              </a:lnSpc>
              <a:spcBef>
                <a:spcPts val="700"/>
              </a:spcBef>
              <a:spcAft>
                <a:spcPts val="700"/>
              </a:spcAft>
              <a:buFont typeface="Wingdings" panose="05000000000000000000" pitchFamily="2" charset="2"/>
              <a:buChar char="q"/>
            </a:pPr>
            <a:r>
              <a:rPr lang="en-US" sz="1900" b="1" dirty="0">
                <a:effectLst/>
                <a:latin typeface="Times New Roman" panose="02020603050405020304" pitchFamily="18" charset="0"/>
                <a:cs typeface="Times New Roman" panose="02020603050405020304" pitchFamily="18" charset="0"/>
              </a:rPr>
              <a:t>Each process may be a domain:</a:t>
            </a:r>
          </a:p>
          <a:p>
            <a:pPr algn="just">
              <a:lnSpc>
                <a:spcPct val="100000"/>
              </a:lnSpc>
              <a:spcBef>
                <a:spcPts val="700"/>
              </a:spcBef>
              <a:spcAft>
                <a:spcPts val="700"/>
              </a:spcAft>
              <a:buNone/>
            </a:pPr>
            <a:r>
              <a:rPr lang="en-US" sz="1900" b="1" dirty="0">
                <a:latin typeface="Times New Roman" panose="02020603050405020304" pitchFamily="18" charset="0"/>
                <a:cs typeface="Times New Roman" panose="02020603050405020304" pitchFamily="18" charset="0"/>
              </a:rPr>
              <a:t>              </a:t>
            </a:r>
            <a:r>
              <a:rPr lang="en-US" sz="1900" dirty="0">
                <a:effectLst/>
                <a:latin typeface="Times New Roman" panose="02020603050405020304" pitchFamily="18" charset="0"/>
                <a:cs typeface="Times New Roman" panose="02020603050405020304" pitchFamily="18" charset="0"/>
              </a:rPr>
              <a:t>Domain switching occurs when one process sends a message to another process and then waits for a response .In this case, the set of objects that can be accessed depends on the identity of the process. </a:t>
            </a:r>
            <a:endParaRPr lang="en-IN" sz="1900"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r>
              <a:rPr lang="en-US" sz="1900" b="1" dirty="0">
                <a:effectLst/>
                <a:latin typeface="Times New Roman" panose="02020603050405020304" pitchFamily="18" charset="0"/>
                <a:cs typeface="Times New Roman" panose="02020603050405020304" pitchFamily="18" charset="0"/>
              </a:rPr>
              <a:t>Each procedure may be a domain:</a:t>
            </a:r>
          </a:p>
          <a:p>
            <a:pPr algn="just">
              <a:lnSpc>
                <a:spcPct val="100000"/>
              </a:lnSpc>
              <a:spcBef>
                <a:spcPts val="700"/>
              </a:spcBef>
              <a:spcAft>
                <a:spcPts val="700"/>
              </a:spcAft>
            </a:pPr>
            <a:r>
              <a:rPr lang="en-US" sz="1900" dirty="0">
                <a:effectLst/>
                <a:latin typeface="Times New Roman" panose="02020603050405020304" pitchFamily="18" charset="0"/>
                <a:cs typeface="Times New Roman" panose="02020603050405020304" pitchFamily="18" charset="0"/>
              </a:rPr>
              <a:t>               Domain switching occurs when a procedure call is made. In this case, the set of objects that can be accessed corresponds to the local variables defined within the procedure. </a:t>
            </a:r>
          </a:p>
          <a:p>
            <a:pPr algn="just">
              <a:lnSpc>
                <a:spcPct val="100000"/>
              </a:lnSpc>
              <a:spcBef>
                <a:spcPts val="700"/>
              </a:spcBef>
              <a:spcAft>
                <a:spcPts val="700"/>
              </a:spcAft>
            </a:pPr>
            <a:r>
              <a:rPr lang="en-US" altLang="en-US" sz="1900" b="1" u="sng" dirty="0">
                <a:latin typeface="Times New Roman" panose="02020603050405020304" pitchFamily="18" charset="0"/>
                <a:cs typeface="Times New Roman" panose="02020603050405020304" pitchFamily="18" charset="0"/>
              </a:rPr>
              <a:t>Domain Implementation (UNIX):</a:t>
            </a:r>
            <a:endParaRPr lang="en-IN" sz="1900" b="1" u="sng"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In the UNIX operating system, a domain is associated with the user(userID).</a:t>
            </a:r>
          </a:p>
          <a:p>
            <a:pPr marL="285750" indent="-285750" algn="just">
              <a:buFont typeface="Wingdings" panose="05000000000000000000" pitchFamily="2" charset="2"/>
              <a:buChar char="q"/>
            </a:pPr>
            <a:r>
              <a:rPr lang="en-US" sz="1900" b="1" dirty="0">
                <a:effectLst/>
                <a:latin typeface="Times New Roman" panose="02020603050405020304" pitchFamily="18" charset="0"/>
                <a:cs typeface="Times New Roman" panose="02020603050405020304" pitchFamily="18" charset="0"/>
              </a:rPr>
              <a:t>Switching the domain </a:t>
            </a:r>
            <a:r>
              <a:rPr lang="en-US" sz="1900" dirty="0">
                <a:effectLst/>
                <a:latin typeface="Times New Roman" panose="02020603050405020304" pitchFamily="18" charset="0"/>
                <a:cs typeface="Times New Roman" panose="02020603050405020304" pitchFamily="18" charset="0"/>
              </a:rPr>
              <a:t>corresponds to changing the user identification temporarily </a:t>
            </a:r>
            <a:r>
              <a:rPr lang="en-IN" sz="1900" b="1" dirty="0">
                <a:effectLst/>
                <a:latin typeface="Times New Roman" panose="02020603050405020304" pitchFamily="18" charset="0"/>
                <a:cs typeface="Times New Roman" panose="02020603050405020304" pitchFamily="18" charset="0"/>
              </a:rPr>
              <a:t>accomplished </a:t>
            </a:r>
            <a:r>
              <a:rPr lang="en-US" sz="1900" b="1" dirty="0">
                <a:latin typeface="Times New Roman" panose="02020603050405020304" pitchFamily="18" charset="0"/>
                <a:cs typeface="Times New Roman" panose="02020603050405020304" pitchFamily="18" charset="0"/>
              </a:rPr>
              <a:t> via </a:t>
            </a:r>
            <a:r>
              <a:rPr lang="en-US" sz="1900" b="1" dirty="0">
                <a:effectLst/>
                <a:latin typeface="Times New Roman" panose="02020603050405020304" pitchFamily="18" charset="0"/>
                <a:cs typeface="Times New Roman" panose="02020603050405020304" pitchFamily="18" charset="0"/>
              </a:rPr>
              <a:t> file system.</a:t>
            </a:r>
          </a:p>
          <a:p>
            <a:pPr marL="285750" indent="-285750" algn="jus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Each file has associated with </a:t>
            </a:r>
            <a:r>
              <a:rPr lang="en-US" sz="1900" b="1" dirty="0">
                <a:effectLst/>
                <a:latin typeface="Times New Roman" panose="02020603050405020304" pitchFamily="18" charset="0"/>
                <a:cs typeface="Times New Roman" panose="02020603050405020304" pitchFamily="18" charset="0"/>
              </a:rPr>
              <a:t>owner identification </a:t>
            </a:r>
            <a:r>
              <a:rPr lang="en-US" sz="1900" dirty="0">
                <a:effectLst/>
                <a:latin typeface="Times New Roman" panose="02020603050405020304" pitchFamily="18" charset="0"/>
                <a:cs typeface="Times New Roman" panose="02020603050405020304" pitchFamily="18" charset="0"/>
              </a:rPr>
              <a:t>and a </a:t>
            </a:r>
            <a:r>
              <a:rPr lang="en-US" sz="1900" b="1" dirty="0">
                <a:effectLst/>
                <a:latin typeface="Times New Roman" panose="02020603050405020304" pitchFamily="18" charset="0"/>
                <a:cs typeface="Times New Roman" panose="02020603050405020304" pitchFamily="18" charset="0"/>
              </a:rPr>
              <a:t>domain bit </a:t>
            </a:r>
            <a:r>
              <a:rPr lang="en-US" sz="1900" dirty="0">
                <a:effectLst/>
                <a:latin typeface="Times New Roman" panose="02020603050405020304" pitchFamily="18" charset="0"/>
                <a:cs typeface="Times New Roman" panose="02020603050405020304" pitchFamily="18" charset="0"/>
              </a:rPr>
              <a:t>(known as the setuid bit).</a:t>
            </a:r>
          </a:p>
          <a:p>
            <a:pPr marL="285750" indent="-285750">
              <a:lnSpc>
                <a:spcPct val="100000"/>
              </a:lnSpc>
              <a:spcBef>
                <a:spcPts val="700"/>
              </a:spcBef>
              <a:spcAft>
                <a:spcPts val="700"/>
              </a:spcAft>
              <a:buFont typeface="Wingdings" panose="05000000000000000000" pitchFamily="2" charset="2"/>
              <a:buChar char="q"/>
            </a:pPr>
            <a:endParaRPr lang="en-IN" b="1"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51A7DB6-B5E4-43FD-955A-0631EDA492EE}"/>
              </a:ext>
            </a:extLst>
          </p:cNvPr>
          <p:cNvSpPr>
            <a:spLocks noGrp="1"/>
          </p:cNvSpPr>
          <p:nvPr>
            <p:ph type="title"/>
          </p:nvPr>
        </p:nvSpPr>
        <p:spPr>
          <a:xfrm>
            <a:off x="159026" y="253514"/>
            <a:ext cx="7068870" cy="479910"/>
          </a:xfrm>
        </p:spPr>
        <p:txBody>
          <a:bodyPr/>
          <a:lstStyle/>
          <a:p>
            <a:r>
              <a:rPr lang="en-IN" sz="2400" dirty="0">
                <a:effectLst/>
                <a:latin typeface="Times New Roman" panose="02020603050405020304" pitchFamily="18" charset="0"/>
                <a:cs typeface="Times New Roman" panose="02020603050405020304" pitchFamily="18" charset="0"/>
              </a:rPr>
              <a:t>Domain of Protection :</a:t>
            </a:r>
            <a:endParaRPr lang="en-IN" dirty="0"/>
          </a:p>
        </p:txBody>
      </p:sp>
    </p:spTree>
    <p:extLst>
      <p:ext uri="{BB962C8B-B14F-4D97-AF65-F5344CB8AC3E}">
        <p14:creationId xmlns:p14="http://schemas.microsoft.com/office/powerpoint/2010/main" val="3144867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8FFDDA-4C2D-4435-8FCD-F748BA3326E3}"/>
              </a:ext>
            </a:extLst>
          </p:cNvPr>
          <p:cNvSpPr>
            <a:spLocks noGrp="1"/>
          </p:cNvSpPr>
          <p:nvPr>
            <p:ph idx="1"/>
          </p:nvPr>
        </p:nvSpPr>
        <p:spPr>
          <a:xfrm>
            <a:off x="453325" y="733424"/>
            <a:ext cx="8237348" cy="5443539"/>
          </a:xfrm>
        </p:spPr>
        <p:txBody>
          <a:bodyPr>
            <a:normAutofit/>
          </a:bodyPr>
          <a:lstStyle/>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When the setuid bit is on, and a user executes that file, the userID is set to that of the owner of the file.</a:t>
            </a:r>
          </a:p>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 When the bit is off, however, the userID does not change. </a:t>
            </a:r>
          </a:p>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Ex: when a user A(that is, a user with userID=A) starts executing a file owned by B, whose associated </a:t>
            </a:r>
            <a:r>
              <a:rPr lang="en-US" b="1" dirty="0">
                <a:effectLst/>
                <a:latin typeface="Times New Roman" panose="02020603050405020304" pitchFamily="18" charset="0"/>
                <a:cs typeface="Times New Roman" panose="02020603050405020304" pitchFamily="18" charset="0"/>
              </a:rPr>
              <a:t>domain bit is off </a:t>
            </a:r>
            <a:r>
              <a:rPr lang="en-US" dirty="0">
                <a:effectLst/>
                <a:latin typeface="Times New Roman" panose="02020603050405020304" pitchFamily="18" charset="0"/>
                <a:cs typeface="Times New Roman" panose="02020603050405020304" pitchFamily="18" charset="0"/>
              </a:rPr>
              <a:t>, the user ID of the process is set to A. </a:t>
            </a:r>
          </a:p>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When the </a:t>
            </a:r>
            <a:r>
              <a:rPr lang="en-US" b="1" dirty="0">
                <a:effectLst/>
                <a:latin typeface="Times New Roman" panose="02020603050405020304" pitchFamily="18" charset="0"/>
                <a:cs typeface="Times New Roman" panose="02020603050405020304" pitchFamily="18" charset="0"/>
              </a:rPr>
              <a:t>setuid bit is on </a:t>
            </a:r>
            <a:r>
              <a:rPr lang="en-US" dirty="0">
                <a:effectLst/>
                <a:latin typeface="Times New Roman" panose="02020603050405020304" pitchFamily="18" charset="0"/>
                <a:cs typeface="Times New Roman" panose="02020603050405020304" pitchFamily="18" charset="0"/>
              </a:rPr>
              <a:t>, the userID is set to that of the owner of the file : B. When the process exits, this temporary userID change.</a:t>
            </a:r>
          </a:p>
          <a:p>
            <a:pPr marL="285750" indent="-285750" algn="just">
              <a:lnSpc>
                <a:spcPct val="100000"/>
              </a:lnSpc>
              <a:spcBef>
                <a:spcPts val="700"/>
              </a:spcBef>
              <a:spcAft>
                <a:spcPts val="700"/>
              </a:spcAf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Domain Switch accomplished Via Passwords:</a:t>
            </a:r>
          </a:p>
          <a:p>
            <a:pPr algn="just">
              <a:lnSpc>
                <a:spcPct val="100000"/>
              </a:lnSpc>
              <a:spcBef>
                <a:spcPts val="700"/>
              </a:spcBef>
              <a:spcAft>
                <a:spcPts val="700"/>
              </a:spcAft>
              <a:buNone/>
            </a:pPr>
            <a:r>
              <a:rPr lang="en-US" dirty="0">
                <a:latin typeface="Times New Roman" panose="02020603050405020304" pitchFamily="18" charset="0"/>
                <a:cs typeface="Times New Roman" panose="02020603050405020304" pitchFamily="18" charset="0"/>
              </a:rPr>
              <a:t>                 SU command temporarily switches to another user’s  domain when other domain’s password provided.</a:t>
            </a:r>
          </a:p>
          <a:p>
            <a:pPr marL="285750" indent="-285750" algn="just">
              <a:lnSpc>
                <a:spcPct val="100000"/>
              </a:lnSpc>
              <a:spcBef>
                <a:spcPts val="700"/>
              </a:spcBef>
              <a:spcAft>
                <a:spcPts val="700"/>
              </a:spcAf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Domain Switching Via commands:</a:t>
            </a:r>
          </a:p>
          <a:p>
            <a:pPr algn="just">
              <a:lnSpc>
                <a:spcPct val="100000"/>
              </a:lnSpc>
              <a:spcBef>
                <a:spcPts val="700"/>
              </a:spcBef>
              <a:spcAft>
                <a:spcPts val="700"/>
              </a:spcAft>
              <a:buNone/>
            </a:pPr>
            <a:r>
              <a:rPr lang="en-US" dirty="0">
                <a:latin typeface="Times New Roman" panose="02020603050405020304" pitchFamily="18" charset="0"/>
                <a:cs typeface="Times New Roman" panose="02020603050405020304" pitchFamily="18" charset="0"/>
              </a:rPr>
              <a:t>                SUDO command prefix executes specified command in another domain (if original domain has privileges or password given ).</a:t>
            </a:r>
          </a:p>
          <a:p>
            <a:pPr marL="285750" indent="-285750">
              <a:buFont typeface="Wingdings" panose="05000000000000000000" pitchFamily="2" charset="2"/>
              <a:buChar char="q"/>
            </a:pPr>
            <a:endParaRPr lang="en-US" dirty="0">
              <a:effectLst/>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05105D8-68D5-40F6-8DCE-81970C6AA870}"/>
              </a:ext>
            </a:extLst>
          </p:cNvPr>
          <p:cNvSpPr>
            <a:spLocks noGrp="1"/>
          </p:cNvSpPr>
          <p:nvPr>
            <p:ph type="title"/>
          </p:nvPr>
        </p:nvSpPr>
        <p:spPr>
          <a:xfrm>
            <a:off x="0" y="253514"/>
            <a:ext cx="7227896" cy="479910"/>
          </a:xfrm>
        </p:spPr>
        <p:txBody>
          <a:bodyPr>
            <a:normAutofit/>
          </a:bodyPr>
          <a:lstStyle/>
          <a:p>
            <a:r>
              <a:rPr lang="en-IN" sz="2800" dirty="0">
                <a:effectLst/>
                <a:latin typeface="Times New Roman" panose="02020603050405020304" pitchFamily="18" charset="0"/>
                <a:cs typeface="Times New Roman" panose="02020603050405020304" pitchFamily="18" charset="0"/>
              </a:rPr>
              <a:t>Domain of Protection :</a:t>
            </a:r>
            <a:endParaRPr lang="en-IN" sz="2800" dirty="0"/>
          </a:p>
        </p:txBody>
      </p:sp>
    </p:spTree>
    <p:extLst>
      <p:ext uri="{BB962C8B-B14F-4D97-AF65-F5344CB8AC3E}">
        <p14:creationId xmlns:p14="http://schemas.microsoft.com/office/powerpoint/2010/main" val="1259638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61E4BC-4142-489A-A460-233CBA2BA85F}"/>
              </a:ext>
            </a:extLst>
          </p:cNvPr>
          <p:cNvSpPr>
            <a:spLocks noGrp="1"/>
          </p:cNvSpPr>
          <p:nvPr>
            <p:ph idx="1"/>
          </p:nvPr>
        </p:nvSpPr>
        <p:spPr>
          <a:xfrm>
            <a:off x="453325" y="954157"/>
            <a:ext cx="8237348" cy="5222806"/>
          </a:xfrm>
        </p:spPr>
        <p:txBody>
          <a:bodyPr/>
          <a:lstStyle/>
          <a:p>
            <a:pPr marL="285750" indent="-285750" algn="just">
              <a:lnSpc>
                <a:spcPct val="100000"/>
              </a:lnSpc>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General model of protection can be viewed abstractly as a matrix, called an A</a:t>
            </a:r>
            <a:r>
              <a:rPr lang="en-US" b="1" dirty="0">
                <a:effectLst/>
                <a:latin typeface="Times New Roman" panose="02020603050405020304" pitchFamily="18" charset="0"/>
                <a:cs typeface="Times New Roman" panose="02020603050405020304" pitchFamily="18" charset="0"/>
              </a:rPr>
              <a:t>ccess matrix. </a:t>
            </a:r>
          </a:p>
          <a:p>
            <a:pPr marL="285750" indent="-285750" algn="just">
              <a:lnSpc>
                <a:spcPct val="100000"/>
              </a:lnSpc>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The rows (i) of the access matrix represent domains, and</a:t>
            </a:r>
          </a:p>
          <a:p>
            <a:pPr marL="285750" indent="-285750" algn="just">
              <a:lnSpc>
                <a:spcPct val="100000"/>
              </a:lnSpc>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 The columns ( j )  represent objects.</a:t>
            </a:r>
          </a:p>
          <a:p>
            <a:pPr marL="285750" indent="-285750" algn="just">
              <a:lnSpc>
                <a:spcPct val="100000"/>
              </a:lnSpc>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Each entry in the matrix consists of </a:t>
            </a:r>
            <a:r>
              <a:rPr lang="en-US" b="1" dirty="0">
                <a:effectLst/>
                <a:latin typeface="Times New Roman" panose="02020603050405020304" pitchFamily="18" charset="0"/>
                <a:cs typeface="Times New Roman" panose="02020603050405020304" pitchFamily="18" charset="0"/>
              </a:rPr>
              <a:t>a set of access rights.</a:t>
            </a:r>
          </a:p>
          <a:p>
            <a:pPr marL="285750" indent="-285750" algn="just">
              <a:lnSpc>
                <a:spcPct val="100000"/>
              </a:lnSpc>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The entry access (i , j) defines the set of operations that a process executing in domain Di can invoke on object Oj.</a:t>
            </a:r>
          </a:p>
          <a:p>
            <a:endParaRPr lang="en-IN" dirty="0"/>
          </a:p>
        </p:txBody>
      </p:sp>
      <p:sp>
        <p:nvSpPr>
          <p:cNvPr id="3" name="Title 2">
            <a:extLst>
              <a:ext uri="{FF2B5EF4-FFF2-40B4-BE49-F238E27FC236}">
                <a16:creationId xmlns:a16="http://schemas.microsoft.com/office/drawing/2014/main" id="{97F508B4-C510-4F88-BB9B-F8F0F78A2FB3}"/>
              </a:ext>
            </a:extLst>
          </p:cNvPr>
          <p:cNvSpPr>
            <a:spLocks noGrp="1"/>
          </p:cNvSpPr>
          <p:nvPr>
            <p:ph type="title"/>
          </p:nvPr>
        </p:nvSpPr>
        <p:spPr>
          <a:xfrm>
            <a:off x="0" y="253514"/>
            <a:ext cx="7227896" cy="479910"/>
          </a:xfrm>
        </p:spPr>
        <p:txBody>
          <a:bodyPr/>
          <a:lstStyle/>
          <a:p>
            <a:r>
              <a:rPr lang="en-IN" dirty="0">
                <a:effectLst/>
                <a:latin typeface="Arial" panose="020B0604020202020204" pitchFamily="34" charset="0"/>
              </a:rPr>
              <a:t>Access Matrix :</a:t>
            </a:r>
            <a:endParaRPr lang="en-IN" dirty="0"/>
          </a:p>
        </p:txBody>
      </p:sp>
      <p:pic>
        <p:nvPicPr>
          <p:cNvPr id="5" name="Picture 4">
            <a:extLst>
              <a:ext uri="{FF2B5EF4-FFF2-40B4-BE49-F238E27FC236}">
                <a16:creationId xmlns:a16="http://schemas.microsoft.com/office/drawing/2014/main" id="{A11B7F8D-067D-4574-8E04-8F782D9BDFB3}"/>
              </a:ext>
            </a:extLst>
          </p:cNvPr>
          <p:cNvPicPr>
            <a:picLocks noChangeAspect="1"/>
          </p:cNvPicPr>
          <p:nvPr/>
        </p:nvPicPr>
        <p:blipFill>
          <a:blip r:embed="rId2"/>
          <a:stretch>
            <a:fillRect/>
          </a:stretch>
        </p:blipFill>
        <p:spPr>
          <a:xfrm>
            <a:off x="265043" y="3578087"/>
            <a:ext cx="8425629" cy="3026399"/>
          </a:xfrm>
          <a:prstGeom prst="rect">
            <a:avLst/>
          </a:prstGeom>
        </p:spPr>
      </p:pic>
      <p:cxnSp>
        <p:nvCxnSpPr>
          <p:cNvPr id="6" name="Straight Arrow Connector 5">
            <a:extLst>
              <a:ext uri="{FF2B5EF4-FFF2-40B4-BE49-F238E27FC236}">
                <a16:creationId xmlns:a16="http://schemas.microsoft.com/office/drawing/2014/main" id="{5CD2EF40-0661-4D08-AB75-0E6B1482F60B}"/>
              </a:ext>
            </a:extLst>
          </p:cNvPr>
          <p:cNvCxnSpPr/>
          <p:nvPr/>
        </p:nvCxnSpPr>
        <p:spPr>
          <a:xfrm flipH="1">
            <a:off x="1272209" y="3034748"/>
            <a:ext cx="1364974" cy="1258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857C504-5A9B-4DB6-BD9E-63DF47842768}"/>
              </a:ext>
            </a:extLst>
          </p:cNvPr>
          <p:cNvCxnSpPr/>
          <p:nvPr/>
        </p:nvCxnSpPr>
        <p:spPr>
          <a:xfrm flipH="1">
            <a:off x="2451652" y="3061252"/>
            <a:ext cx="490331" cy="808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9822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7278A9-9463-48C1-90B5-C1F1BDAE8727}"/>
              </a:ext>
            </a:extLst>
          </p:cNvPr>
          <p:cNvSpPr>
            <a:spLocks noGrp="1"/>
          </p:cNvSpPr>
          <p:nvPr>
            <p:ph idx="1"/>
          </p:nvPr>
        </p:nvSpPr>
        <p:spPr>
          <a:xfrm>
            <a:off x="453325" y="861391"/>
            <a:ext cx="8237348" cy="5315572"/>
          </a:xfrm>
        </p:spPr>
        <p:txBody>
          <a:bodyPr>
            <a:normAutofit/>
          </a:bodyPr>
          <a:lstStyle/>
          <a:p>
            <a:pPr marL="285750" indent="-285750" algn="just">
              <a:spcBef>
                <a:spcPts val="700"/>
              </a:spcBef>
              <a:spcAft>
                <a:spcPts val="700"/>
              </a:spcAft>
              <a:buFont typeface="Wingdings" panose="05000000000000000000" pitchFamily="2" charset="2"/>
              <a:buChar char="q"/>
            </a:pPr>
            <a:r>
              <a:rPr lang="en-US" altLang="en-US" sz="1900" dirty="0">
                <a:latin typeface="Times New Roman" panose="02020603050405020304" pitchFamily="18" charset="0"/>
                <a:cs typeface="Times New Roman" panose="02020603050405020304" pitchFamily="18" charset="0"/>
              </a:rPr>
              <a:t>If a process in Domain D</a:t>
            </a:r>
            <a:r>
              <a:rPr lang="en-US" altLang="en-US" sz="1900" baseline="-25000" dirty="0">
                <a:latin typeface="Times New Roman" panose="02020603050405020304" pitchFamily="18" charset="0"/>
                <a:cs typeface="Times New Roman" panose="02020603050405020304" pitchFamily="18" charset="0"/>
              </a:rPr>
              <a:t>i</a:t>
            </a:r>
            <a:r>
              <a:rPr lang="en-US" altLang="en-US" sz="1900" dirty="0">
                <a:latin typeface="Times New Roman" panose="02020603050405020304" pitchFamily="18" charset="0"/>
                <a:cs typeface="Times New Roman" panose="02020603050405020304" pitchFamily="18" charset="0"/>
              </a:rPr>
              <a:t> tries to do </a:t>
            </a:r>
            <a:r>
              <a:rPr lang="ja-JP" altLang="en-US" sz="1900" dirty="0">
                <a:latin typeface="Times New Roman" panose="02020603050405020304" pitchFamily="18" charset="0"/>
                <a:cs typeface="Times New Roman" panose="02020603050405020304" pitchFamily="18" charset="0"/>
              </a:rPr>
              <a:t>“</a:t>
            </a:r>
            <a:r>
              <a:rPr lang="en-US" altLang="ja-JP" sz="1900" dirty="0">
                <a:latin typeface="Times New Roman" panose="02020603050405020304" pitchFamily="18" charset="0"/>
                <a:cs typeface="Times New Roman" panose="02020603050405020304" pitchFamily="18" charset="0"/>
              </a:rPr>
              <a:t>op</a:t>
            </a:r>
            <a:r>
              <a:rPr lang="ja-JP" altLang="en-US" sz="1900" dirty="0">
                <a:latin typeface="Times New Roman" panose="02020603050405020304" pitchFamily="18" charset="0"/>
                <a:cs typeface="Times New Roman" panose="02020603050405020304" pitchFamily="18" charset="0"/>
              </a:rPr>
              <a:t>”</a:t>
            </a:r>
            <a:r>
              <a:rPr lang="en-US" altLang="ja-JP" sz="1900" dirty="0">
                <a:latin typeface="Times New Roman" panose="02020603050405020304" pitchFamily="18" charset="0"/>
                <a:cs typeface="Times New Roman" panose="02020603050405020304" pitchFamily="18" charset="0"/>
              </a:rPr>
              <a:t>(operation) on object O</a:t>
            </a:r>
            <a:r>
              <a:rPr lang="en-US" altLang="ja-JP" sz="1900" baseline="-25000" dirty="0">
                <a:latin typeface="Times New Roman" panose="02020603050405020304" pitchFamily="18" charset="0"/>
                <a:cs typeface="Times New Roman" panose="02020603050405020304" pitchFamily="18" charset="0"/>
              </a:rPr>
              <a:t>j</a:t>
            </a:r>
            <a:r>
              <a:rPr lang="en-US" altLang="ja-JP" sz="1900" dirty="0">
                <a:latin typeface="Times New Roman" panose="02020603050405020304" pitchFamily="18" charset="0"/>
                <a:cs typeface="Times New Roman" panose="02020603050405020304" pitchFamily="18" charset="0"/>
              </a:rPr>
              <a:t>, then </a:t>
            </a:r>
            <a:r>
              <a:rPr lang="ja-JP" altLang="en-US" sz="1900" dirty="0">
                <a:latin typeface="Times New Roman" panose="02020603050405020304" pitchFamily="18" charset="0"/>
                <a:cs typeface="Times New Roman" panose="02020603050405020304" pitchFamily="18" charset="0"/>
              </a:rPr>
              <a:t>“</a:t>
            </a:r>
            <a:r>
              <a:rPr lang="en-US" altLang="ja-JP" sz="1900" dirty="0">
                <a:latin typeface="Times New Roman" panose="02020603050405020304" pitchFamily="18" charset="0"/>
                <a:cs typeface="Times New Roman" panose="02020603050405020304" pitchFamily="18" charset="0"/>
              </a:rPr>
              <a:t>op</a:t>
            </a:r>
            <a:r>
              <a:rPr lang="ja-JP" altLang="en-US" sz="1900" dirty="0">
                <a:latin typeface="Times New Roman" panose="02020603050405020304" pitchFamily="18" charset="0"/>
                <a:cs typeface="Times New Roman" panose="02020603050405020304" pitchFamily="18" charset="0"/>
              </a:rPr>
              <a:t>”</a:t>
            </a:r>
            <a:r>
              <a:rPr lang="en-US" altLang="ja-JP" sz="1900" dirty="0">
                <a:latin typeface="Times New Roman" panose="02020603050405020304" pitchFamily="18" charset="0"/>
                <a:cs typeface="Times New Roman" panose="02020603050405020304" pitchFamily="18" charset="0"/>
              </a:rPr>
              <a:t> must be in </a:t>
            </a:r>
            <a:r>
              <a:rPr lang="en-US" altLang="ja-JP" sz="1900" b="1" dirty="0">
                <a:latin typeface="Times New Roman" panose="02020603050405020304" pitchFamily="18" charset="0"/>
                <a:cs typeface="Times New Roman" panose="02020603050405020304" pitchFamily="18" charset="0"/>
              </a:rPr>
              <a:t>the access matrix.</a:t>
            </a:r>
          </a:p>
          <a:p>
            <a:pPr marL="285750" indent="-285750" algn="just">
              <a:spcBef>
                <a:spcPts val="700"/>
              </a:spcBef>
              <a:spcAft>
                <a:spcPts val="700"/>
              </a:spcAft>
              <a:buFont typeface="Wingdings" panose="05000000000000000000" pitchFamily="2" charset="2"/>
              <a:buChar char="q"/>
            </a:pPr>
            <a:r>
              <a:rPr lang="en-US" altLang="en-US" sz="1900" dirty="0">
                <a:latin typeface="Times New Roman" panose="02020603050405020304" pitchFamily="18" charset="0"/>
                <a:cs typeface="Times New Roman" panose="02020603050405020304" pitchFamily="18" charset="0"/>
              </a:rPr>
              <a:t>Access matrix need to implement 2 policy decision:</a:t>
            </a:r>
          </a:p>
          <a:p>
            <a:pPr algn="just">
              <a:spcBef>
                <a:spcPts val="700"/>
              </a:spcBef>
              <a:spcAft>
                <a:spcPts val="700"/>
              </a:spcAft>
              <a:buNone/>
            </a:pPr>
            <a:r>
              <a:rPr lang="en-US" altLang="en-US" sz="1900" dirty="0">
                <a:latin typeface="Times New Roman" panose="02020603050405020304" pitchFamily="18" charset="0"/>
                <a:cs typeface="Times New Roman" panose="02020603050405020304" pitchFamily="18" charset="0"/>
              </a:rPr>
              <a:t>            1.   Which Right to include? (by User)</a:t>
            </a:r>
          </a:p>
          <a:p>
            <a:pPr algn="just">
              <a:spcBef>
                <a:spcPts val="700"/>
              </a:spcBef>
              <a:spcAft>
                <a:spcPts val="700"/>
              </a:spcAft>
              <a:buNone/>
            </a:pPr>
            <a:r>
              <a:rPr lang="en-US" altLang="en-US" sz="1900" dirty="0">
                <a:latin typeface="Times New Roman" panose="02020603050405020304" pitchFamily="18" charset="0"/>
                <a:cs typeface="Times New Roman" panose="02020603050405020304" pitchFamily="18" charset="0"/>
              </a:rPr>
              <a:t>             2.   Which domain the process execute ? (by Operating System )</a:t>
            </a:r>
          </a:p>
          <a:p>
            <a:pPr marL="285750" indent="-285750" algn="just">
              <a:spcBef>
                <a:spcPts val="700"/>
              </a:spcBef>
              <a:spcAft>
                <a:spcPts val="700"/>
              </a:spcAft>
              <a:buFont typeface="Wingdings" panose="05000000000000000000" pitchFamily="2" charset="2"/>
              <a:buChar char="q"/>
            </a:pPr>
            <a:r>
              <a:rPr lang="en-US" altLang="en-US" sz="1900" dirty="0">
                <a:latin typeface="Times New Roman" panose="02020603050405020304" pitchFamily="18" charset="0"/>
                <a:cs typeface="Times New Roman" panose="02020603050405020304" pitchFamily="18" charset="0"/>
              </a:rPr>
              <a:t>User who creates object can define access column for that object</a:t>
            </a:r>
          </a:p>
          <a:p>
            <a:pPr marL="285750" indent="-285750" algn="just">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access matrix provides an appropriate mechanism for defining and implementing strict control for </a:t>
            </a:r>
            <a:r>
              <a:rPr lang="en-US" sz="1900" b="1" dirty="0">
                <a:effectLst/>
                <a:latin typeface="Times New Roman" panose="02020603050405020304" pitchFamily="18" charset="0"/>
                <a:cs typeface="Times New Roman" panose="02020603050405020304" pitchFamily="18" charset="0"/>
              </a:rPr>
              <a:t>both static and dynamic association</a:t>
            </a:r>
            <a:r>
              <a:rPr lang="en-US" sz="1900" dirty="0">
                <a:effectLst/>
                <a:latin typeface="Times New Roman" panose="02020603050405020304" pitchFamily="18" charset="0"/>
                <a:cs typeface="Times New Roman" panose="02020603050405020304" pitchFamily="18" charset="0"/>
              </a:rPr>
              <a:t> between </a:t>
            </a:r>
            <a:r>
              <a:rPr lang="en-US" sz="1900" b="1" dirty="0">
                <a:effectLst/>
                <a:latin typeface="Times New Roman" panose="02020603050405020304" pitchFamily="18" charset="0"/>
                <a:cs typeface="Times New Roman" panose="02020603050405020304" pitchFamily="18" charset="0"/>
              </a:rPr>
              <a:t>processes and domains</a:t>
            </a:r>
            <a:r>
              <a:rPr lang="en-US" sz="1900" dirty="0">
                <a:effectLst/>
                <a:latin typeface="Times New Roman" panose="02020603050405020304" pitchFamily="18" charset="0"/>
                <a:cs typeface="Times New Roman" panose="02020603050405020304" pitchFamily="18" charset="0"/>
              </a:rPr>
              <a:t>. </a:t>
            </a:r>
          </a:p>
          <a:p>
            <a:pPr marL="285750" indent="-285750" algn="just">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When we switch a process from one domain to another, </a:t>
            </a:r>
            <a:r>
              <a:rPr lang="en-US" sz="1900" b="1" dirty="0">
                <a:effectLst/>
                <a:latin typeface="Times New Roman" panose="02020603050405020304" pitchFamily="18" charset="0"/>
                <a:cs typeface="Times New Roman" panose="02020603050405020304" pitchFamily="18" charset="0"/>
              </a:rPr>
              <a:t>we are executing an operation (switch) on an object (the domain).</a:t>
            </a:r>
          </a:p>
          <a:p>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6226CF87-FE83-4478-8B4B-306EB24220CE}"/>
              </a:ext>
            </a:extLst>
          </p:cNvPr>
          <p:cNvSpPr>
            <a:spLocks noGrp="1"/>
          </p:cNvSpPr>
          <p:nvPr>
            <p:ph type="title"/>
          </p:nvPr>
        </p:nvSpPr>
        <p:spPr>
          <a:xfrm>
            <a:off x="92765" y="253514"/>
            <a:ext cx="7135131" cy="479910"/>
          </a:xfrm>
        </p:spPr>
        <p:txBody>
          <a:bodyPr>
            <a:normAutofit/>
          </a:bodyPr>
          <a:lstStyle/>
          <a:p>
            <a:r>
              <a:rPr lang="en-US" altLang="en-US" sz="2800" dirty="0">
                <a:latin typeface="Times New Roman" panose="02020603050405020304" pitchFamily="18" charset="0"/>
                <a:cs typeface="Times New Roman" panose="02020603050405020304" pitchFamily="18" charset="0"/>
              </a:rPr>
              <a:t>Access Matrix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1197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9DC958-CF66-4577-BB64-735C90B96AB2}"/>
              </a:ext>
            </a:extLst>
          </p:cNvPr>
          <p:cNvSpPr>
            <a:spLocks noGrp="1"/>
          </p:cNvSpPr>
          <p:nvPr>
            <p:ph idx="1"/>
          </p:nvPr>
        </p:nvSpPr>
        <p:spPr>
          <a:xfrm>
            <a:off x="453325" y="848139"/>
            <a:ext cx="8237348" cy="5328825"/>
          </a:xfrm>
        </p:spPr>
        <p:txBody>
          <a:bodyPr>
            <a:normAutofit lnSpcReduction="10000"/>
          </a:bodyPr>
          <a:lstStyle/>
          <a:p>
            <a:pPr marL="285750" indent="-285750" algn="just">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We can control domain switching by including domains among the objects of the access matrix.</a:t>
            </a:r>
          </a:p>
          <a:p>
            <a:pPr marL="285750" indent="-285750" algn="just">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Processes should be able to switch from one domain to another. </a:t>
            </a:r>
          </a:p>
          <a:p>
            <a:pPr marL="285750" indent="-285750" algn="just">
              <a:lnSpc>
                <a:spcPct val="100000"/>
              </a:lnSpc>
              <a:spcBef>
                <a:spcPts val="900"/>
              </a:spcBef>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Switching from domain Di to domain Dj is allowed if and only </a:t>
            </a:r>
            <a:r>
              <a:rPr lang="en-US" sz="1900" b="1" dirty="0">
                <a:effectLst/>
                <a:latin typeface="Times New Roman" panose="02020603050405020304" pitchFamily="18" charset="0"/>
                <a:cs typeface="Times New Roman" panose="02020603050405020304" pitchFamily="18" charset="0"/>
              </a:rPr>
              <a:t>if the access right switch ∈ access(i,j).</a:t>
            </a:r>
          </a:p>
          <a:p>
            <a:pPr marL="285750" indent="-285750" algn="just">
              <a:lnSpc>
                <a:spcPct val="100000"/>
              </a:lnSpc>
              <a:spcBef>
                <a:spcPts val="900"/>
              </a:spcBef>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A </a:t>
            </a:r>
            <a:r>
              <a:rPr lang="en-US" sz="1900" dirty="0">
                <a:effectLst/>
                <a:latin typeface="Times New Roman" panose="02020603050405020304" pitchFamily="18" charset="0"/>
                <a:cs typeface="Times New Roman" panose="02020603050405020304" pitchFamily="18" charset="0"/>
              </a:rPr>
              <a:t>process executing in domain D2 can switch to domain D3 or to domain D4. A process in domain D4 can switch to D1,and one in domain D1 can switch to D2.</a:t>
            </a:r>
          </a:p>
          <a:p>
            <a:pPr marL="285750" indent="-285750" algn="just">
              <a:lnSpc>
                <a:spcPct val="100000"/>
              </a:lnSpc>
              <a:spcBef>
                <a:spcPts val="700"/>
              </a:spcBef>
              <a:spcAft>
                <a:spcPts val="700"/>
              </a:spcAft>
              <a:buFont typeface="Wingdings" panose="05000000000000000000" pitchFamily="2" charset="2"/>
              <a:buChar char="q"/>
            </a:pPr>
            <a:r>
              <a:rPr lang="en-US" altLang="en-US" sz="1900" dirty="0">
                <a:latin typeface="Times New Roman" panose="02020603050405020304" pitchFamily="18" charset="0"/>
                <a:cs typeface="Times New Roman" panose="02020603050405020304" pitchFamily="18" charset="0"/>
              </a:rPr>
              <a:t>Can be expanded to dynamic protection</a:t>
            </a:r>
          </a:p>
          <a:p>
            <a:pPr lvl="1" algn="just">
              <a:lnSpc>
                <a:spcPct val="100000"/>
              </a:lnSpc>
              <a:spcBef>
                <a:spcPts val="700"/>
              </a:spcBef>
              <a:spcAft>
                <a:spcPts val="700"/>
              </a:spcAft>
              <a:buFont typeface="Arial" panose="020B0604020202020204" pitchFamily="34" charset="0"/>
              <a:buChar char="•"/>
            </a:pPr>
            <a:r>
              <a:rPr lang="en-US" altLang="en-US" sz="1900" dirty="0">
                <a:latin typeface="Times New Roman" panose="02020603050405020304" pitchFamily="18" charset="0"/>
                <a:cs typeface="Times New Roman" panose="02020603050405020304" pitchFamily="18" charset="0"/>
              </a:rPr>
              <a:t>  Operations to add, delete access rights</a:t>
            </a:r>
          </a:p>
          <a:p>
            <a:pPr lvl="1" algn="just">
              <a:lnSpc>
                <a:spcPct val="100000"/>
              </a:lnSpc>
              <a:spcBef>
                <a:spcPts val="700"/>
              </a:spcBef>
              <a:spcAft>
                <a:spcPts val="700"/>
              </a:spcAft>
              <a:buFont typeface="Arial" panose="020B0604020202020204" pitchFamily="34" charset="0"/>
              <a:buChar char="•"/>
            </a:pPr>
            <a:r>
              <a:rPr lang="en-US" altLang="en-US" sz="1900" dirty="0">
                <a:latin typeface="Times New Roman" panose="02020603050405020304" pitchFamily="18" charset="0"/>
                <a:cs typeface="Times New Roman" panose="02020603050405020304" pitchFamily="18" charset="0"/>
              </a:rPr>
              <a:t>  Special access rights:</a:t>
            </a:r>
          </a:p>
          <a:p>
            <a:pPr lvl="2" algn="just">
              <a:lnSpc>
                <a:spcPct val="100000"/>
              </a:lnSpc>
              <a:spcBef>
                <a:spcPts val="700"/>
              </a:spcBef>
              <a:spcAft>
                <a:spcPts val="700"/>
              </a:spcAft>
              <a:buFont typeface="Wingdings" panose="05000000000000000000" pitchFamily="2" charset="2"/>
              <a:buChar char="§"/>
            </a:pPr>
            <a:r>
              <a:rPr lang="en-US" altLang="en-US" sz="1900" dirty="0">
                <a:latin typeface="Times New Roman" panose="02020603050405020304" pitchFamily="18" charset="0"/>
                <a:cs typeface="Times New Roman" panose="02020603050405020304" pitchFamily="18" charset="0"/>
              </a:rPr>
              <a:t>owner of O</a:t>
            </a:r>
            <a:r>
              <a:rPr lang="en-US" altLang="en-US" sz="1900" baseline="-25000" dirty="0">
                <a:latin typeface="Times New Roman" panose="02020603050405020304" pitchFamily="18" charset="0"/>
                <a:cs typeface="Times New Roman" panose="02020603050405020304" pitchFamily="18" charset="0"/>
              </a:rPr>
              <a:t>i</a:t>
            </a:r>
            <a:endParaRPr lang="en-US" altLang="en-US" sz="1900" dirty="0">
              <a:latin typeface="Times New Roman" panose="02020603050405020304" pitchFamily="18" charset="0"/>
              <a:cs typeface="Times New Roman" panose="02020603050405020304" pitchFamily="18" charset="0"/>
            </a:endParaRPr>
          </a:p>
          <a:p>
            <a:pPr lvl="2" algn="just">
              <a:lnSpc>
                <a:spcPct val="100000"/>
              </a:lnSpc>
              <a:spcBef>
                <a:spcPts val="700"/>
              </a:spcBef>
              <a:spcAft>
                <a:spcPts val="700"/>
              </a:spcAft>
              <a:buFont typeface="Wingdings" panose="05000000000000000000" pitchFamily="2" charset="2"/>
              <a:buChar char="§"/>
            </a:pPr>
            <a:r>
              <a:rPr lang="en-US" altLang="en-US" sz="1900" dirty="0">
                <a:latin typeface="Times New Roman" panose="02020603050405020304" pitchFamily="18" charset="0"/>
                <a:cs typeface="Times New Roman" panose="02020603050405020304" pitchFamily="18" charset="0"/>
              </a:rPr>
              <a:t>copy op from O</a:t>
            </a:r>
            <a:r>
              <a:rPr lang="en-US" altLang="en-US" sz="1900" baseline="-25000" dirty="0">
                <a:latin typeface="Times New Roman" panose="02020603050405020304" pitchFamily="18" charset="0"/>
                <a:cs typeface="Times New Roman" panose="02020603050405020304" pitchFamily="18" charset="0"/>
              </a:rPr>
              <a:t>i</a:t>
            </a:r>
            <a:r>
              <a:rPr lang="en-US" altLang="en-US" sz="1900" dirty="0">
                <a:latin typeface="Times New Roman" panose="02020603050405020304" pitchFamily="18" charset="0"/>
                <a:cs typeface="Times New Roman" panose="02020603050405020304" pitchFamily="18" charset="0"/>
              </a:rPr>
              <a:t> to O</a:t>
            </a:r>
            <a:r>
              <a:rPr lang="en-US" altLang="en-US" sz="1900" baseline="-25000" dirty="0">
                <a:latin typeface="Times New Roman" panose="02020603050405020304" pitchFamily="18" charset="0"/>
                <a:cs typeface="Times New Roman" panose="02020603050405020304" pitchFamily="18" charset="0"/>
              </a:rPr>
              <a:t>j </a:t>
            </a:r>
            <a:r>
              <a:rPr lang="en-US" altLang="en-US" sz="1900" dirty="0">
                <a:latin typeface="Times New Roman" panose="02020603050405020304" pitchFamily="18" charset="0"/>
                <a:cs typeface="Times New Roman" panose="02020603050405020304" pitchFamily="18" charset="0"/>
              </a:rPr>
              <a:t>(denoted by </a:t>
            </a:r>
            <a:r>
              <a:rPr lang="ja-JP" altLang="en-US" sz="1900" dirty="0">
                <a:latin typeface="Times New Roman" panose="02020603050405020304" pitchFamily="18" charset="0"/>
                <a:cs typeface="Times New Roman" panose="02020603050405020304" pitchFamily="18" charset="0"/>
              </a:rPr>
              <a:t>“</a:t>
            </a:r>
            <a:r>
              <a:rPr lang="en-US" altLang="ja-JP" sz="1900" dirty="0">
                <a:latin typeface="Times New Roman" panose="02020603050405020304" pitchFamily="18" charset="0"/>
                <a:cs typeface="Times New Roman" panose="02020603050405020304" pitchFamily="18" charset="0"/>
              </a:rPr>
              <a:t>*</a:t>
            </a:r>
            <a:r>
              <a:rPr lang="ja-JP" altLang="en-US" sz="1900" dirty="0">
                <a:latin typeface="Times New Roman" panose="02020603050405020304" pitchFamily="18" charset="0"/>
                <a:cs typeface="Times New Roman" panose="02020603050405020304" pitchFamily="18" charset="0"/>
              </a:rPr>
              <a:t>”</a:t>
            </a:r>
            <a:r>
              <a:rPr lang="en-US" altLang="ja-JP" sz="1900" dirty="0">
                <a:latin typeface="Times New Roman" panose="02020603050405020304" pitchFamily="18" charset="0"/>
                <a:cs typeface="Times New Roman" panose="02020603050405020304" pitchFamily="18" charset="0"/>
              </a:rPr>
              <a:t>)</a:t>
            </a:r>
          </a:p>
          <a:p>
            <a:pPr marL="285750" indent="-285750" algn="just">
              <a:lnSpc>
                <a:spcPct val="100000"/>
              </a:lnSpc>
              <a:spcBef>
                <a:spcPts val="300"/>
              </a:spcBef>
              <a:spcAft>
                <a:spcPts val="300"/>
              </a:spcAft>
              <a:buFont typeface="Wingdings" panose="05000000000000000000" pitchFamily="2" charset="2"/>
              <a:buChar char="q"/>
            </a:pPr>
            <a:endParaRPr lang="en-US" altLang="ja-JP"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76650A3-518B-4E86-9B43-AD7C4E084392}"/>
              </a:ext>
            </a:extLst>
          </p:cNvPr>
          <p:cNvSpPr>
            <a:spLocks noGrp="1"/>
          </p:cNvSpPr>
          <p:nvPr>
            <p:ph type="title"/>
          </p:nvPr>
        </p:nvSpPr>
        <p:spPr>
          <a:xfrm>
            <a:off x="106017" y="253514"/>
            <a:ext cx="7121879" cy="427523"/>
          </a:xfrm>
        </p:spPr>
        <p:txBody>
          <a:bodyPr>
            <a:noAutofit/>
          </a:bodyPr>
          <a:lstStyle/>
          <a:p>
            <a:r>
              <a:rPr lang="en-US" altLang="en-US" sz="2800" dirty="0">
                <a:latin typeface="Times New Roman" panose="02020603050405020304" pitchFamily="18" charset="0"/>
                <a:cs typeface="Times New Roman" panose="02020603050405020304" pitchFamily="18" charset="0"/>
              </a:rPr>
              <a:t>Access Matrix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3069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98D0F8-BFE9-43A2-AE2B-01FAEDE447B6}"/>
              </a:ext>
            </a:extLst>
          </p:cNvPr>
          <p:cNvSpPr>
            <a:spLocks noGrp="1"/>
          </p:cNvSpPr>
          <p:nvPr>
            <p:ph idx="1"/>
          </p:nvPr>
        </p:nvSpPr>
        <p:spPr>
          <a:xfrm>
            <a:off x="453325" y="848140"/>
            <a:ext cx="8237348" cy="5328824"/>
          </a:xfrm>
        </p:spPr>
        <p:txBody>
          <a:bodyPr/>
          <a:lstStyle/>
          <a:p>
            <a:pPr>
              <a:buNone/>
            </a:pPr>
            <a:endParaRPr lang="en-US" dirty="0">
              <a:effectLst/>
              <a:latin typeface="Times New Roman" panose="02020603050405020304" pitchFamily="18" charset="0"/>
            </a:endParaRPr>
          </a:p>
          <a:p>
            <a:pPr marL="285750" indent="-285750">
              <a:buFont typeface="Wingdings" panose="05000000000000000000" pitchFamily="2" charset="2"/>
              <a:buChar char="q"/>
            </a:pPr>
            <a:endParaRPr lang="en-IN" dirty="0"/>
          </a:p>
        </p:txBody>
      </p:sp>
      <p:sp>
        <p:nvSpPr>
          <p:cNvPr id="3" name="Title 2">
            <a:extLst>
              <a:ext uri="{FF2B5EF4-FFF2-40B4-BE49-F238E27FC236}">
                <a16:creationId xmlns:a16="http://schemas.microsoft.com/office/drawing/2014/main" id="{BDBBDA9F-12DE-4D7F-B64F-2307CEED01CB}"/>
              </a:ext>
            </a:extLst>
          </p:cNvPr>
          <p:cNvSpPr>
            <a:spLocks noGrp="1"/>
          </p:cNvSpPr>
          <p:nvPr>
            <p:ph type="title"/>
          </p:nvPr>
        </p:nvSpPr>
        <p:spPr>
          <a:xfrm>
            <a:off x="132522" y="253514"/>
            <a:ext cx="7095374" cy="479910"/>
          </a:xfrm>
        </p:spPr>
        <p:txBody>
          <a:bodyPr>
            <a:normAutofit/>
          </a:bodyPr>
          <a:lstStyle/>
          <a:p>
            <a:r>
              <a:rPr lang="en-US" altLang="en-US" sz="2400" dirty="0">
                <a:latin typeface="Times New Roman" panose="02020603050405020304" pitchFamily="18" charset="0"/>
                <a:cs typeface="Times New Roman" panose="02020603050405020304" pitchFamily="18" charset="0"/>
              </a:rPr>
              <a:t>Access Matrix of Figure A with Domains as Objects :</a:t>
            </a:r>
            <a:endParaRPr lang="en-IN" sz="2400" dirty="0">
              <a:latin typeface="Times New Roman" panose="02020603050405020304" pitchFamily="18" charset="0"/>
              <a:cs typeface="Times New Roman" panose="02020603050405020304" pitchFamily="18" charset="0"/>
            </a:endParaRPr>
          </a:p>
        </p:txBody>
      </p:sp>
      <p:pic>
        <p:nvPicPr>
          <p:cNvPr id="4" name="Picture 3" descr="14">
            <a:extLst>
              <a:ext uri="{FF2B5EF4-FFF2-40B4-BE49-F238E27FC236}">
                <a16:creationId xmlns:a16="http://schemas.microsoft.com/office/drawing/2014/main" id="{5C18BE45-119C-4FDB-9805-D2BE967BDE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365" y="2701794"/>
            <a:ext cx="7739268" cy="347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6A6053F9-85B1-460C-8B29-3C3044DFFD3A}"/>
              </a:ext>
            </a:extLst>
          </p:cNvPr>
          <p:cNvSpPr txBox="1"/>
          <p:nvPr/>
        </p:nvSpPr>
        <p:spPr>
          <a:xfrm>
            <a:off x="453325" y="848140"/>
            <a:ext cx="8332866" cy="1738938"/>
          </a:xfrm>
          <a:prstGeom prst="rect">
            <a:avLst/>
          </a:prstGeom>
          <a:noFill/>
        </p:spPr>
        <p:txBody>
          <a:bodyPr wrap="square">
            <a:spAutoFit/>
          </a:bodyPr>
          <a:lstStyle/>
          <a:p>
            <a:pPr lvl="2" algn="just">
              <a:lnSpc>
                <a:spcPct val="100000"/>
              </a:lnSpc>
              <a:spcBef>
                <a:spcPts val="700"/>
              </a:spcBef>
              <a:spcAft>
                <a:spcPts val="700"/>
              </a:spcAft>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control – D</a:t>
            </a:r>
            <a:r>
              <a:rPr lang="en-US" altLang="en-US" sz="1800" baseline="-25000" dirty="0">
                <a:latin typeface="Times New Roman" panose="02020603050405020304" pitchFamily="18" charset="0"/>
                <a:cs typeface="Times New Roman" panose="02020603050405020304" pitchFamily="18" charset="0"/>
              </a:rPr>
              <a:t>i</a:t>
            </a:r>
            <a:r>
              <a:rPr lang="en-US" altLang="en-US" sz="1800" dirty="0">
                <a:latin typeface="Times New Roman" panose="02020603050405020304" pitchFamily="18" charset="0"/>
                <a:cs typeface="Times New Roman" panose="02020603050405020304" pitchFamily="18" charset="0"/>
              </a:rPr>
              <a:t> can modify </a:t>
            </a:r>
            <a:r>
              <a:rPr lang="en-US" altLang="en-US" sz="1800" dirty="0" err="1">
                <a:latin typeface="Times New Roman" panose="02020603050405020304" pitchFamily="18" charset="0"/>
                <a:cs typeface="Times New Roman" panose="02020603050405020304" pitchFamily="18" charset="0"/>
              </a:rPr>
              <a:t>D</a:t>
            </a:r>
            <a:r>
              <a:rPr lang="en-US" altLang="en-US" sz="1800" baseline="-25000" dirty="0" err="1">
                <a:latin typeface="Times New Roman" panose="02020603050405020304" pitchFamily="18" charset="0"/>
                <a:cs typeface="Times New Roman" panose="02020603050405020304" pitchFamily="18" charset="0"/>
              </a:rPr>
              <a:t>j</a:t>
            </a:r>
            <a:r>
              <a:rPr lang="en-US" altLang="en-US" sz="1800" dirty="0">
                <a:latin typeface="Times New Roman" panose="02020603050405020304" pitchFamily="18" charset="0"/>
                <a:cs typeface="Times New Roman" panose="02020603050405020304" pitchFamily="18" charset="0"/>
              </a:rPr>
              <a:t> access rights</a:t>
            </a:r>
          </a:p>
          <a:p>
            <a:pPr lvl="2" algn="just">
              <a:lnSpc>
                <a:spcPct val="100000"/>
              </a:lnSpc>
              <a:spcBef>
                <a:spcPts val="700"/>
              </a:spcBef>
              <a:spcAft>
                <a:spcPts val="700"/>
              </a:spcAft>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transfer – switch from domain D</a:t>
            </a:r>
            <a:r>
              <a:rPr lang="en-US" altLang="en-US" sz="1800" baseline="-25000" dirty="0">
                <a:latin typeface="Times New Roman" panose="02020603050405020304" pitchFamily="18" charset="0"/>
                <a:cs typeface="Times New Roman" panose="02020603050405020304" pitchFamily="18" charset="0"/>
              </a:rPr>
              <a:t>i</a:t>
            </a:r>
            <a:r>
              <a:rPr lang="en-US" altLang="en-US" sz="1800" dirty="0">
                <a:latin typeface="Times New Roman" panose="02020603050405020304" pitchFamily="18" charset="0"/>
                <a:cs typeface="Times New Roman" panose="02020603050405020304" pitchFamily="18" charset="0"/>
              </a:rPr>
              <a:t> to </a:t>
            </a:r>
            <a:r>
              <a:rPr lang="en-US" altLang="en-US" sz="1800" dirty="0" err="1">
                <a:latin typeface="Times New Roman" panose="02020603050405020304" pitchFamily="18" charset="0"/>
                <a:cs typeface="Times New Roman" panose="02020603050405020304" pitchFamily="18" charset="0"/>
              </a:rPr>
              <a:t>D</a:t>
            </a:r>
            <a:r>
              <a:rPr lang="en-US" altLang="en-US" sz="1800" baseline="-25000" dirty="0" err="1">
                <a:latin typeface="Times New Roman" panose="02020603050405020304" pitchFamily="18" charset="0"/>
                <a:cs typeface="Times New Roman" panose="02020603050405020304" pitchFamily="18" charset="0"/>
              </a:rPr>
              <a:t>j</a:t>
            </a:r>
            <a:endParaRPr lang="en-US" altLang="en-US" sz="1800" baseline="-25000" dirty="0">
              <a:latin typeface="Times New Roman" panose="02020603050405020304" pitchFamily="18" charset="0"/>
              <a:cs typeface="Times New Roman" panose="02020603050405020304" pitchFamily="18" charset="0"/>
            </a:endParaRPr>
          </a:p>
          <a:p>
            <a:pPr lvl="1" algn="just">
              <a:lnSpc>
                <a:spcPct val="100000"/>
              </a:lnSpc>
              <a:spcBef>
                <a:spcPts val="700"/>
              </a:spcBef>
              <a:spcAft>
                <a:spcPts val="700"/>
              </a:spcAf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  Copy and Owner applicable to an object</a:t>
            </a:r>
          </a:p>
          <a:p>
            <a:pPr lvl="1" algn="just">
              <a:lnSpc>
                <a:spcPct val="100000"/>
              </a:lnSpc>
              <a:spcBef>
                <a:spcPts val="700"/>
              </a:spcBef>
              <a:spcAft>
                <a:spcPts val="700"/>
              </a:spcAf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  Control applicable to domain object</a:t>
            </a:r>
          </a:p>
        </p:txBody>
      </p:sp>
    </p:spTree>
    <p:extLst>
      <p:ext uri="{BB962C8B-B14F-4D97-AF65-F5344CB8AC3E}">
        <p14:creationId xmlns:p14="http://schemas.microsoft.com/office/powerpoint/2010/main" val="3807868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F8E2B2-F492-4363-88AB-DE4431BF95A1}"/>
              </a:ext>
            </a:extLst>
          </p:cNvPr>
          <p:cNvSpPr>
            <a:spLocks noGrp="1"/>
          </p:cNvSpPr>
          <p:nvPr>
            <p:ph idx="1"/>
          </p:nvPr>
        </p:nvSpPr>
        <p:spPr>
          <a:xfrm>
            <a:off x="453325" y="861391"/>
            <a:ext cx="8237348" cy="5315572"/>
          </a:xfrm>
        </p:spPr>
        <p:txBody>
          <a:bodyPr>
            <a:normAutofit/>
          </a:bodyPr>
          <a:lstStyle/>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a:t>
            </a:r>
            <a:r>
              <a:rPr lang="en-US" sz="1900" b="1" dirty="0">
                <a:effectLst/>
                <a:latin typeface="Times New Roman" panose="02020603050405020304" pitchFamily="18" charset="0"/>
                <a:cs typeface="Times New Roman" panose="02020603050405020304" pitchFamily="18" charset="0"/>
              </a:rPr>
              <a:t>ability to copy an access right </a:t>
            </a:r>
            <a:r>
              <a:rPr lang="en-US" sz="1900" dirty="0">
                <a:effectLst/>
                <a:latin typeface="Times New Roman" panose="02020603050405020304" pitchFamily="18" charset="0"/>
                <a:cs typeface="Times New Roman" panose="02020603050405020304" pitchFamily="18" charset="0"/>
              </a:rPr>
              <a:t>from one domain (or row) of the access matrix to another is denoted by an </a:t>
            </a:r>
            <a:r>
              <a:rPr lang="en-US" sz="1900" b="1" dirty="0">
                <a:effectLst/>
                <a:latin typeface="Times New Roman" panose="02020603050405020304" pitchFamily="18" charset="0"/>
                <a:cs typeface="Times New Roman" panose="02020603050405020304" pitchFamily="18" charset="0"/>
              </a:rPr>
              <a:t>asterisk (*) </a:t>
            </a:r>
            <a:r>
              <a:rPr lang="en-US" sz="1900" dirty="0">
                <a:effectLst/>
                <a:latin typeface="Times New Roman" panose="02020603050405020304" pitchFamily="18" charset="0"/>
                <a:cs typeface="Times New Roman" panose="02020603050405020304" pitchFamily="18" charset="0"/>
              </a:rPr>
              <a:t>appended to the access right.</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copy right allows the access right to be copied only within the column(that is, for the object) for which the right is defined. </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For example, in Figure14.5(a), a process executing in domain D2 can copy the read operation into any entry associated with file F2. Hence, the access matrix of Figure 14.5(a) can be modified to the access matrix shown in Figure 14.5(b).</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a:t>
            </a:r>
            <a:r>
              <a:rPr lang="en-US" sz="1900" b="1" dirty="0">
                <a:effectLst/>
                <a:latin typeface="Times New Roman" panose="02020603050405020304" pitchFamily="18" charset="0"/>
                <a:cs typeface="Times New Roman" panose="02020603050405020304" pitchFamily="18" charset="0"/>
              </a:rPr>
              <a:t>owner right controls a</a:t>
            </a:r>
            <a:r>
              <a:rPr lang="en-US" sz="1900" dirty="0">
                <a:effectLst/>
                <a:latin typeface="Times New Roman" panose="02020603050405020304" pitchFamily="18" charset="0"/>
                <a:cs typeface="Times New Roman" panose="02020603050405020304" pitchFamily="18" charset="0"/>
              </a:rPr>
              <a:t>ddition of new rights and removal of some rights. </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If access(i,j) includes the owner right, then a process executing in domain Di can add and remove any right in any entry in column j. </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For example, in Figure 14.6(a), domain D1 is the owner of F1and thus can add and delete any valid right in column F1.Similarly, domain D2is the owner of F2 and F3 and thus can add and remove any valid right within these two columns. </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D68C390-A2F6-4B93-86BA-102B30C5F487}"/>
              </a:ext>
            </a:extLst>
          </p:cNvPr>
          <p:cNvSpPr>
            <a:spLocks noGrp="1"/>
          </p:cNvSpPr>
          <p:nvPr>
            <p:ph type="title"/>
          </p:nvPr>
        </p:nvSpPr>
        <p:spPr>
          <a:xfrm>
            <a:off x="0" y="253514"/>
            <a:ext cx="7227896" cy="479910"/>
          </a:xfrm>
        </p:spPr>
        <p:txBody>
          <a:bodyPr>
            <a:normAutofit/>
          </a:bodyPr>
          <a:lstStyle/>
          <a:p>
            <a:r>
              <a:rPr lang="en-US" altLang="en-US" sz="2800" dirty="0">
                <a:latin typeface="Times New Roman" panose="02020603050405020304" pitchFamily="18" charset="0"/>
                <a:cs typeface="Times New Roman" panose="02020603050405020304" pitchFamily="18" charset="0"/>
              </a:rPr>
              <a:t>Access Matrix :</a:t>
            </a:r>
            <a:endParaRPr lang="en-IN" sz="2800" dirty="0"/>
          </a:p>
        </p:txBody>
      </p:sp>
    </p:spTree>
    <p:extLst>
      <p:ext uri="{BB962C8B-B14F-4D97-AF65-F5344CB8AC3E}">
        <p14:creationId xmlns:p14="http://schemas.microsoft.com/office/powerpoint/2010/main" val="1452328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B994540-56B7-4BC7-BF7B-0C17A0F77677}"/>
              </a:ext>
            </a:extLst>
          </p:cNvPr>
          <p:cNvPicPr>
            <a:picLocks noGrp="1" noChangeAspect="1"/>
          </p:cNvPicPr>
          <p:nvPr>
            <p:ph idx="1"/>
          </p:nvPr>
        </p:nvPicPr>
        <p:blipFill>
          <a:blip r:embed="rId2"/>
          <a:stretch>
            <a:fillRect/>
          </a:stretch>
        </p:blipFill>
        <p:spPr>
          <a:xfrm>
            <a:off x="516836" y="733424"/>
            <a:ext cx="3737114" cy="5871062"/>
          </a:xfrm>
        </p:spPr>
      </p:pic>
      <p:pic>
        <p:nvPicPr>
          <p:cNvPr id="8" name="Content Placeholder 7">
            <a:extLst>
              <a:ext uri="{FF2B5EF4-FFF2-40B4-BE49-F238E27FC236}">
                <a16:creationId xmlns:a16="http://schemas.microsoft.com/office/drawing/2014/main" id="{36CCA120-971C-453F-A778-7BB7C1318838}"/>
              </a:ext>
            </a:extLst>
          </p:cNvPr>
          <p:cNvPicPr>
            <a:picLocks noGrp="1" noChangeAspect="1"/>
          </p:cNvPicPr>
          <p:nvPr>
            <p:ph idx="13"/>
          </p:nvPr>
        </p:nvPicPr>
        <p:blipFill>
          <a:blip r:embed="rId3"/>
          <a:stretch>
            <a:fillRect/>
          </a:stretch>
        </p:blipFill>
        <p:spPr>
          <a:xfrm>
            <a:off x="5115338" y="733423"/>
            <a:ext cx="3737114" cy="5720385"/>
          </a:xfrm>
        </p:spPr>
      </p:pic>
      <p:sp>
        <p:nvSpPr>
          <p:cNvPr id="4" name="Title 3">
            <a:extLst>
              <a:ext uri="{FF2B5EF4-FFF2-40B4-BE49-F238E27FC236}">
                <a16:creationId xmlns:a16="http://schemas.microsoft.com/office/drawing/2014/main" id="{1FF47249-3E31-4B64-9C10-3379AE243ED4}"/>
              </a:ext>
            </a:extLst>
          </p:cNvPr>
          <p:cNvSpPr>
            <a:spLocks noGrp="1"/>
          </p:cNvSpPr>
          <p:nvPr>
            <p:ph type="title"/>
          </p:nvPr>
        </p:nvSpPr>
        <p:spPr>
          <a:xfrm>
            <a:off x="92765" y="253514"/>
            <a:ext cx="8759687" cy="479910"/>
          </a:xfrm>
        </p:spPr>
        <p:txBody>
          <a:bodyPr>
            <a:normAutofit/>
          </a:bodyPr>
          <a:lstStyle/>
          <a:p>
            <a:r>
              <a:rPr lang="en-US" altLang="en-US" sz="2000" dirty="0">
                <a:latin typeface="Times New Roman" panose="02020603050405020304" pitchFamily="18" charset="0"/>
                <a:cs typeface="Times New Roman" panose="02020603050405020304" pitchFamily="18" charset="0"/>
              </a:rPr>
              <a:t>Access Matrix with Copy Rights  and  Access Matrix With Owner Rights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7507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F88CA0-31D1-4A82-BAD4-9ECBB833A46C}"/>
              </a:ext>
            </a:extLst>
          </p:cNvPr>
          <p:cNvSpPr>
            <a:spLocks noGrp="1"/>
          </p:cNvSpPr>
          <p:nvPr>
            <p:ph type="title"/>
          </p:nvPr>
        </p:nvSpPr>
        <p:spPr>
          <a:xfrm>
            <a:off x="0" y="253514"/>
            <a:ext cx="7227896" cy="479910"/>
          </a:xfrm>
        </p:spPr>
        <p:txBody>
          <a:bodyPr>
            <a:normAutofit/>
          </a:bodyPr>
          <a:lstStyle/>
          <a:p>
            <a:r>
              <a:rPr lang="en-US" altLang="en-US" sz="2800" dirty="0">
                <a:latin typeface="Times New Roman" panose="02020603050405020304" pitchFamily="18" charset="0"/>
                <a:cs typeface="Times New Roman" panose="02020603050405020304" pitchFamily="18" charset="0"/>
              </a:rPr>
              <a:t> Access Matrix  :</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04C1CD4-F6AA-4EB1-9747-AAF5DA416CCC}"/>
              </a:ext>
            </a:extLst>
          </p:cNvPr>
          <p:cNvSpPr txBox="1"/>
          <p:nvPr/>
        </p:nvSpPr>
        <p:spPr>
          <a:xfrm>
            <a:off x="291548" y="874643"/>
            <a:ext cx="8494643" cy="4061433"/>
          </a:xfrm>
          <a:prstGeom prst="rect">
            <a:avLst/>
          </a:prstGeom>
          <a:noFill/>
        </p:spPr>
        <p:txBody>
          <a:bodyPr wrap="square">
            <a:spAutoFit/>
          </a:bodyPr>
          <a:lstStyle/>
          <a:p>
            <a:pPr algn="just">
              <a:lnSpc>
                <a:spcPct val="150000"/>
              </a:lnSpc>
              <a:spcBef>
                <a:spcPts val="500"/>
              </a:spcBef>
              <a:spcAft>
                <a:spcPts val="500"/>
              </a:spcAft>
            </a:pPr>
            <a:r>
              <a:rPr lang="en-US" sz="1900" b="1" dirty="0">
                <a:effectLst/>
                <a:latin typeface="Times New Roman" panose="02020603050405020304" pitchFamily="18" charset="0"/>
                <a:cs typeface="Times New Roman" panose="02020603050405020304" pitchFamily="18" charset="0"/>
              </a:rPr>
              <a:t>Mechanism for removing the access right in a Domain :</a:t>
            </a:r>
          </a:p>
          <a:p>
            <a:pPr marL="285750" indent="-285750" algn="just">
              <a:lnSpc>
                <a:spcPct val="150000"/>
              </a:lnSpc>
              <a:spcBef>
                <a:spcPts val="500"/>
              </a:spcBef>
              <a:spcAft>
                <a:spcPts val="500"/>
              </a:spcAft>
              <a:buFont typeface="Wingdings" panose="05000000000000000000" pitchFamily="2" charset="2"/>
              <a:buChar char="§"/>
            </a:pPr>
            <a:r>
              <a:rPr lang="en-US" sz="1900" dirty="0">
                <a:effectLst/>
                <a:latin typeface="Times New Roman" panose="02020603050405020304" pitchFamily="18" charset="0"/>
                <a:cs typeface="Times New Roman" panose="02020603050405020304" pitchFamily="18" charset="0"/>
              </a:rPr>
              <a:t>The copy and owner rights allow a process to change the entries in a column.</a:t>
            </a:r>
          </a:p>
          <a:p>
            <a:pPr marL="285750" indent="-285750" algn="just">
              <a:lnSpc>
                <a:spcPct val="150000"/>
              </a:lnSpc>
              <a:spcBef>
                <a:spcPts val="500"/>
              </a:spcBef>
              <a:spcAft>
                <a:spcPts val="500"/>
              </a:spcAft>
              <a:buFont typeface="Wingdings" panose="05000000000000000000" pitchFamily="2" charset="2"/>
              <a:buChar char="§"/>
            </a:pPr>
            <a:r>
              <a:rPr lang="en-US" sz="1900" dirty="0">
                <a:effectLst/>
                <a:latin typeface="Times New Roman" panose="02020603050405020304" pitchFamily="18" charset="0"/>
                <a:cs typeface="Times New Roman" panose="02020603050405020304" pitchFamily="18" charset="0"/>
              </a:rPr>
              <a:t> A mechanism is also needed to change the entries in a row. The control right is applicable only to domain objects.</a:t>
            </a:r>
          </a:p>
          <a:p>
            <a:pPr marL="285750" indent="-285750" algn="just">
              <a:lnSpc>
                <a:spcPct val="150000"/>
              </a:lnSpc>
              <a:spcBef>
                <a:spcPts val="500"/>
              </a:spcBef>
              <a:spcAft>
                <a:spcPts val="500"/>
              </a:spcAft>
              <a:buFont typeface="Wingdings" panose="05000000000000000000" pitchFamily="2" charset="2"/>
              <a:buChar char="§"/>
            </a:pPr>
            <a:r>
              <a:rPr lang="en-US" sz="1900" dirty="0">
                <a:effectLst/>
                <a:latin typeface="Times New Roman" panose="02020603050405020304" pitchFamily="18" charset="0"/>
                <a:cs typeface="Times New Roman" panose="02020603050405020304" pitchFamily="18" charset="0"/>
              </a:rPr>
              <a:t> If access(i,j) includes the control right, then a process executing in domain Di can remove any access right from row j. </a:t>
            </a:r>
          </a:p>
          <a:p>
            <a:pPr marL="285750" indent="-285750" algn="just">
              <a:lnSpc>
                <a:spcPct val="150000"/>
              </a:lnSpc>
              <a:spcBef>
                <a:spcPts val="500"/>
              </a:spcBef>
              <a:spcAft>
                <a:spcPts val="500"/>
              </a:spcAft>
              <a:buFont typeface="Wingdings" panose="05000000000000000000" pitchFamily="2" charset="2"/>
              <a:buChar char="§"/>
            </a:pPr>
            <a:r>
              <a:rPr lang="en-US" sz="1900" dirty="0">
                <a:effectLst/>
                <a:latin typeface="Times New Roman" panose="02020603050405020304" pitchFamily="18" charset="0"/>
                <a:cs typeface="Times New Roman" panose="02020603050405020304" pitchFamily="18" charset="0"/>
              </a:rPr>
              <a:t>The control right in access(D2,D4). Then, a process executing in domain D2 could modify domain D4.</a:t>
            </a:r>
            <a:endParaRPr lang="en-IN" sz="1900" dirty="0">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DA8835E0-BDBE-4C65-80BD-0A0D3B752CC3}"/>
              </a:ext>
            </a:extLst>
          </p:cNvPr>
          <p:cNvSpPr>
            <a:spLocks noGrp="1"/>
          </p:cNvSpPr>
          <p:nvPr>
            <p:ph idx="1"/>
          </p:nvPr>
        </p:nvSpPr>
        <p:spPr>
          <a:xfrm>
            <a:off x="453325" y="1311965"/>
            <a:ext cx="8237348" cy="4864998"/>
          </a:xfrm>
        </p:spPr>
        <p:txBody>
          <a:bodyPr/>
          <a:lstStyle/>
          <a:p>
            <a:endParaRPr lang="en-US" dirty="0"/>
          </a:p>
          <a:p>
            <a:endParaRPr lang="en-IN" dirty="0"/>
          </a:p>
        </p:txBody>
      </p:sp>
    </p:spTree>
    <p:extLst>
      <p:ext uri="{BB962C8B-B14F-4D97-AF65-F5344CB8AC3E}">
        <p14:creationId xmlns:p14="http://schemas.microsoft.com/office/powerpoint/2010/main" val="2960311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E1B8C5-4106-4F5E-9752-3441AA37F2E2}"/>
              </a:ext>
            </a:extLst>
          </p:cNvPr>
          <p:cNvSpPr>
            <a:spLocks noGrp="1"/>
          </p:cNvSpPr>
          <p:nvPr>
            <p:ph type="title"/>
          </p:nvPr>
        </p:nvSpPr>
        <p:spPr>
          <a:xfrm>
            <a:off x="0" y="253514"/>
            <a:ext cx="7227896" cy="479910"/>
          </a:xfrm>
        </p:spPr>
        <p:txBody>
          <a:bodyPr/>
          <a:lstStyle/>
          <a:p>
            <a:r>
              <a:rPr lang="en-US" altLang="en-US" sz="2400" dirty="0">
                <a:latin typeface="Times New Roman" panose="02020603050405020304" pitchFamily="18" charset="0"/>
                <a:cs typeface="Times New Roman" panose="02020603050405020304" pitchFamily="18" charset="0"/>
              </a:rPr>
              <a:t>Modified Access Matrix of Figure B :</a:t>
            </a:r>
            <a:endParaRPr lang="en-IN" dirty="0"/>
          </a:p>
        </p:txBody>
      </p:sp>
      <p:pic>
        <p:nvPicPr>
          <p:cNvPr id="9" name="Content Placeholder 8">
            <a:extLst>
              <a:ext uri="{FF2B5EF4-FFF2-40B4-BE49-F238E27FC236}">
                <a16:creationId xmlns:a16="http://schemas.microsoft.com/office/drawing/2014/main" id="{B6E20454-F7BC-4BE0-BC29-D8EE687A3000}"/>
              </a:ext>
            </a:extLst>
          </p:cNvPr>
          <p:cNvPicPr>
            <a:picLocks noGrp="1" noChangeAspect="1"/>
          </p:cNvPicPr>
          <p:nvPr>
            <p:ph idx="1"/>
          </p:nvPr>
        </p:nvPicPr>
        <p:blipFill>
          <a:blip r:embed="rId2"/>
          <a:stretch>
            <a:fillRect/>
          </a:stretch>
        </p:blipFill>
        <p:spPr>
          <a:xfrm>
            <a:off x="628649" y="3745811"/>
            <a:ext cx="7889046" cy="2858675"/>
          </a:xfrm>
        </p:spPr>
      </p:pic>
      <p:pic>
        <p:nvPicPr>
          <p:cNvPr id="11" name="Picture 10">
            <a:extLst>
              <a:ext uri="{FF2B5EF4-FFF2-40B4-BE49-F238E27FC236}">
                <a16:creationId xmlns:a16="http://schemas.microsoft.com/office/drawing/2014/main" id="{5E2EB517-E316-4255-869E-2B986ECE5BCC}"/>
              </a:ext>
            </a:extLst>
          </p:cNvPr>
          <p:cNvPicPr>
            <a:picLocks noChangeAspect="1"/>
          </p:cNvPicPr>
          <p:nvPr/>
        </p:nvPicPr>
        <p:blipFill>
          <a:blip r:embed="rId3"/>
          <a:stretch>
            <a:fillRect/>
          </a:stretch>
        </p:blipFill>
        <p:spPr>
          <a:xfrm>
            <a:off x="628649" y="834887"/>
            <a:ext cx="7889046" cy="2709655"/>
          </a:xfrm>
          <a:prstGeom prst="rect">
            <a:avLst/>
          </a:prstGeom>
        </p:spPr>
      </p:pic>
    </p:spTree>
    <p:extLst>
      <p:ext uri="{BB962C8B-B14F-4D97-AF65-F5344CB8AC3E}">
        <p14:creationId xmlns:p14="http://schemas.microsoft.com/office/powerpoint/2010/main" val="1091223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0B2FFE-2C9C-4402-BE52-67AAA3579B17}"/>
              </a:ext>
            </a:extLst>
          </p:cNvPr>
          <p:cNvSpPr>
            <a:spLocks noGrp="1"/>
          </p:cNvSpPr>
          <p:nvPr>
            <p:ph idx="1"/>
          </p:nvPr>
        </p:nvSpPr>
        <p:spPr>
          <a:xfrm>
            <a:off x="453325" y="848139"/>
            <a:ext cx="8237348" cy="5328824"/>
          </a:xfrm>
        </p:spPr>
        <p:txBody>
          <a:bodyPr/>
          <a:lstStyle/>
          <a:p>
            <a:pPr marL="285750" indent="-285750" algn="just">
              <a:lnSpc>
                <a:spcPct val="100000"/>
              </a:lnSpc>
              <a:spcBef>
                <a:spcPts val="700"/>
              </a:spcBef>
              <a:spcAft>
                <a:spcPts val="7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Access matrix  will be generally a sparse matrix. Most</a:t>
            </a:r>
            <a:r>
              <a:rPr lang="en-US" sz="1900" dirty="0">
                <a:effectLst/>
                <a:latin typeface="Times New Roman" panose="02020603050405020304" pitchFamily="18" charset="0"/>
                <a:cs typeface="Times New Roman" panose="02020603050405020304" pitchFamily="18" charset="0"/>
              </a:rPr>
              <a:t> of the entries in sparse matrix will be empty. Although data-structure techniques are available for representing sparse matrices, they are not particularly useful for Access matrix, because of the way in which the protection facility is used.</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There are several methods of implementing the access matrix are </a:t>
            </a:r>
          </a:p>
          <a:p>
            <a:pPr algn="just">
              <a:lnSpc>
                <a:spcPct val="100000"/>
              </a:lnSpc>
              <a:spcBef>
                <a:spcPts val="700"/>
              </a:spcBef>
              <a:spcAft>
                <a:spcPts val="700"/>
              </a:spcAft>
              <a:buNone/>
            </a:pPr>
            <a:r>
              <a:rPr lang="en-US" altLang="en-US" sz="1900" dirty="0">
                <a:latin typeface="Times New Roman" panose="02020603050405020304" pitchFamily="18" charset="0"/>
                <a:cs typeface="Times New Roman" panose="02020603050405020304" pitchFamily="18" charset="0"/>
              </a:rPr>
              <a:t>1. Global table</a:t>
            </a:r>
          </a:p>
          <a:p>
            <a:pPr algn="just">
              <a:lnSpc>
                <a:spcPct val="100000"/>
              </a:lnSpc>
              <a:spcBef>
                <a:spcPts val="700"/>
              </a:spcBef>
              <a:spcAft>
                <a:spcPts val="700"/>
              </a:spcAft>
              <a:buNone/>
            </a:pPr>
            <a:r>
              <a:rPr lang="en-US" altLang="en-US" sz="1900" dirty="0">
                <a:latin typeface="Times New Roman" panose="02020603050405020304" pitchFamily="18" charset="0"/>
                <a:cs typeface="Times New Roman" panose="02020603050405020304" pitchFamily="18" charset="0"/>
              </a:rPr>
              <a:t>2. Access lists for objects</a:t>
            </a:r>
          </a:p>
          <a:p>
            <a:pPr algn="just">
              <a:lnSpc>
                <a:spcPct val="100000"/>
              </a:lnSpc>
              <a:spcBef>
                <a:spcPts val="700"/>
              </a:spcBef>
              <a:spcAft>
                <a:spcPts val="700"/>
              </a:spcAft>
              <a:buNone/>
            </a:pPr>
            <a:r>
              <a:rPr lang="en-IN" sz="1900" dirty="0">
                <a:effectLst/>
                <a:latin typeface="Times New Roman" panose="02020603050405020304" pitchFamily="18" charset="0"/>
                <a:cs typeface="Times New Roman" panose="02020603050405020304" pitchFamily="18" charset="0"/>
              </a:rPr>
              <a:t>3. Capability Lists for Domains</a:t>
            </a:r>
            <a:endParaRPr lang="en-US" sz="1900" dirty="0">
              <a:effectLst/>
              <a:latin typeface="Times New Roman" panose="02020603050405020304" pitchFamily="18" charset="0"/>
              <a:cs typeface="Times New Roman" panose="02020603050405020304" pitchFamily="18" charset="0"/>
            </a:endParaRPr>
          </a:p>
          <a:p>
            <a:pPr algn="just">
              <a:lnSpc>
                <a:spcPct val="100000"/>
              </a:lnSpc>
              <a:spcBef>
                <a:spcPts val="700"/>
              </a:spcBef>
              <a:spcAft>
                <a:spcPts val="700"/>
              </a:spcAft>
              <a:buNone/>
            </a:pPr>
            <a:r>
              <a:rPr lang="en-IN" sz="1900" dirty="0">
                <a:effectLst/>
                <a:latin typeface="Times New Roman" panose="02020603050405020304" pitchFamily="18" charset="0"/>
                <a:cs typeface="Times New Roman" panose="02020603050405020304" pitchFamily="18" charset="0"/>
              </a:rPr>
              <a:t>4. A Lock–Key Mechanism</a:t>
            </a:r>
          </a:p>
          <a:p>
            <a:pPr algn="just">
              <a:lnSpc>
                <a:spcPct val="100000"/>
              </a:lnSpc>
              <a:spcBef>
                <a:spcPts val="700"/>
              </a:spcBef>
              <a:spcAft>
                <a:spcPts val="700"/>
              </a:spcAft>
              <a:buNone/>
            </a:pP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875E5DE-82A8-45A8-80C8-A34505AD93FA}"/>
              </a:ext>
            </a:extLst>
          </p:cNvPr>
          <p:cNvSpPr>
            <a:spLocks noGrp="1"/>
          </p:cNvSpPr>
          <p:nvPr>
            <p:ph type="title"/>
          </p:nvPr>
        </p:nvSpPr>
        <p:spPr>
          <a:xfrm>
            <a:off x="0" y="253514"/>
            <a:ext cx="7227896" cy="479910"/>
          </a:xfrm>
        </p:spPr>
        <p:txBody>
          <a:bodyPr>
            <a:normAutofit/>
          </a:bodyPr>
          <a:lstStyle/>
          <a:p>
            <a:r>
              <a:rPr lang="en-US" sz="2800" dirty="0">
                <a:effectLst/>
                <a:latin typeface="Times New Roman" panose="02020603050405020304" pitchFamily="18" charset="0"/>
                <a:cs typeface="Times New Roman" panose="02020603050405020304" pitchFamily="18" charset="0"/>
              </a:rPr>
              <a:t>Implementation of the Access Matrix :</a:t>
            </a:r>
            <a:endParaRPr lang="en-IN" sz="2800" dirty="0">
              <a:latin typeface="Times New Roman" panose="02020603050405020304" pitchFamily="18" charset="0"/>
              <a:cs typeface="Times New Roman" panose="02020603050405020304" pitchFamily="18" charset="0"/>
            </a:endParaRPr>
          </a:p>
        </p:txBody>
      </p:sp>
      <p:pic>
        <p:nvPicPr>
          <p:cNvPr id="4" name="Picture 12">
            <a:extLst>
              <a:ext uri="{FF2B5EF4-FFF2-40B4-BE49-F238E27FC236}">
                <a16:creationId xmlns:a16="http://schemas.microsoft.com/office/drawing/2014/main" id="{3B01F938-C507-4D7D-87A8-4D7D146F78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3002" y="2837278"/>
            <a:ext cx="4087813"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0718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C04C9D-384D-477D-B5EF-180FEF22035F}"/>
              </a:ext>
            </a:extLst>
          </p:cNvPr>
          <p:cNvSpPr>
            <a:spLocks noGrp="1"/>
          </p:cNvSpPr>
          <p:nvPr>
            <p:ph idx="1"/>
          </p:nvPr>
        </p:nvSpPr>
        <p:spPr>
          <a:xfrm>
            <a:off x="453325" y="901148"/>
            <a:ext cx="8237348" cy="5275815"/>
          </a:xfrm>
        </p:spPr>
        <p:txBody>
          <a:bodyPr>
            <a:normAutofit lnSpcReduction="10000"/>
          </a:bodyPr>
          <a:lstStyle/>
          <a:p>
            <a:pPr algn="just">
              <a:lnSpc>
                <a:spcPct val="110000"/>
              </a:lnSpc>
              <a:spcBef>
                <a:spcPts val="700"/>
              </a:spcBef>
              <a:spcAft>
                <a:spcPts val="700"/>
              </a:spcAft>
              <a:buNone/>
              <a:tabLst>
                <a:tab pos="2736850" algn="l"/>
              </a:tabLst>
            </a:pPr>
            <a:r>
              <a:rPr lang="en-US" altLang="en-US" b="1" dirty="0"/>
              <a:t>1. </a:t>
            </a:r>
            <a:r>
              <a:rPr lang="en-US" altLang="en-US" sz="1900" b="1" u="sng" dirty="0">
                <a:latin typeface="Times New Roman" panose="02020603050405020304" pitchFamily="18" charset="0"/>
                <a:cs typeface="Times New Roman" panose="02020603050405020304" pitchFamily="18" charset="0"/>
              </a:rPr>
              <a:t>Global table:</a:t>
            </a:r>
          </a:p>
          <a:p>
            <a:pPr marL="285750" indent="-28575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simplest implementation of the access matrix is a global table consisting of a set of ordered triples&lt;domain, object, rights-set&gt;. </a:t>
            </a:r>
          </a:p>
          <a:p>
            <a:pPr marL="285750" indent="-28575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Whenever an operation M is executed on an object Oj within domain Di, the global table is searched for a triple&lt; Di , Oj , Rk &gt;,with M ∈ Rk.</a:t>
            </a:r>
          </a:p>
          <a:p>
            <a:pPr marL="285750" indent="-28575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 If this triple is found, the operation is allowed to continue; otherwise, an exception (or error) condition is raised.</a:t>
            </a:r>
          </a:p>
          <a:p>
            <a:pPr algn="just">
              <a:lnSpc>
                <a:spcPct val="110000"/>
              </a:lnSpc>
              <a:spcBef>
                <a:spcPts val="700"/>
              </a:spcBef>
              <a:spcAft>
                <a:spcPts val="700"/>
              </a:spcAft>
              <a:buNone/>
            </a:pPr>
            <a:r>
              <a:rPr lang="en-US" sz="1900" b="1" u="sng" dirty="0">
                <a:effectLst/>
                <a:latin typeface="Times New Roman" panose="02020603050405020304" pitchFamily="18" charset="0"/>
                <a:cs typeface="Times New Roman" panose="02020603050405020304" pitchFamily="18" charset="0"/>
              </a:rPr>
              <a:t>Drawbacks</a:t>
            </a:r>
            <a:r>
              <a:rPr lang="en-US" sz="1900" b="1" u="sng" dirty="0">
                <a:latin typeface="Times New Roman" panose="02020603050405020304" pitchFamily="18" charset="0"/>
                <a:cs typeface="Times New Roman" panose="02020603050405020304" pitchFamily="18" charset="0"/>
              </a:rPr>
              <a:t>:</a:t>
            </a:r>
            <a:r>
              <a:rPr lang="en-US" sz="1900" b="1" u="sng" dirty="0">
                <a:effectLst/>
                <a:latin typeface="Times New Roman" panose="02020603050405020304" pitchFamily="18" charset="0"/>
                <a:cs typeface="Times New Roman" panose="02020603050405020304" pitchFamily="18" charset="0"/>
              </a:rPr>
              <a:t> </a:t>
            </a:r>
          </a:p>
          <a:p>
            <a:pPr algn="just">
              <a:lnSpc>
                <a:spcPct val="110000"/>
              </a:lnSpc>
              <a:spcBef>
                <a:spcPts val="700"/>
              </a:spcBef>
              <a:spcAft>
                <a:spcPts val="700"/>
              </a:spcAft>
              <a:buNone/>
            </a:pPr>
            <a:r>
              <a:rPr lang="en-US" sz="1900" dirty="0">
                <a:effectLst/>
                <a:latin typeface="Times New Roman" panose="02020603050405020304" pitchFamily="18" charset="0"/>
                <a:cs typeface="Times New Roman" panose="02020603050405020304" pitchFamily="18" charset="0"/>
              </a:rPr>
              <a:t>1.  The table is usually large and thus cannot be kept in main memory, so additional I/O is needed. Virtual memory techniques are often used for managing this table. </a:t>
            </a:r>
          </a:p>
          <a:p>
            <a:pPr algn="just">
              <a:lnSpc>
                <a:spcPct val="110000"/>
              </a:lnSpc>
              <a:spcBef>
                <a:spcPts val="700"/>
              </a:spcBef>
              <a:spcAft>
                <a:spcPts val="700"/>
              </a:spcAft>
              <a:buNone/>
            </a:pPr>
            <a:r>
              <a:rPr lang="en-US" sz="1900" dirty="0">
                <a:effectLst/>
                <a:latin typeface="Times New Roman" panose="02020603050405020304" pitchFamily="18" charset="0"/>
                <a:cs typeface="Times New Roman" panose="02020603050405020304" pitchFamily="18" charset="0"/>
              </a:rPr>
              <a:t>2.  In addition, it is difficult to take advantage of special groupings of objects or domains. For example, if everyone can read a particular object, this object must have a separate entry in every domain.</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1DBD97C6-79B2-4626-A32E-B6F076889E1C}"/>
              </a:ext>
            </a:extLst>
          </p:cNvPr>
          <p:cNvSpPr>
            <a:spLocks noGrp="1"/>
          </p:cNvSpPr>
          <p:nvPr>
            <p:ph type="title"/>
          </p:nvPr>
        </p:nvSpPr>
        <p:spPr>
          <a:xfrm>
            <a:off x="159026" y="253514"/>
            <a:ext cx="7068870" cy="479910"/>
          </a:xfrm>
        </p:spPr>
        <p:txBody>
          <a:bodyPr/>
          <a:lstStyle/>
          <a:p>
            <a:r>
              <a:rPr lang="en-US" sz="2400" dirty="0">
                <a:effectLst/>
                <a:latin typeface="Times New Roman" panose="02020603050405020304" pitchFamily="18" charset="0"/>
                <a:cs typeface="Times New Roman" panose="02020603050405020304" pitchFamily="18" charset="0"/>
              </a:rPr>
              <a:t>Implementation of the Access Matrix :</a:t>
            </a:r>
            <a:endParaRPr lang="en-IN" dirty="0"/>
          </a:p>
        </p:txBody>
      </p:sp>
    </p:spTree>
    <p:extLst>
      <p:ext uri="{BB962C8B-B14F-4D97-AF65-F5344CB8AC3E}">
        <p14:creationId xmlns:p14="http://schemas.microsoft.com/office/powerpoint/2010/main" val="2776129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E7BCB5-920A-459B-9F81-5CDAB251A39C}"/>
              </a:ext>
            </a:extLst>
          </p:cNvPr>
          <p:cNvSpPr>
            <a:spLocks noGrp="1"/>
          </p:cNvSpPr>
          <p:nvPr>
            <p:ph idx="1"/>
          </p:nvPr>
        </p:nvSpPr>
        <p:spPr>
          <a:xfrm>
            <a:off x="453325" y="733424"/>
            <a:ext cx="8237348" cy="5443539"/>
          </a:xfrm>
        </p:spPr>
        <p:txBody>
          <a:bodyPr>
            <a:noAutofit/>
          </a:bodyPr>
          <a:lstStyle/>
          <a:p>
            <a:pPr algn="just">
              <a:spcBef>
                <a:spcPts val="500"/>
              </a:spcBef>
              <a:spcAft>
                <a:spcPts val="500"/>
              </a:spcAft>
            </a:pPr>
            <a:r>
              <a:rPr lang="en-US" b="1" u="sng" dirty="0">
                <a:effectLst/>
                <a:latin typeface="Times New Roman" panose="02020603050405020304" pitchFamily="18" charset="0"/>
                <a:cs typeface="Times New Roman" panose="02020603050405020304" pitchFamily="18" charset="0"/>
              </a:rPr>
              <a:t>2.  Access Lists for Objects :</a:t>
            </a:r>
          </a:p>
          <a:p>
            <a:pPr marL="285750" indent="-285750" algn="just">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Each column in the access matrix can be </a:t>
            </a:r>
            <a:r>
              <a:rPr lang="en-US" b="1" dirty="0">
                <a:effectLst/>
                <a:latin typeface="Times New Roman" panose="02020603050405020304" pitchFamily="18" charset="0"/>
                <a:cs typeface="Times New Roman" panose="02020603050405020304" pitchFamily="18" charset="0"/>
              </a:rPr>
              <a:t>implemented as an access list for one object</a:t>
            </a:r>
          </a:p>
          <a:p>
            <a:pPr>
              <a:spcBef>
                <a:spcPts val="500"/>
              </a:spcBef>
              <a:spcAft>
                <a:spcPts val="500"/>
              </a:spcAft>
              <a:buNone/>
            </a:pPr>
            <a:r>
              <a:rPr lang="en-US" altLang="en-US" dirty="0">
                <a:latin typeface="Times New Roman" panose="02020603050405020304" pitchFamily="18" charset="0"/>
                <a:cs typeface="Times New Roman" panose="02020603050405020304" pitchFamily="18" charset="0"/>
              </a:rPr>
              <a:t>             Domain 1 = Read, Write</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Domain 2 = Read</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Domain 3 = Read</a:t>
            </a:r>
          </a:p>
          <a:p>
            <a:pPr marL="342900" indent="-342900">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The resulting list for each object consists of ordered pairs &lt;domain, rights-set&gt;, which define all domains with a nonempty set of access rights for that object.</a:t>
            </a:r>
          </a:p>
          <a:p>
            <a:pPr marL="285750" indent="-285750" algn="just">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This approach can be extended easily to define a list plus a </a:t>
            </a:r>
            <a:r>
              <a:rPr lang="en-US" b="1" dirty="0">
                <a:effectLst/>
                <a:latin typeface="Times New Roman" panose="02020603050405020304" pitchFamily="18" charset="0"/>
                <a:cs typeface="Times New Roman" panose="02020603050405020304" pitchFamily="18" charset="0"/>
              </a:rPr>
              <a:t>default set of access rights for every object</a:t>
            </a:r>
            <a:r>
              <a:rPr lang="en-US" dirty="0">
                <a:effectLst/>
                <a:latin typeface="Times New Roman" panose="02020603050405020304" pitchFamily="18" charset="0"/>
                <a:cs typeface="Times New Roman" panose="02020603050405020304" pitchFamily="18" charset="0"/>
              </a:rPr>
              <a:t>. </a:t>
            </a:r>
          </a:p>
          <a:p>
            <a:pPr marL="285750" indent="-285750" algn="just">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When an operation M on an object Oj is attempted in domain Di, we search the access list for object Oj, looking for an entry &lt;Di , Rk&gt; with M ∈ Rk.</a:t>
            </a:r>
          </a:p>
          <a:p>
            <a:pPr marL="285750" indent="-285750" algn="just">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 If the entry is found, we allow the operation; if it is not, we check the default set. </a:t>
            </a:r>
          </a:p>
        </p:txBody>
      </p:sp>
      <p:sp>
        <p:nvSpPr>
          <p:cNvPr id="3" name="Title 2">
            <a:extLst>
              <a:ext uri="{FF2B5EF4-FFF2-40B4-BE49-F238E27FC236}">
                <a16:creationId xmlns:a16="http://schemas.microsoft.com/office/drawing/2014/main" id="{A8CBEF8A-5088-46A6-B428-C0E0CF967E68}"/>
              </a:ext>
            </a:extLst>
          </p:cNvPr>
          <p:cNvSpPr>
            <a:spLocks noGrp="1"/>
          </p:cNvSpPr>
          <p:nvPr>
            <p:ph type="title"/>
          </p:nvPr>
        </p:nvSpPr>
        <p:spPr>
          <a:xfrm>
            <a:off x="159026" y="253514"/>
            <a:ext cx="7068870" cy="479910"/>
          </a:xfrm>
        </p:spPr>
        <p:txBody>
          <a:bodyPr>
            <a:normAutofit/>
          </a:bodyPr>
          <a:lstStyle/>
          <a:p>
            <a:r>
              <a:rPr lang="en-US" sz="2800" dirty="0">
                <a:effectLst/>
                <a:latin typeface="Times New Roman" panose="02020603050405020304" pitchFamily="18" charset="0"/>
                <a:cs typeface="Times New Roman" panose="02020603050405020304" pitchFamily="18" charset="0"/>
              </a:rPr>
              <a:t>Implementation of the Access Matrix :</a:t>
            </a:r>
            <a:endParaRPr lang="en-IN" sz="2800" dirty="0"/>
          </a:p>
        </p:txBody>
      </p:sp>
    </p:spTree>
    <p:extLst>
      <p:ext uri="{BB962C8B-B14F-4D97-AF65-F5344CB8AC3E}">
        <p14:creationId xmlns:p14="http://schemas.microsoft.com/office/powerpoint/2010/main" val="24806914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E6927E-B89F-4B2B-AB50-1D69CB7136CB}"/>
              </a:ext>
            </a:extLst>
          </p:cNvPr>
          <p:cNvSpPr>
            <a:spLocks noGrp="1"/>
          </p:cNvSpPr>
          <p:nvPr>
            <p:ph idx="1"/>
          </p:nvPr>
        </p:nvSpPr>
        <p:spPr>
          <a:xfrm>
            <a:off x="371061" y="901846"/>
            <a:ext cx="8401878" cy="5472450"/>
          </a:xfrm>
        </p:spPr>
        <p:txBody>
          <a:bodyPr>
            <a:normAutofit/>
          </a:bodyPr>
          <a:lstStyle/>
          <a:p>
            <a:pPr marL="285750" indent="-285750" algn="just">
              <a:spcBef>
                <a:spcPts val="500"/>
              </a:spcBef>
              <a:spcAft>
                <a:spcPts val="5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If M is in the default set, we allow the access. Otherwise, access is denied, and an exception condition occurs. </a:t>
            </a:r>
          </a:p>
          <a:p>
            <a:pPr marL="285750" indent="-285750" algn="just">
              <a:spcBef>
                <a:spcPts val="500"/>
              </a:spcBef>
              <a:spcAft>
                <a:spcPts val="5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For efficiency, we may check the default set first and then search the access list.</a:t>
            </a:r>
            <a:endParaRPr lang="en-IN" sz="1900" dirty="0">
              <a:latin typeface="Times New Roman" panose="02020603050405020304" pitchFamily="18" charset="0"/>
              <a:cs typeface="Times New Roman" panose="02020603050405020304" pitchFamily="18" charset="0"/>
            </a:endParaRPr>
          </a:p>
          <a:p>
            <a:pPr algn="just">
              <a:lnSpc>
                <a:spcPct val="100000"/>
              </a:lnSpc>
              <a:spcBef>
                <a:spcPts val="700"/>
              </a:spcBef>
              <a:spcAft>
                <a:spcPts val="700"/>
              </a:spcAft>
            </a:pPr>
            <a:r>
              <a:rPr lang="en-IN" sz="1900" b="1" u="sng" dirty="0">
                <a:effectLst/>
                <a:latin typeface="Times New Roman" panose="02020603050405020304" pitchFamily="18" charset="0"/>
                <a:cs typeface="Times New Roman" panose="02020603050405020304" pitchFamily="18" charset="0"/>
              </a:rPr>
              <a:t>3. Capability Lists for Domains :</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A capability list for a domain is a list of objects together with the operations allowed on those objects. </a:t>
            </a:r>
          </a:p>
          <a:p>
            <a:pPr lvl="3">
              <a:lnSpc>
                <a:spcPct val="90000"/>
              </a:lnSpc>
              <a:buFontTx/>
              <a:buNone/>
              <a:tabLst>
                <a:tab pos="2736850" algn="l"/>
              </a:tabLst>
            </a:pPr>
            <a:r>
              <a:rPr lang="en-US" altLang="en-US" sz="1900" dirty="0">
                <a:latin typeface="Times New Roman" panose="02020603050405020304" pitchFamily="18" charset="0"/>
                <a:cs typeface="Times New Roman" panose="02020603050405020304" pitchFamily="18" charset="0"/>
              </a:rPr>
              <a:t>Object F1 – Read</a:t>
            </a:r>
          </a:p>
          <a:p>
            <a:pPr lvl="3">
              <a:lnSpc>
                <a:spcPct val="90000"/>
              </a:lnSpc>
              <a:buFontTx/>
              <a:buNone/>
              <a:tabLst>
                <a:tab pos="2736850" algn="l"/>
              </a:tabLst>
            </a:pPr>
            <a:r>
              <a:rPr lang="en-US" altLang="en-US" sz="1900" dirty="0">
                <a:latin typeface="Times New Roman" panose="02020603050405020304" pitchFamily="18" charset="0"/>
                <a:cs typeface="Times New Roman" panose="02020603050405020304" pitchFamily="18" charset="0"/>
              </a:rPr>
              <a:t>Object F4 – Read, Write, Execute</a:t>
            </a:r>
          </a:p>
          <a:p>
            <a:pPr lvl="3">
              <a:lnSpc>
                <a:spcPct val="90000"/>
              </a:lnSpc>
              <a:buFontTx/>
              <a:buNone/>
              <a:tabLst>
                <a:tab pos="2736850" algn="l"/>
              </a:tabLst>
            </a:pPr>
            <a:r>
              <a:rPr lang="en-US" altLang="en-US" sz="1900" dirty="0">
                <a:latin typeface="Times New Roman" panose="02020603050405020304" pitchFamily="18" charset="0"/>
                <a:cs typeface="Times New Roman" panose="02020603050405020304" pitchFamily="18" charset="0"/>
              </a:rPr>
              <a:t>Object F5 – Read, Write, Delete, Copy</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An object is often represented by its physical name or Unique address, in a particular domain called a capability.</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To execute operation M on object Oj, the process executes the operation M, specifying the capability (or pointer) for object Oj as a parameter. Simple possession of the capability means that access is allowed.</a:t>
            </a:r>
          </a:p>
        </p:txBody>
      </p:sp>
      <p:sp>
        <p:nvSpPr>
          <p:cNvPr id="3" name="Title 2">
            <a:extLst>
              <a:ext uri="{FF2B5EF4-FFF2-40B4-BE49-F238E27FC236}">
                <a16:creationId xmlns:a16="http://schemas.microsoft.com/office/drawing/2014/main" id="{3BB2FBEC-55ED-492A-BDB0-0F1554B5DD53}"/>
              </a:ext>
            </a:extLst>
          </p:cNvPr>
          <p:cNvSpPr>
            <a:spLocks noGrp="1"/>
          </p:cNvSpPr>
          <p:nvPr>
            <p:ph type="title"/>
          </p:nvPr>
        </p:nvSpPr>
        <p:spPr>
          <a:xfrm>
            <a:off x="172278" y="253514"/>
            <a:ext cx="7055618" cy="479910"/>
          </a:xfrm>
        </p:spPr>
        <p:txBody>
          <a:bodyPr>
            <a:normAutofit/>
          </a:bodyPr>
          <a:lstStyle/>
          <a:p>
            <a:r>
              <a:rPr lang="en-US" sz="2800" dirty="0">
                <a:effectLst/>
                <a:latin typeface="Times New Roman" panose="02020603050405020304" pitchFamily="18" charset="0"/>
                <a:cs typeface="Times New Roman" panose="02020603050405020304" pitchFamily="18" charset="0"/>
              </a:rPr>
              <a:t>Implementation of the Access Matrix :</a:t>
            </a:r>
            <a:endParaRPr lang="en-IN" sz="2800" dirty="0"/>
          </a:p>
        </p:txBody>
      </p:sp>
    </p:spTree>
    <p:extLst>
      <p:ext uri="{BB962C8B-B14F-4D97-AF65-F5344CB8AC3E}">
        <p14:creationId xmlns:p14="http://schemas.microsoft.com/office/powerpoint/2010/main" val="3088530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C2F2CE-29FE-403C-B5B4-ED1803DC559D}"/>
              </a:ext>
            </a:extLst>
          </p:cNvPr>
          <p:cNvSpPr>
            <a:spLocks noGrp="1"/>
          </p:cNvSpPr>
          <p:nvPr>
            <p:ph idx="1"/>
          </p:nvPr>
        </p:nvSpPr>
        <p:spPr>
          <a:xfrm>
            <a:off x="453325" y="874643"/>
            <a:ext cx="8237348" cy="5302320"/>
          </a:xfrm>
        </p:spPr>
        <p:txBody>
          <a:bodyPr>
            <a:normAutofit lnSpcReduction="10000"/>
          </a:bodyPr>
          <a:lstStyle/>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rPr>
              <a:t>The capability list is associated with a domain, but it is never directly accessible to a process executing in that domain</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rPr>
              <a:t>The capability list is itself a protected object, maintained by the operating system and accessed by the user only indirectly. </a:t>
            </a:r>
            <a:endParaRPr lang="en-IN" sz="1900" dirty="0">
              <a:latin typeface="Times New Roman" panose="02020603050405020304" pitchFamily="18" charset="0"/>
              <a:cs typeface="Times New Roman" panose="02020603050405020304" pitchFamily="18" charset="0"/>
            </a:endParaRPr>
          </a:p>
          <a:p>
            <a:pPr>
              <a:lnSpc>
                <a:spcPct val="100000"/>
              </a:lnSpc>
              <a:spcBef>
                <a:spcPts val="900"/>
              </a:spcBef>
            </a:pPr>
            <a:r>
              <a:rPr lang="en-US" sz="1900" b="1" u="sng" dirty="0">
                <a:effectLst/>
                <a:latin typeface="Times New Roman" panose="02020603050405020304" pitchFamily="18" charset="0"/>
              </a:rPr>
              <a:t>Capabilities are usually distinguished from other data in one of two ways:</a:t>
            </a:r>
          </a:p>
          <a:p>
            <a:pPr>
              <a:lnSpc>
                <a:spcPct val="100000"/>
              </a:lnSpc>
              <a:spcBef>
                <a:spcPts val="900"/>
              </a:spcBef>
              <a:buNone/>
            </a:pPr>
            <a:r>
              <a:rPr lang="en-US" sz="1900" dirty="0">
                <a:effectLst/>
                <a:latin typeface="Times New Roman" panose="02020603050405020304" pitchFamily="18" charset="0"/>
              </a:rPr>
              <a:t>1.  Each object has a tag to denote whether it is a capability or accessible data. The tags themselves must not be directly accessible by an application program. </a:t>
            </a:r>
          </a:p>
          <a:p>
            <a:pPr marL="285750" indent="-285750">
              <a:lnSpc>
                <a:spcPct val="100000"/>
              </a:lnSpc>
              <a:spcBef>
                <a:spcPts val="900"/>
              </a:spcBef>
              <a:buFont typeface="Wingdings" panose="05000000000000000000" pitchFamily="2" charset="2"/>
              <a:buChar char="q"/>
            </a:pPr>
            <a:r>
              <a:rPr lang="en-US" sz="1900" dirty="0">
                <a:effectLst/>
                <a:latin typeface="Times New Roman" panose="02020603050405020304" pitchFamily="18" charset="0"/>
              </a:rPr>
              <a:t>Hardware or firmware support may be used to enforce this restriction. </a:t>
            </a:r>
            <a:endParaRPr lang="en-US" sz="1900" dirty="0">
              <a:latin typeface="Times New Roman" panose="02020603050405020304" pitchFamily="18" charset="0"/>
            </a:endParaRPr>
          </a:p>
          <a:p>
            <a:pPr>
              <a:lnSpc>
                <a:spcPct val="100000"/>
              </a:lnSpc>
              <a:spcBef>
                <a:spcPts val="900"/>
              </a:spcBef>
              <a:buNone/>
            </a:pPr>
            <a:r>
              <a:rPr lang="en-US" sz="1900" dirty="0">
                <a:effectLst/>
                <a:latin typeface="Times New Roman" panose="02020603050405020304" pitchFamily="18" charset="0"/>
              </a:rPr>
              <a:t>2.  The address space associated with a program can be split into two parts. </a:t>
            </a:r>
          </a:p>
          <a:p>
            <a:pPr marL="285750" indent="-285750">
              <a:lnSpc>
                <a:spcPct val="100000"/>
              </a:lnSpc>
              <a:spcBef>
                <a:spcPts val="900"/>
              </a:spcBef>
              <a:buFont typeface="Wingdings" panose="05000000000000000000" pitchFamily="2" charset="2"/>
              <a:buChar char="q"/>
            </a:pPr>
            <a:r>
              <a:rPr lang="en-US" sz="1900" dirty="0">
                <a:effectLst/>
                <a:latin typeface="Times New Roman" panose="02020603050405020304" pitchFamily="18" charset="0"/>
              </a:rPr>
              <a:t>One part is accessible to the program and contains the program’s normal data and instructions.</a:t>
            </a:r>
          </a:p>
          <a:p>
            <a:pPr marL="285750" indent="-285750">
              <a:lnSpc>
                <a:spcPct val="100000"/>
              </a:lnSpc>
              <a:spcBef>
                <a:spcPts val="900"/>
              </a:spcBef>
              <a:buFont typeface="Wingdings" panose="05000000000000000000" pitchFamily="2" charset="2"/>
              <a:buChar char="q"/>
            </a:pPr>
            <a:r>
              <a:rPr lang="en-US" sz="1900" dirty="0">
                <a:effectLst/>
                <a:latin typeface="Times New Roman" panose="02020603050405020304" pitchFamily="18" charset="0"/>
              </a:rPr>
              <a:t> The other part, containing the capability list, is accessible only by the operating system.</a:t>
            </a:r>
            <a:endParaRPr lang="en-IN" sz="1900" dirty="0"/>
          </a:p>
        </p:txBody>
      </p:sp>
      <p:sp>
        <p:nvSpPr>
          <p:cNvPr id="3" name="Title 2">
            <a:extLst>
              <a:ext uri="{FF2B5EF4-FFF2-40B4-BE49-F238E27FC236}">
                <a16:creationId xmlns:a16="http://schemas.microsoft.com/office/drawing/2014/main" id="{CE295418-63B5-402E-AB41-9FADCAD4FD61}"/>
              </a:ext>
            </a:extLst>
          </p:cNvPr>
          <p:cNvSpPr>
            <a:spLocks noGrp="1"/>
          </p:cNvSpPr>
          <p:nvPr>
            <p:ph type="title"/>
          </p:nvPr>
        </p:nvSpPr>
        <p:spPr>
          <a:xfrm>
            <a:off x="92765" y="253514"/>
            <a:ext cx="7135131" cy="479910"/>
          </a:xfrm>
        </p:spPr>
        <p:txBody>
          <a:bodyPr>
            <a:normAutofit/>
          </a:bodyPr>
          <a:lstStyle/>
          <a:p>
            <a:r>
              <a:rPr lang="en-US" sz="2800" dirty="0">
                <a:effectLst/>
                <a:latin typeface="Times New Roman" panose="02020603050405020304" pitchFamily="18" charset="0"/>
                <a:cs typeface="Times New Roman" panose="02020603050405020304" pitchFamily="18" charset="0"/>
              </a:rPr>
              <a:t>Implementation of the Access Matrix :</a:t>
            </a:r>
            <a:endParaRPr lang="en-IN" sz="2800" dirty="0"/>
          </a:p>
        </p:txBody>
      </p:sp>
    </p:spTree>
    <p:extLst>
      <p:ext uri="{BB962C8B-B14F-4D97-AF65-F5344CB8AC3E}">
        <p14:creationId xmlns:p14="http://schemas.microsoft.com/office/powerpoint/2010/main" val="28091947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02153C-4DD8-48E5-B2AF-91981F27CBBA}"/>
              </a:ext>
            </a:extLst>
          </p:cNvPr>
          <p:cNvSpPr>
            <a:spLocks noGrp="1"/>
          </p:cNvSpPr>
          <p:nvPr>
            <p:ph idx="1"/>
          </p:nvPr>
        </p:nvSpPr>
        <p:spPr>
          <a:xfrm>
            <a:off x="453325" y="954157"/>
            <a:ext cx="8237348" cy="5222806"/>
          </a:xfrm>
        </p:spPr>
        <p:txBody>
          <a:bodyPr>
            <a:normAutofit/>
          </a:bodyPr>
          <a:lstStyle/>
          <a:p>
            <a:pPr>
              <a:lnSpc>
                <a:spcPct val="100000"/>
              </a:lnSpc>
              <a:spcBef>
                <a:spcPts val="1000"/>
              </a:spcBef>
              <a:spcAft>
                <a:spcPts val="1000"/>
              </a:spcAft>
            </a:pPr>
            <a:r>
              <a:rPr lang="en-US" sz="1900" b="1" u="sng" dirty="0">
                <a:effectLst/>
                <a:latin typeface="Times New Roman" panose="02020603050405020304" pitchFamily="18" charset="0"/>
                <a:cs typeface="Times New Roman" panose="02020603050405020304" pitchFamily="18" charset="0"/>
              </a:rPr>
              <a:t>A Lock–Key Mechanism :</a:t>
            </a:r>
          </a:p>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rPr>
              <a:t>The lock – key scheme is a compromise between access lists and capability lists.</a:t>
            </a:r>
          </a:p>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rPr>
              <a:t> Each </a:t>
            </a:r>
            <a:r>
              <a:rPr lang="en-US" sz="1900" b="1" dirty="0">
                <a:effectLst/>
                <a:latin typeface="Times New Roman" panose="02020603050405020304" pitchFamily="18" charset="0"/>
              </a:rPr>
              <a:t>object</a:t>
            </a:r>
            <a:r>
              <a:rPr lang="en-US" sz="1900" dirty="0">
                <a:effectLst/>
                <a:latin typeface="Times New Roman" panose="02020603050405020304" pitchFamily="18" charset="0"/>
              </a:rPr>
              <a:t> has a list of </a:t>
            </a:r>
            <a:r>
              <a:rPr lang="en-US" sz="1900" b="1" dirty="0">
                <a:effectLst/>
                <a:latin typeface="Times New Roman" panose="02020603050405020304" pitchFamily="18" charset="0"/>
              </a:rPr>
              <a:t>unique bit patterns </a:t>
            </a:r>
            <a:r>
              <a:rPr lang="en-US" sz="1900" dirty="0">
                <a:effectLst/>
                <a:latin typeface="Times New Roman" panose="02020603050405020304" pitchFamily="18" charset="0"/>
              </a:rPr>
              <a:t>called </a:t>
            </a:r>
            <a:r>
              <a:rPr lang="en-US" sz="1900" b="1" dirty="0">
                <a:effectLst/>
                <a:latin typeface="Times New Roman" panose="02020603050405020304" pitchFamily="18" charset="0"/>
              </a:rPr>
              <a:t>locks.</a:t>
            </a:r>
          </a:p>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rPr>
              <a:t>Each </a:t>
            </a:r>
            <a:r>
              <a:rPr lang="en-US" sz="1900" b="1" dirty="0">
                <a:effectLst/>
                <a:latin typeface="Times New Roman" panose="02020603050405020304" pitchFamily="18" charset="0"/>
              </a:rPr>
              <a:t>domain</a:t>
            </a:r>
            <a:r>
              <a:rPr lang="en-US" sz="1900" dirty="0">
                <a:effectLst/>
                <a:latin typeface="Times New Roman" panose="02020603050405020304" pitchFamily="18" charset="0"/>
              </a:rPr>
              <a:t> has a list of </a:t>
            </a:r>
            <a:r>
              <a:rPr lang="en-US" sz="1900" b="1" dirty="0">
                <a:effectLst/>
                <a:latin typeface="Times New Roman" panose="02020603050405020304" pitchFamily="18" charset="0"/>
              </a:rPr>
              <a:t>unique bit patterns</a:t>
            </a:r>
            <a:r>
              <a:rPr lang="en-US" sz="1900" b="1" dirty="0">
                <a:latin typeface="Times New Roman" panose="02020603050405020304" pitchFamily="18" charset="0"/>
              </a:rPr>
              <a:t> </a:t>
            </a:r>
            <a:r>
              <a:rPr lang="en-US" sz="1900" dirty="0">
                <a:effectLst/>
                <a:latin typeface="Times New Roman" panose="02020603050405020304" pitchFamily="18" charset="0"/>
              </a:rPr>
              <a:t>called </a:t>
            </a:r>
            <a:r>
              <a:rPr lang="en-US" sz="1900" b="1" dirty="0">
                <a:effectLst/>
                <a:latin typeface="Times New Roman" panose="02020603050405020304" pitchFamily="18" charset="0"/>
              </a:rPr>
              <a:t>keys</a:t>
            </a:r>
            <a:r>
              <a:rPr lang="en-US" sz="1900" dirty="0">
                <a:effectLst/>
                <a:latin typeface="Times New Roman" panose="02020603050405020304" pitchFamily="18" charset="0"/>
              </a:rPr>
              <a:t>.</a:t>
            </a:r>
          </a:p>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rPr>
              <a:t> A process executing in a domain can access an object only if that domain has a key that matches one of the locks of the object.</a:t>
            </a:r>
          </a:p>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rPr>
              <a:t>As with capability lists, the list of keys for a domain must be managed by the operating system on behalf of the domain. </a:t>
            </a:r>
          </a:p>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rPr>
              <a:t>Users are not allowed to examine or modify the list of keys (or locks) directly.</a:t>
            </a:r>
            <a:endParaRPr lang="en-IN" sz="1900" dirty="0"/>
          </a:p>
        </p:txBody>
      </p:sp>
      <p:sp>
        <p:nvSpPr>
          <p:cNvPr id="3" name="Title 2">
            <a:extLst>
              <a:ext uri="{FF2B5EF4-FFF2-40B4-BE49-F238E27FC236}">
                <a16:creationId xmlns:a16="http://schemas.microsoft.com/office/drawing/2014/main" id="{F15ACD1E-43C3-4E43-8ABE-A18E2EE0437A}"/>
              </a:ext>
            </a:extLst>
          </p:cNvPr>
          <p:cNvSpPr>
            <a:spLocks noGrp="1"/>
          </p:cNvSpPr>
          <p:nvPr>
            <p:ph type="title"/>
          </p:nvPr>
        </p:nvSpPr>
        <p:spPr>
          <a:xfrm>
            <a:off x="0" y="253514"/>
            <a:ext cx="7227896" cy="479910"/>
          </a:xfrm>
        </p:spPr>
        <p:txBody>
          <a:bodyPr>
            <a:normAutofit/>
          </a:bodyPr>
          <a:lstStyle/>
          <a:p>
            <a:r>
              <a:rPr lang="en-US" sz="2800" dirty="0">
                <a:effectLst/>
                <a:latin typeface="Times New Roman" panose="02020603050405020304" pitchFamily="18" charset="0"/>
                <a:cs typeface="Times New Roman" panose="02020603050405020304" pitchFamily="18" charset="0"/>
              </a:rPr>
              <a:t>Implementation of the Access Matrix :</a:t>
            </a:r>
            <a:endParaRPr lang="en-IN" sz="2800" dirty="0"/>
          </a:p>
        </p:txBody>
      </p:sp>
    </p:spTree>
    <p:extLst>
      <p:ext uri="{BB962C8B-B14F-4D97-AF65-F5344CB8AC3E}">
        <p14:creationId xmlns:p14="http://schemas.microsoft.com/office/powerpoint/2010/main" val="1096263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365C5C-DFBD-42CC-BB46-7C79C7C6ECD9}"/>
              </a:ext>
            </a:extLst>
          </p:cNvPr>
          <p:cNvSpPr>
            <a:spLocks noGrp="1"/>
          </p:cNvSpPr>
          <p:nvPr>
            <p:ph idx="1"/>
          </p:nvPr>
        </p:nvSpPr>
        <p:spPr>
          <a:xfrm>
            <a:off x="453325" y="848139"/>
            <a:ext cx="8237348" cy="5328824"/>
          </a:xfrm>
        </p:spPr>
        <p:txBody>
          <a:bodyPr/>
          <a:lstStyle/>
          <a:p>
            <a:pPr algn="just">
              <a:lnSpc>
                <a:spcPct val="100000"/>
              </a:lnSpc>
              <a:spcBef>
                <a:spcPts val="900"/>
              </a:spcBef>
            </a:pPr>
            <a:r>
              <a:rPr lang="en-IN" sz="1900" b="1" u="sng" dirty="0">
                <a:effectLst/>
                <a:latin typeface="Times New Roman" panose="02020603050405020304" pitchFamily="18" charset="0"/>
                <a:cs typeface="Times New Roman" panose="02020603050405020304" pitchFamily="18" charset="0"/>
              </a:rPr>
              <a:t>Comparison :</a:t>
            </a:r>
          </a:p>
          <a:p>
            <a:pPr marL="285750" indent="-285750" algn="just">
              <a:lnSpc>
                <a:spcPct val="100000"/>
              </a:lnSpc>
              <a:spcBef>
                <a:spcPts val="900"/>
              </a:spcBef>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Using a </a:t>
            </a:r>
            <a:r>
              <a:rPr lang="en-US" sz="1900" b="1" dirty="0">
                <a:effectLst/>
                <a:latin typeface="Times New Roman" panose="02020603050405020304" pitchFamily="18" charset="0"/>
                <a:cs typeface="Times New Roman" panose="02020603050405020304" pitchFamily="18" charset="0"/>
              </a:rPr>
              <a:t>global table </a:t>
            </a:r>
            <a:r>
              <a:rPr lang="en-US" sz="1900" dirty="0">
                <a:effectLst/>
                <a:latin typeface="Times New Roman" panose="02020603050405020304" pitchFamily="18" charset="0"/>
                <a:cs typeface="Times New Roman" panose="02020603050405020304" pitchFamily="18" charset="0"/>
              </a:rPr>
              <a:t>is simple; however, the table can be quite large and often cannot take advantage of special groupings of objects or domains.</a:t>
            </a:r>
          </a:p>
          <a:p>
            <a:pPr marL="285750" indent="-285750" algn="just">
              <a:lnSpc>
                <a:spcPct val="100000"/>
              </a:lnSpc>
              <a:spcBef>
                <a:spcPts val="900"/>
              </a:spcBef>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Access lists correspond directly to the needs of users.</a:t>
            </a:r>
          </a:p>
          <a:p>
            <a:pPr algn="just">
              <a:lnSpc>
                <a:spcPct val="100000"/>
              </a:lnSpc>
              <a:spcBef>
                <a:spcPts val="900"/>
              </a:spcBef>
              <a:buNone/>
            </a:pPr>
            <a:r>
              <a:rPr lang="en-US" sz="1900" dirty="0">
                <a:latin typeface="Times New Roman" panose="02020603050405020304" pitchFamily="18" charset="0"/>
                <a:cs typeface="Times New Roman" panose="02020603050405020304" pitchFamily="18" charset="0"/>
              </a:rPr>
              <a:t>          →  D</a:t>
            </a:r>
            <a:r>
              <a:rPr lang="en-US" sz="1900" dirty="0">
                <a:effectLst/>
                <a:latin typeface="Times New Roman" panose="02020603050405020304" pitchFamily="18" charset="0"/>
                <a:cs typeface="Times New Roman" panose="02020603050405020304" pitchFamily="18" charset="0"/>
              </a:rPr>
              <a:t>etermining the set of access rights for each domain is difficult. </a:t>
            </a:r>
          </a:p>
          <a:p>
            <a:pPr algn="just">
              <a:lnSpc>
                <a:spcPct val="100000"/>
              </a:lnSpc>
              <a:spcBef>
                <a:spcPts val="900"/>
              </a:spcBef>
              <a:buNone/>
            </a:pPr>
            <a:r>
              <a:rPr lang="en-US" sz="1900" dirty="0">
                <a:latin typeface="Times New Roman" panose="02020603050405020304" pitchFamily="18" charset="0"/>
                <a:cs typeface="Times New Roman" panose="02020603050405020304" pitchFamily="18" charset="0"/>
              </a:rPr>
              <a:t>          →  E</a:t>
            </a:r>
            <a:r>
              <a:rPr lang="en-US" sz="1900" dirty="0">
                <a:effectLst/>
                <a:latin typeface="Times New Roman" panose="02020603050405020304" pitchFamily="18" charset="0"/>
                <a:cs typeface="Times New Roman" panose="02020603050405020304" pitchFamily="18" charset="0"/>
              </a:rPr>
              <a:t>very access to the object must be checked, requiring a search of the access list. </a:t>
            </a:r>
          </a:p>
          <a:p>
            <a:pPr algn="just">
              <a:lnSpc>
                <a:spcPct val="100000"/>
              </a:lnSpc>
              <a:spcBef>
                <a:spcPts val="900"/>
              </a:spcBef>
              <a:buNone/>
            </a:pPr>
            <a:r>
              <a:rPr lang="en-US" sz="1900" dirty="0">
                <a:latin typeface="Times New Roman" panose="02020603050405020304" pitchFamily="18" charset="0"/>
                <a:cs typeface="Times New Roman" panose="02020603050405020304" pitchFamily="18" charset="0"/>
              </a:rPr>
              <a:t>→  </a:t>
            </a:r>
            <a:r>
              <a:rPr lang="en-US" sz="1900" dirty="0">
                <a:effectLst/>
                <a:latin typeface="Times New Roman" panose="02020603050405020304" pitchFamily="18" charset="0"/>
                <a:cs typeface="Times New Roman" panose="02020603050405020304" pitchFamily="18" charset="0"/>
              </a:rPr>
              <a:t>In a large system with long access lists, this search can be time consuming.</a:t>
            </a:r>
          </a:p>
          <a:p>
            <a:pPr marL="285750" indent="-285750">
              <a:buFont typeface="Wingdings" panose="05000000000000000000" pitchFamily="2" charset="2"/>
              <a:buChar char="q"/>
            </a:pPr>
            <a:endParaRPr lang="en-IN" dirty="0"/>
          </a:p>
        </p:txBody>
      </p:sp>
      <p:sp>
        <p:nvSpPr>
          <p:cNvPr id="3" name="Title 2">
            <a:extLst>
              <a:ext uri="{FF2B5EF4-FFF2-40B4-BE49-F238E27FC236}">
                <a16:creationId xmlns:a16="http://schemas.microsoft.com/office/drawing/2014/main" id="{A23D9740-2DE2-4974-AD8D-70BBBDFD11F5}"/>
              </a:ext>
            </a:extLst>
          </p:cNvPr>
          <p:cNvSpPr>
            <a:spLocks noGrp="1"/>
          </p:cNvSpPr>
          <p:nvPr>
            <p:ph type="title"/>
          </p:nvPr>
        </p:nvSpPr>
        <p:spPr>
          <a:xfrm>
            <a:off x="0" y="253514"/>
            <a:ext cx="7227896" cy="479910"/>
          </a:xfrm>
        </p:spPr>
        <p:txBody>
          <a:bodyPr>
            <a:normAutofit/>
          </a:bodyPr>
          <a:lstStyle/>
          <a:p>
            <a:r>
              <a:rPr lang="en-US" sz="2800" dirty="0">
                <a:effectLst/>
                <a:latin typeface="Times New Roman" panose="02020603050405020304" pitchFamily="18" charset="0"/>
                <a:cs typeface="Times New Roman" panose="02020603050405020304" pitchFamily="18" charset="0"/>
              </a:rPr>
              <a:t>Implementation of the Access Matrix :</a:t>
            </a:r>
            <a:endParaRPr lang="en-IN" sz="2800" dirty="0"/>
          </a:p>
        </p:txBody>
      </p:sp>
    </p:spTree>
    <p:extLst>
      <p:ext uri="{BB962C8B-B14F-4D97-AF65-F5344CB8AC3E}">
        <p14:creationId xmlns:p14="http://schemas.microsoft.com/office/powerpoint/2010/main" val="1373700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A173FC-4DF5-4E96-8EA5-0ACB7096BBF3}"/>
              </a:ext>
            </a:extLst>
          </p:cNvPr>
          <p:cNvSpPr>
            <a:spLocks noGrp="1"/>
          </p:cNvSpPr>
          <p:nvPr>
            <p:ph idx="1"/>
          </p:nvPr>
        </p:nvSpPr>
        <p:spPr>
          <a:xfrm>
            <a:off x="453325" y="954157"/>
            <a:ext cx="8237348" cy="5222806"/>
          </a:xfrm>
        </p:spPr>
        <p:txBody>
          <a:bodyPr>
            <a:normAutofit/>
          </a:bodyPr>
          <a:lstStyle/>
          <a:p>
            <a:pPr>
              <a:buNone/>
            </a:pPr>
            <a:r>
              <a:rPr lang="en-IN" sz="1900" b="1" u="sng" dirty="0">
                <a:effectLst/>
                <a:latin typeface="Times New Roman" panose="02020603050405020304" pitchFamily="18" charset="0"/>
                <a:cs typeface="Times New Roman" panose="02020603050405020304" pitchFamily="18" charset="0"/>
              </a:rPr>
              <a:t>Comparison :</a:t>
            </a:r>
          </a:p>
          <a:p>
            <a:pPr marL="285750" indent="-285750">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Capability lists do not correspond directly to the needs of users, but they are useful for localizing information for a given process.</a:t>
            </a:r>
          </a:p>
          <a:p>
            <a:pPr>
              <a:buNone/>
            </a:pPr>
            <a:r>
              <a:rPr lang="en-US" sz="1900" dirty="0">
                <a:latin typeface="Times New Roman" panose="02020603050405020304" pitchFamily="18" charset="0"/>
                <a:cs typeface="Times New Roman" panose="02020603050405020304" pitchFamily="18" charset="0"/>
              </a:rPr>
              <a:t>→</a:t>
            </a:r>
            <a:r>
              <a:rPr lang="en-US" sz="1900" dirty="0">
                <a:effectLst/>
                <a:latin typeface="Times New Roman" panose="02020603050405020304" pitchFamily="18" charset="0"/>
                <a:cs typeface="Times New Roman" panose="02020603050405020304" pitchFamily="18" charset="0"/>
              </a:rPr>
              <a:t> The process attempting access must present a capability for that access. Then, the protection system needs only to verify that the capability is valid. </a:t>
            </a:r>
          </a:p>
          <a:p>
            <a:pPr>
              <a:buNone/>
            </a:pPr>
            <a:r>
              <a:rPr lang="en-US" sz="1900" dirty="0">
                <a:latin typeface="Times New Roman" panose="02020603050405020304" pitchFamily="18" charset="0"/>
                <a:cs typeface="Times New Roman" panose="02020603050405020304" pitchFamily="18" charset="0"/>
              </a:rPr>
              <a:t>→</a:t>
            </a:r>
            <a:r>
              <a:rPr lang="en-US" sz="1900" dirty="0">
                <a:effectLst/>
                <a:latin typeface="Times New Roman" panose="02020603050405020304" pitchFamily="18" charset="0"/>
                <a:cs typeface="Times New Roman" panose="02020603050405020304" pitchFamily="18" charset="0"/>
              </a:rPr>
              <a:t>  Revocation of capabilities can be inefficient .</a:t>
            </a:r>
          </a:p>
          <a:p>
            <a:pPr marL="285750" indent="-285750">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lock – key mechanism effective and flexible, depending on the length of the keys. The keys can be passed freely from domain to domain. </a:t>
            </a:r>
          </a:p>
          <a:p>
            <a:pPr>
              <a:buNone/>
            </a:pPr>
            <a:r>
              <a:rPr lang="en-US" sz="1900" dirty="0">
                <a:latin typeface="Times New Roman" panose="02020603050405020304" pitchFamily="18" charset="0"/>
                <a:cs typeface="Times New Roman" panose="02020603050405020304" pitchFamily="18" charset="0"/>
              </a:rPr>
              <a:t>→</a:t>
            </a:r>
            <a:r>
              <a:rPr lang="en-US" sz="1900" dirty="0">
                <a:effectLst/>
                <a:latin typeface="Times New Roman" panose="02020603050405020304" pitchFamily="18" charset="0"/>
                <a:cs typeface="Times New Roman" panose="02020603050405020304" pitchFamily="18" charset="0"/>
              </a:rPr>
              <a:t> In addition, access privileges can be effectively revoked by the simple technique of changing some of the locks associated with the object.</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1C12EE3D-B8E6-4E10-B03F-565583676007}"/>
              </a:ext>
            </a:extLst>
          </p:cNvPr>
          <p:cNvSpPr>
            <a:spLocks noGrp="1"/>
          </p:cNvSpPr>
          <p:nvPr>
            <p:ph type="title"/>
          </p:nvPr>
        </p:nvSpPr>
        <p:spPr>
          <a:xfrm>
            <a:off x="185530" y="253514"/>
            <a:ext cx="7042366" cy="479910"/>
          </a:xfrm>
        </p:spPr>
        <p:txBody>
          <a:bodyPr/>
          <a:lstStyle/>
          <a:p>
            <a:r>
              <a:rPr lang="en-US" sz="2400" dirty="0">
                <a:effectLst/>
                <a:latin typeface="Times New Roman" panose="02020603050405020304" pitchFamily="18" charset="0"/>
                <a:cs typeface="Times New Roman" panose="02020603050405020304" pitchFamily="18" charset="0"/>
              </a:rPr>
              <a:t>Implementation of the Access Matrix :</a:t>
            </a:r>
            <a:endParaRPr lang="en-IN" dirty="0"/>
          </a:p>
        </p:txBody>
      </p:sp>
    </p:spTree>
    <p:extLst>
      <p:ext uri="{BB962C8B-B14F-4D97-AF65-F5344CB8AC3E}">
        <p14:creationId xmlns:p14="http://schemas.microsoft.com/office/powerpoint/2010/main" val="31412757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548F7C-6B04-4DD8-91E5-AF1A626450D0}"/>
              </a:ext>
            </a:extLst>
          </p:cNvPr>
          <p:cNvSpPr>
            <a:spLocks noGrp="1"/>
          </p:cNvSpPr>
          <p:nvPr>
            <p:ph idx="1"/>
          </p:nvPr>
        </p:nvSpPr>
        <p:spPr>
          <a:xfrm>
            <a:off x="453325" y="940904"/>
            <a:ext cx="5072832" cy="5236059"/>
          </a:xfrm>
        </p:spPr>
        <p:txBody>
          <a:bodyPr>
            <a:normAutofit lnSpcReduction="10000"/>
          </a:bodyPr>
          <a:lstStyle/>
          <a:p>
            <a:pPr marL="285750" indent="-285750">
              <a:lnSpc>
                <a:spcPct val="15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Access controls can be used on files with in a file system. Each file and directory is assigned an owner, a group, or possibly a list of users, and for each of those entities, access-control information is assigned (read ,write ,execute). </a:t>
            </a:r>
          </a:p>
          <a:p>
            <a:pPr marL="285750" indent="-285750">
              <a:lnSpc>
                <a:spcPct val="15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Ex: Solaris 10(sun micro systems) advances the protection available in the operating system by explicitly </a:t>
            </a:r>
            <a:r>
              <a:rPr lang="en-US" sz="1900" b="1" dirty="0">
                <a:effectLst/>
                <a:latin typeface="Times New Roman" panose="02020603050405020304" pitchFamily="18" charset="0"/>
                <a:cs typeface="Times New Roman" panose="02020603050405020304" pitchFamily="18" charset="0"/>
              </a:rPr>
              <a:t>adding the principle of least privilege </a:t>
            </a:r>
            <a:r>
              <a:rPr lang="en-US" sz="1900" dirty="0">
                <a:effectLst/>
                <a:latin typeface="Times New Roman" panose="02020603050405020304" pitchFamily="18" charset="0"/>
                <a:cs typeface="Times New Roman" panose="02020603050405020304" pitchFamily="18" charset="0"/>
              </a:rPr>
              <a:t>via </a:t>
            </a:r>
            <a:r>
              <a:rPr lang="en-US" sz="1900" b="1" dirty="0">
                <a:effectLst/>
                <a:latin typeface="Times New Roman" panose="02020603050405020304" pitchFamily="18" charset="0"/>
                <a:cs typeface="Times New Roman" panose="02020603050405020304" pitchFamily="18" charset="0"/>
              </a:rPr>
              <a:t>role-based access control(RBAC).</a:t>
            </a:r>
          </a:p>
          <a:p>
            <a:pPr marL="285750" indent="-285750">
              <a:lnSpc>
                <a:spcPct val="15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This facility revolves around privileges.</a:t>
            </a:r>
          </a:p>
          <a:p>
            <a:pPr marL="285750" indent="-285750">
              <a:buFont typeface="Wingdings" panose="05000000000000000000" pitchFamily="2" charset="2"/>
              <a:buChar char="q"/>
            </a:pPr>
            <a:endParaRPr lang="en-IN" dirty="0"/>
          </a:p>
        </p:txBody>
      </p:sp>
      <p:sp>
        <p:nvSpPr>
          <p:cNvPr id="3" name="Title 2">
            <a:extLst>
              <a:ext uri="{FF2B5EF4-FFF2-40B4-BE49-F238E27FC236}">
                <a16:creationId xmlns:a16="http://schemas.microsoft.com/office/drawing/2014/main" id="{0CE295F7-4347-44AF-8760-A5108F90A62C}"/>
              </a:ext>
            </a:extLst>
          </p:cNvPr>
          <p:cNvSpPr>
            <a:spLocks noGrp="1"/>
          </p:cNvSpPr>
          <p:nvPr>
            <p:ph type="title"/>
          </p:nvPr>
        </p:nvSpPr>
        <p:spPr>
          <a:xfrm>
            <a:off x="159026" y="253514"/>
            <a:ext cx="7068870" cy="479910"/>
          </a:xfrm>
        </p:spPr>
        <p:txBody>
          <a:bodyPr>
            <a:normAutofit/>
          </a:bodyPr>
          <a:lstStyle/>
          <a:p>
            <a:r>
              <a:rPr lang="en-IN" sz="2800" dirty="0">
                <a:effectLst/>
                <a:latin typeface="Times New Roman" panose="02020603050405020304" pitchFamily="18" charset="0"/>
                <a:cs typeface="Times New Roman" panose="02020603050405020304" pitchFamily="18" charset="0"/>
              </a:rPr>
              <a:t>Access Control :</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83F8777-68FB-4080-B671-65C97CF17A72}"/>
              </a:ext>
            </a:extLst>
          </p:cNvPr>
          <p:cNvPicPr>
            <a:picLocks noChangeAspect="1"/>
          </p:cNvPicPr>
          <p:nvPr/>
        </p:nvPicPr>
        <p:blipFill>
          <a:blip r:embed="rId2"/>
          <a:stretch>
            <a:fillRect/>
          </a:stretch>
        </p:blipFill>
        <p:spPr>
          <a:xfrm>
            <a:off x="5751444" y="940904"/>
            <a:ext cx="2939232" cy="5459895"/>
          </a:xfrm>
          <a:prstGeom prst="rect">
            <a:avLst/>
          </a:prstGeom>
        </p:spPr>
      </p:pic>
    </p:spTree>
    <p:extLst>
      <p:ext uri="{BB962C8B-B14F-4D97-AF65-F5344CB8AC3E}">
        <p14:creationId xmlns:p14="http://schemas.microsoft.com/office/powerpoint/2010/main" val="1507017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816891-1D36-467D-BE4F-C0961DA70D92}"/>
              </a:ext>
            </a:extLst>
          </p:cNvPr>
          <p:cNvSpPr>
            <a:spLocks noGrp="1"/>
          </p:cNvSpPr>
          <p:nvPr>
            <p:ph idx="1"/>
          </p:nvPr>
        </p:nvSpPr>
        <p:spPr>
          <a:xfrm>
            <a:off x="453325" y="887896"/>
            <a:ext cx="8237348" cy="5289067"/>
          </a:xfrm>
        </p:spPr>
        <p:txBody>
          <a:bodyPr>
            <a:normAutofit/>
          </a:bodyPr>
          <a:lstStyle/>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 A </a:t>
            </a:r>
            <a:r>
              <a:rPr lang="en-US" sz="1900" b="1" dirty="0">
                <a:effectLst/>
                <a:latin typeface="Times New Roman" panose="02020603050405020304" pitchFamily="18" charset="0"/>
                <a:cs typeface="Times New Roman" panose="02020603050405020304" pitchFamily="18" charset="0"/>
              </a:rPr>
              <a:t>privilege</a:t>
            </a:r>
            <a:r>
              <a:rPr lang="en-US" sz="1900" dirty="0">
                <a:effectLst/>
                <a:latin typeface="Times New Roman" panose="02020603050405020304" pitchFamily="18" charset="0"/>
                <a:cs typeface="Times New Roman" panose="02020603050405020304" pitchFamily="18" charset="0"/>
              </a:rPr>
              <a:t> is the </a:t>
            </a:r>
            <a:r>
              <a:rPr lang="en-US" sz="1900" b="1" dirty="0">
                <a:effectLst/>
                <a:latin typeface="Times New Roman" panose="02020603050405020304" pitchFamily="18" charset="0"/>
                <a:cs typeface="Times New Roman" panose="02020603050405020304" pitchFamily="18" charset="0"/>
              </a:rPr>
              <a:t>right to execute a system call </a:t>
            </a:r>
            <a:r>
              <a:rPr lang="en-US" sz="1900" dirty="0">
                <a:effectLst/>
                <a:latin typeface="Times New Roman" panose="02020603050405020304" pitchFamily="18" charset="0"/>
                <a:cs typeface="Times New Roman" panose="02020603050405020304" pitchFamily="18" charset="0"/>
              </a:rPr>
              <a:t>or to use an option within that system call (such as opening a file with write access).</a:t>
            </a:r>
            <a:endParaRPr lang="en-US" altLang="en-US" sz="1900" b="1" dirty="0">
              <a:latin typeface="Times New Roman" panose="02020603050405020304" pitchFamily="18" charset="0"/>
              <a:cs typeface="Times New Roman" panose="02020603050405020304" pitchFamily="18" charset="0"/>
            </a:endParaRPr>
          </a:p>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rPr>
              <a:t>Here privileges can be assigned to </a:t>
            </a:r>
            <a:r>
              <a:rPr lang="en-US" sz="1900" b="1" dirty="0">
                <a:effectLst/>
                <a:latin typeface="Times New Roman" panose="02020603050405020304" pitchFamily="18" charset="0"/>
              </a:rPr>
              <a:t>process and roles</a:t>
            </a:r>
            <a:r>
              <a:rPr lang="en-US" sz="1900" dirty="0">
                <a:effectLst/>
                <a:latin typeface="Times New Roman" panose="02020603050405020304" pitchFamily="18" charset="0"/>
              </a:rPr>
              <a:t>. </a:t>
            </a:r>
          </a:p>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rPr>
              <a:t>Privileges can be </a:t>
            </a:r>
            <a:r>
              <a:rPr lang="en-US" sz="1900" b="1" dirty="0">
                <a:effectLst/>
                <a:latin typeface="Times New Roman" panose="02020603050405020304" pitchFamily="18" charset="0"/>
              </a:rPr>
              <a:t>assigned to processes</a:t>
            </a:r>
            <a:r>
              <a:rPr lang="en-US" sz="1900" dirty="0">
                <a:effectLst/>
                <a:latin typeface="Times New Roman" panose="02020603050405020304" pitchFamily="18" charset="0"/>
              </a:rPr>
              <a:t>, limiting them to exactly the access they need to perform their work. </a:t>
            </a:r>
          </a:p>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rPr>
              <a:t>Privileges and programs can also be </a:t>
            </a:r>
            <a:r>
              <a:rPr lang="en-US" sz="1900" b="1" dirty="0">
                <a:effectLst/>
                <a:latin typeface="Times New Roman" panose="02020603050405020304" pitchFamily="18" charset="0"/>
              </a:rPr>
              <a:t>assigned to roles</a:t>
            </a:r>
            <a:r>
              <a:rPr lang="en-US" sz="1900" dirty="0">
                <a:effectLst/>
                <a:latin typeface="Times New Roman" panose="02020603050405020304" pitchFamily="18" charset="0"/>
              </a:rPr>
              <a:t>. </a:t>
            </a:r>
          </a:p>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rPr>
              <a:t>Users are assigned roles or can take roles based on passwords to the roles. </a:t>
            </a:r>
          </a:p>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rPr>
              <a:t>In this way, a user can take a role that enables a privilege, allowing the user to run a program to accomplish a specific task.</a:t>
            </a:r>
          </a:p>
          <a:p>
            <a:pPr marL="285750" indent="-285750">
              <a:lnSpc>
                <a:spcPct val="100000"/>
              </a:lnSpc>
              <a:spcBef>
                <a:spcPts val="1000"/>
              </a:spcBef>
              <a:spcAft>
                <a:spcPts val="1000"/>
              </a:spcAft>
              <a:buFont typeface="Wingdings" panose="05000000000000000000" pitchFamily="2" charset="2"/>
              <a:buChar char="q"/>
            </a:pPr>
            <a:r>
              <a:rPr lang="en-US" sz="1900" dirty="0">
                <a:effectLst/>
                <a:latin typeface="Times New Roman" panose="02020603050405020304" pitchFamily="18" charset="0"/>
              </a:rPr>
              <a:t>This implementation of privileges decreases the security risk associated with superusers and setuid programs.</a:t>
            </a:r>
            <a:endParaRPr lang="en-IN" sz="1900" dirty="0"/>
          </a:p>
        </p:txBody>
      </p:sp>
      <p:sp>
        <p:nvSpPr>
          <p:cNvPr id="3" name="Title 2">
            <a:extLst>
              <a:ext uri="{FF2B5EF4-FFF2-40B4-BE49-F238E27FC236}">
                <a16:creationId xmlns:a16="http://schemas.microsoft.com/office/drawing/2014/main" id="{B61A65D6-79C8-4D48-810E-B6E738AD4A97}"/>
              </a:ext>
            </a:extLst>
          </p:cNvPr>
          <p:cNvSpPr>
            <a:spLocks noGrp="1"/>
          </p:cNvSpPr>
          <p:nvPr>
            <p:ph type="title"/>
          </p:nvPr>
        </p:nvSpPr>
        <p:spPr>
          <a:xfrm>
            <a:off x="145774" y="253514"/>
            <a:ext cx="7082122" cy="479910"/>
          </a:xfrm>
        </p:spPr>
        <p:txBody>
          <a:bodyPr>
            <a:normAutofit/>
          </a:bodyPr>
          <a:lstStyle/>
          <a:p>
            <a:r>
              <a:rPr lang="en-IN" sz="2800" dirty="0">
                <a:effectLst/>
                <a:latin typeface="Times New Roman" panose="02020603050405020304" pitchFamily="18" charset="0"/>
                <a:cs typeface="Times New Roman" panose="02020603050405020304" pitchFamily="18" charset="0"/>
              </a:rPr>
              <a:t>Access Control :</a:t>
            </a:r>
            <a:endParaRPr lang="en-IN" sz="2800" dirty="0"/>
          </a:p>
        </p:txBody>
      </p:sp>
    </p:spTree>
    <p:extLst>
      <p:ext uri="{BB962C8B-B14F-4D97-AF65-F5344CB8AC3E}">
        <p14:creationId xmlns:p14="http://schemas.microsoft.com/office/powerpoint/2010/main" val="23598436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43B6F7-D33A-4503-AD2D-473D0947FCCC}"/>
              </a:ext>
            </a:extLst>
          </p:cNvPr>
          <p:cNvSpPr>
            <a:spLocks noGrp="1"/>
          </p:cNvSpPr>
          <p:nvPr>
            <p:ph idx="1"/>
          </p:nvPr>
        </p:nvSpPr>
        <p:spPr>
          <a:xfrm>
            <a:off x="453325" y="927652"/>
            <a:ext cx="8237348" cy="5249311"/>
          </a:xfrm>
        </p:spPr>
        <p:txBody>
          <a:bodyPr>
            <a:normAutofit fontScale="92500" lnSpcReduction="20000"/>
          </a:bodyPr>
          <a:lstStyle/>
          <a:p>
            <a:pPr marL="342900" indent="-342900" algn="just">
              <a:lnSpc>
                <a:spcPct val="110000"/>
              </a:lnSpc>
              <a:spcBef>
                <a:spcPts val="900"/>
              </a:spcBef>
              <a:buFont typeface="Wingdings" panose="05000000000000000000" pitchFamily="2" charset="2"/>
              <a:buChar char="q"/>
            </a:pPr>
            <a:r>
              <a:rPr lang="en-US" sz="2100" dirty="0">
                <a:effectLst/>
                <a:latin typeface="Times New Roman" panose="02020603050405020304" pitchFamily="18" charset="0"/>
                <a:cs typeface="Times New Roman" panose="02020603050405020304" pitchFamily="18" charset="0"/>
              </a:rPr>
              <a:t>In a dynamic protection system, we may sometimes need to revoke access</a:t>
            </a:r>
            <a:br>
              <a:rPr lang="en-US" sz="2100" dirty="0">
                <a:latin typeface="Times New Roman" panose="02020603050405020304" pitchFamily="18" charset="0"/>
                <a:cs typeface="Times New Roman" panose="02020603050405020304" pitchFamily="18" charset="0"/>
              </a:rPr>
            </a:br>
            <a:r>
              <a:rPr lang="en-US" sz="2100" dirty="0">
                <a:effectLst/>
                <a:latin typeface="Times New Roman" panose="02020603050405020304" pitchFamily="18" charset="0"/>
                <a:cs typeface="Times New Roman" panose="02020603050405020304" pitchFamily="18" charset="0"/>
              </a:rPr>
              <a:t>rights to objects shared by different users. </a:t>
            </a:r>
            <a:endParaRPr lang="en-US" sz="2100" b="1" u="sng" dirty="0">
              <a:effectLst/>
              <a:latin typeface="Times New Roman" panose="02020603050405020304" pitchFamily="18" charset="0"/>
              <a:cs typeface="Times New Roman" panose="02020603050405020304" pitchFamily="18" charset="0"/>
            </a:endParaRPr>
          </a:p>
          <a:p>
            <a:pPr algn="just">
              <a:lnSpc>
                <a:spcPct val="110000"/>
              </a:lnSpc>
              <a:spcBef>
                <a:spcPts val="900"/>
              </a:spcBef>
            </a:pPr>
            <a:r>
              <a:rPr lang="en-US" sz="2100" b="1" u="sng" dirty="0">
                <a:effectLst/>
                <a:latin typeface="Times New Roman" panose="02020603050405020304" pitchFamily="18" charset="0"/>
                <a:cs typeface="Times New Roman" panose="02020603050405020304" pitchFamily="18" charset="0"/>
              </a:rPr>
              <a:t>Various questions about revocation may arise:</a:t>
            </a:r>
          </a:p>
          <a:p>
            <a:pPr marL="285750" indent="-285750" algn="just">
              <a:lnSpc>
                <a:spcPct val="110000"/>
              </a:lnSpc>
              <a:spcBef>
                <a:spcPts val="900"/>
              </a:spcBef>
              <a:buFont typeface="Wingdings" panose="05000000000000000000" pitchFamily="2" charset="2"/>
              <a:buChar char="q"/>
            </a:pPr>
            <a:r>
              <a:rPr lang="en-US" sz="2100" b="1" dirty="0">
                <a:effectLst/>
                <a:latin typeface="Times New Roman" panose="02020603050405020304" pitchFamily="18" charset="0"/>
                <a:cs typeface="Times New Roman" panose="02020603050405020304" pitchFamily="18" charset="0"/>
              </a:rPr>
              <a:t>Immediate versus delayed</a:t>
            </a:r>
            <a:r>
              <a:rPr lang="en-US" sz="2100" b="1" dirty="0">
                <a:latin typeface="Times New Roman" panose="02020603050405020304" pitchFamily="18" charset="0"/>
                <a:cs typeface="Times New Roman" panose="02020603050405020304" pitchFamily="18" charset="0"/>
              </a:rPr>
              <a:t>:</a:t>
            </a:r>
            <a:r>
              <a:rPr lang="en-US" sz="2100" dirty="0">
                <a:effectLst/>
                <a:latin typeface="Times New Roman" panose="02020603050405020304" pitchFamily="18" charset="0"/>
                <a:cs typeface="Times New Roman" panose="02020603050405020304" pitchFamily="18" charset="0"/>
              </a:rPr>
              <a:t> Does revocation occur immediately, or is it delayed? If revocation is delayed, can we find out when it will take place?</a:t>
            </a:r>
          </a:p>
          <a:p>
            <a:pPr marL="285750" indent="-285750" algn="just">
              <a:lnSpc>
                <a:spcPct val="110000"/>
              </a:lnSpc>
              <a:spcBef>
                <a:spcPts val="900"/>
              </a:spcBef>
              <a:buFont typeface="Wingdings" panose="05000000000000000000" pitchFamily="2" charset="2"/>
              <a:buChar char="q"/>
            </a:pPr>
            <a:r>
              <a:rPr lang="en-US" sz="2100" b="1" dirty="0">
                <a:effectLst/>
                <a:latin typeface="Times New Roman" panose="02020603050405020304" pitchFamily="18" charset="0"/>
                <a:cs typeface="Times New Roman" panose="02020603050405020304" pitchFamily="18" charset="0"/>
              </a:rPr>
              <a:t>Selective versus general</a:t>
            </a:r>
            <a:r>
              <a:rPr lang="en-US" sz="2100" b="1" dirty="0">
                <a:latin typeface="Times New Roman" panose="02020603050405020304" pitchFamily="18" charset="0"/>
                <a:cs typeface="Times New Roman" panose="02020603050405020304" pitchFamily="18" charset="0"/>
              </a:rPr>
              <a:t>:</a:t>
            </a:r>
            <a:r>
              <a:rPr lang="en-US" sz="2100" dirty="0">
                <a:effectLst/>
                <a:latin typeface="Times New Roman" panose="02020603050405020304" pitchFamily="18" charset="0"/>
                <a:cs typeface="Times New Roman" panose="02020603050405020304" pitchFamily="18" charset="0"/>
              </a:rPr>
              <a:t> When an access right to an object is revoked, does it affect all the users who have an access right to that object, or can we specify a select group of users whose access rights should be revoked?</a:t>
            </a:r>
          </a:p>
          <a:p>
            <a:pPr marL="285750" indent="-285750" algn="just">
              <a:lnSpc>
                <a:spcPct val="110000"/>
              </a:lnSpc>
              <a:spcBef>
                <a:spcPts val="900"/>
              </a:spcBef>
              <a:buFont typeface="Wingdings" panose="05000000000000000000" pitchFamily="2" charset="2"/>
              <a:buChar char="q"/>
            </a:pPr>
            <a:r>
              <a:rPr lang="en-US" sz="2100" b="1" dirty="0">
                <a:effectLst/>
                <a:latin typeface="Times New Roman" panose="02020603050405020304" pitchFamily="18" charset="0"/>
                <a:cs typeface="Times New Roman" panose="02020603050405020304" pitchFamily="18" charset="0"/>
              </a:rPr>
              <a:t>Partial versus total:</a:t>
            </a:r>
            <a:r>
              <a:rPr lang="en-US" sz="2100" dirty="0">
                <a:effectLst/>
                <a:latin typeface="Times New Roman" panose="02020603050405020304" pitchFamily="18" charset="0"/>
                <a:cs typeface="Times New Roman" panose="02020603050405020304" pitchFamily="18" charset="0"/>
              </a:rPr>
              <a:t> Can a subset of the rights associated with an object be revoked, or must we revoke all access rights for this object?</a:t>
            </a:r>
          </a:p>
          <a:p>
            <a:pPr marL="285750" indent="-285750" algn="just">
              <a:lnSpc>
                <a:spcPct val="110000"/>
              </a:lnSpc>
              <a:spcBef>
                <a:spcPts val="900"/>
              </a:spcBef>
              <a:buFont typeface="Wingdings" panose="05000000000000000000" pitchFamily="2" charset="2"/>
              <a:buChar char="q"/>
            </a:pPr>
            <a:r>
              <a:rPr lang="en-US" sz="2100" b="1" dirty="0">
                <a:effectLst/>
                <a:latin typeface="Times New Roman" panose="02020603050405020304" pitchFamily="18" charset="0"/>
                <a:cs typeface="Times New Roman" panose="02020603050405020304" pitchFamily="18" charset="0"/>
              </a:rPr>
              <a:t>Temporary versus permanent</a:t>
            </a:r>
            <a:r>
              <a:rPr lang="en-US" sz="2100" b="1" dirty="0">
                <a:latin typeface="Times New Roman" panose="02020603050405020304" pitchFamily="18" charset="0"/>
                <a:cs typeface="Times New Roman" panose="02020603050405020304" pitchFamily="18" charset="0"/>
              </a:rPr>
              <a:t>: </a:t>
            </a:r>
            <a:r>
              <a:rPr lang="en-US" sz="2100" dirty="0">
                <a:effectLst/>
                <a:latin typeface="Times New Roman" panose="02020603050405020304" pitchFamily="18" charset="0"/>
                <a:cs typeface="Times New Roman" panose="02020603050405020304" pitchFamily="18" charset="0"/>
              </a:rPr>
              <a:t>Can access be revoked permanently (that is, the revoked access right will never again be available), or can access be revoked and later be obtained again?</a:t>
            </a:r>
          </a:p>
          <a:p>
            <a:pPr marL="285750" indent="-285750" algn="just">
              <a:lnSpc>
                <a:spcPct val="110000"/>
              </a:lnSpc>
              <a:spcBef>
                <a:spcPts val="900"/>
              </a:spcBef>
              <a:buFont typeface="Wingdings" panose="05000000000000000000" pitchFamily="2" charset="2"/>
              <a:buChar char="q"/>
            </a:pPr>
            <a:r>
              <a:rPr lang="en-US" sz="2100" dirty="0">
                <a:effectLst/>
                <a:latin typeface="Times New Roman" panose="02020603050405020304" pitchFamily="18" charset="0"/>
                <a:cs typeface="Times New Roman" panose="02020603050405020304" pitchFamily="18" charset="0"/>
              </a:rPr>
              <a:t>Revocation : </a:t>
            </a:r>
            <a:r>
              <a:rPr lang="en-US" sz="2100" b="0" i="0" dirty="0">
                <a:solidFill>
                  <a:srgbClr val="202124"/>
                </a:solidFill>
                <a:effectLst/>
                <a:latin typeface="Times New Roman" panose="02020603050405020304" pitchFamily="18" charset="0"/>
                <a:cs typeface="Times New Roman" panose="02020603050405020304" pitchFamily="18" charset="0"/>
              </a:rPr>
              <a:t> it means take back, withdraw, or cancel.</a:t>
            </a:r>
            <a:endParaRPr lang="en-US" sz="2100" dirty="0">
              <a:effectLst/>
              <a:latin typeface="Times New Roman" panose="02020603050405020304" pitchFamily="18" charset="0"/>
              <a:cs typeface="Times New Roman" panose="02020603050405020304" pitchFamily="18" charset="0"/>
            </a:endParaRPr>
          </a:p>
          <a:p>
            <a:pPr marL="285750" indent="-285750" algn="just">
              <a:lnSpc>
                <a:spcPct val="100000"/>
              </a:lnSpc>
              <a:spcBef>
                <a:spcPts val="1000"/>
              </a:spcBef>
              <a:spcAft>
                <a:spcPts val="1000"/>
              </a:spcAft>
              <a:buFont typeface="Wingdings" panose="05000000000000000000" pitchFamily="2" charset="2"/>
              <a:buChar char="q"/>
            </a:pP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D9E62A4E-DA97-4170-94C3-32109F6E5230}"/>
              </a:ext>
            </a:extLst>
          </p:cNvPr>
          <p:cNvSpPr>
            <a:spLocks noGrp="1"/>
          </p:cNvSpPr>
          <p:nvPr>
            <p:ph type="title"/>
          </p:nvPr>
        </p:nvSpPr>
        <p:spPr>
          <a:xfrm>
            <a:off x="0" y="253514"/>
            <a:ext cx="7227896" cy="479910"/>
          </a:xfrm>
        </p:spPr>
        <p:txBody>
          <a:bodyPr>
            <a:normAutofit/>
          </a:bodyPr>
          <a:lstStyle/>
          <a:p>
            <a:r>
              <a:rPr lang="en-IN" sz="2800" dirty="0">
                <a:effectLst/>
                <a:latin typeface="Times New Roman" panose="02020603050405020304" pitchFamily="18" charset="0"/>
                <a:cs typeface="Times New Roman" panose="02020603050405020304" pitchFamily="18" charset="0"/>
              </a:rPr>
              <a:t>Revocation of Access Rights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7923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1E797B-4CE9-49E0-B615-2D2EFB7CED75}"/>
              </a:ext>
            </a:extLst>
          </p:cNvPr>
          <p:cNvSpPr>
            <a:spLocks noGrp="1"/>
          </p:cNvSpPr>
          <p:nvPr>
            <p:ph idx="1"/>
          </p:nvPr>
        </p:nvSpPr>
        <p:spPr>
          <a:xfrm>
            <a:off x="453325" y="954157"/>
            <a:ext cx="8237348" cy="5222806"/>
          </a:xfrm>
        </p:spPr>
        <p:txBody>
          <a:bodyPr/>
          <a:lstStyle/>
          <a:p>
            <a:pPr marL="285750" indent="-285750" algn="just">
              <a:lnSpc>
                <a:spcPct val="100000"/>
              </a:lnSpc>
              <a:spcBef>
                <a:spcPts val="700"/>
              </a:spcBef>
              <a:spcAft>
                <a:spcPts val="700"/>
              </a:spcAft>
              <a:buFont typeface="Wingdings" panose="05000000000000000000" pitchFamily="2" charset="2"/>
              <a:buChar char="q"/>
            </a:pPr>
            <a:r>
              <a:rPr lang="en-IN" b="1" dirty="0">
                <a:effectLst/>
                <a:latin typeface="Times New Roman" panose="02020603050405020304" pitchFamily="18" charset="0"/>
                <a:cs typeface="Times New Roman" panose="02020603050405020304" pitchFamily="18" charset="0"/>
              </a:rPr>
              <a:t>Access Lists for Objects </a:t>
            </a:r>
            <a:r>
              <a:rPr lang="en-IN" dirty="0">
                <a:effectLst/>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Each column = Access-control list for one object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Defines who can perform what operation &lt; Domain ,Right – set &gt;.</a:t>
            </a:r>
            <a:br>
              <a:rPr lang="en-US" alt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r>
              <a:rPr lang="en-US" b="1" dirty="0">
                <a:effectLst/>
                <a:latin typeface="Times New Roman" panose="02020603050405020304" pitchFamily="18" charset="0"/>
                <a:cs typeface="Times New Roman" panose="02020603050405020304" pitchFamily="18" charset="0"/>
              </a:rPr>
              <a:t>Easy to implement with Access List.</a:t>
            </a:r>
          </a:p>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With an access-list scheme, revocation is easy. </a:t>
            </a:r>
          </a:p>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Simple - The access list is searched for any access rights to be revoked, and they are delete Access rights from the access list. </a:t>
            </a:r>
          </a:p>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Revocation is immediate and can be general or selective, total or partial, and permanent or temporary.</a:t>
            </a:r>
          </a:p>
          <a:p>
            <a:pPr marL="285750" indent="-285750">
              <a:buFont typeface="Wingdings" panose="05000000000000000000" pitchFamily="2" charset="2"/>
              <a:buChar char="q"/>
            </a:pPr>
            <a:endParaRPr lang="en-IN" dirty="0"/>
          </a:p>
        </p:txBody>
      </p:sp>
      <p:sp>
        <p:nvSpPr>
          <p:cNvPr id="3" name="Title 2">
            <a:extLst>
              <a:ext uri="{FF2B5EF4-FFF2-40B4-BE49-F238E27FC236}">
                <a16:creationId xmlns:a16="http://schemas.microsoft.com/office/drawing/2014/main" id="{A2D8AD5F-2F61-4BA4-A63A-DEF14320C2B0}"/>
              </a:ext>
            </a:extLst>
          </p:cNvPr>
          <p:cNvSpPr>
            <a:spLocks noGrp="1"/>
          </p:cNvSpPr>
          <p:nvPr>
            <p:ph type="title"/>
          </p:nvPr>
        </p:nvSpPr>
        <p:spPr>
          <a:xfrm>
            <a:off x="92765" y="253514"/>
            <a:ext cx="7135131" cy="479910"/>
          </a:xfrm>
        </p:spPr>
        <p:txBody>
          <a:bodyPr>
            <a:normAutofit/>
          </a:bodyPr>
          <a:lstStyle/>
          <a:p>
            <a:r>
              <a:rPr lang="en-IN" sz="2800" dirty="0">
                <a:effectLst/>
                <a:latin typeface="Times New Roman" panose="02020603050405020304" pitchFamily="18" charset="0"/>
                <a:cs typeface="Times New Roman" panose="02020603050405020304" pitchFamily="18" charset="0"/>
              </a:rPr>
              <a:t>Revocation of Access Rights : Access List </a:t>
            </a:r>
            <a:endParaRPr lang="en-IN" sz="2800" dirty="0"/>
          </a:p>
        </p:txBody>
      </p:sp>
      <p:pic>
        <p:nvPicPr>
          <p:cNvPr id="5" name="Picture 4">
            <a:extLst>
              <a:ext uri="{FF2B5EF4-FFF2-40B4-BE49-F238E27FC236}">
                <a16:creationId xmlns:a16="http://schemas.microsoft.com/office/drawing/2014/main" id="{CF54211B-CDCA-4A97-80A4-610E16C97C4C}"/>
              </a:ext>
            </a:extLst>
          </p:cNvPr>
          <p:cNvPicPr>
            <a:picLocks noChangeAspect="1"/>
          </p:cNvPicPr>
          <p:nvPr/>
        </p:nvPicPr>
        <p:blipFill>
          <a:blip r:embed="rId2"/>
          <a:stretch>
            <a:fillRect/>
          </a:stretch>
        </p:blipFill>
        <p:spPr>
          <a:xfrm>
            <a:off x="4785423" y="4089886"/>
            <a:ext cx="3905250" cy="2514600"/>
          </a:xfrm>
          <a:prstGeom prst="rect">
            <a:avLst/>
          </a:prstGeom>
        </p:spPr>
      </p:pic>
    </p:spTree>
    <p:extLst>
      <p:ext uri="{BB962C8B-B14F-4D97-AF65-F5344CB8AC3E}">
        <p14:creationId xmlns:p14="http://schemas.microsoft.com/office/powerpoint/2010/main" val="5546289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9B3C65-9BAC-46A4-8F57-A8097CE830D7}"/>
              </a:ext>
            </a:extLst>
          </p:cNvPr>
          <p:cNvSpPr>
            <a:spLocks noGrp="1"/>
          </p:cNvSpPr>
          <p:nvPr>
            <p:ph idx="1"/>
          </p:nvPr>
        </p:nvSpPr>
        <p:spPr>
          <a:xfrm>
            <a:off x="453324" y="927652"/>
            <a:ext cx="8372623" cy="5249311"/>
          </a:xfrm>
        </p:spPr>
        <p:txBody>
          <a:bodyPr>
            <a:normAutofit/>
          </a:bodyPr>
          <a:lstStyle/>
          <a:p>
            <a:pPr marL="285750" indent="-285750">
              <a:lnSpc>
                <a:spcPct val="100000"/>
              </a:lnSpc>
              <a:spcBef>
                <a:spcPts val="900"/>
              </a:spcBef>
              <a:buFont typeface="Wingdings" panose="05000000000000000000" pitchFamily="2" charset="2"/>
              <a:buChar char="q"/>
            </a:pPr>
            <a:r>
              <a:rPr lang="en-US" sz="1900" b="1" dirty="0">
                <a:effectLst/>
                <a:latin typeface="Times New Roman" panose="02020603050405020304" pitchFamily="18" charset="0"/>
                <a:cs typeface="Times New Roman" panose="02020603050405020304" pitchFamily="18" charset="0"/>
              </a:rPr>
              <a:t>A capability list for a domain </a:t>
            </a:r>
            <a:r>
              <a:rPr lang="en-US" sz="1900" dirty="0">
                <a:effectLst/>
                <a:latin typeface="Times New Roman" panose="02020603050405020304" pitchFamily="18" charset="0"/>
                <a:cs typeface="Times New Roman" panose="02020603050405020304" pitchFamily="18" charset="0"/>
              </a:rPr>
              <a:t>is a list of objects together with the operations allowed on those objects. </a:t>
            </a:r>
          </a:p>
          <a:p>
            <a:pPr marL="285750" indent="-285750">
              <a:lnSpc>
                <a:spcPct val="100000"/>
              </a:lnSpc>
              <a:spcBef>
                <a:spcPts val="900"/>
              </a:spcBef>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An object is often represented by its physical name or Unique address, in a particular domain called a capability.</a:t>
            </a:r>
          </a:p>
          <a:p>
            <a:pPr marL="285750" indent="-285750">
              <a:lnSpc>
                <a:spcPct val="100000"/>
              </a:lnSpc>
              <a:spcBef>
                <a:spcPts val="900"/>
              </a:spcBef>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Capabilities maintain by Operating System. Capabilities are not viewed by user, Programs or Processers.</a:t>
            </a:r>
          </a:p>
          <a:p>
            <a:pPr marL="285750" indent="-285750">
              <a:lnSpc>
                <a:spcPct val="100000"/>
              </a:lnSpc>
              <a:spcBef>
                <a:spcPts val="900"/>
              </a:spcBef>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Harder to implement </a:t>
            </a:r>
            <a:r>
              <a:rPr lang="en-US" sz="1900" dirty="0">
                <a:latin typeface="Times New Roman" panose="02020603050405020304" pitchFamily="18" charset="0"/>
                <a:cs typeface="Times New Roman" panose="02020603050405020304" pitchFamily="18" charset="0"/>
              </a:rPr>
              <a:t>with capability list.</a:t>
            </a:r>
            <a:endParaRPr lang="en-US" sz="1900" dirty="0">
              <a:effectLst/>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73F28BEA-6569-4193-B27D-86E95242A864}"/>
              </a:ext>
            </a:extLst>
          </p:cNvPr>
          <p:cNvSpPr>
            <a:spLocks noGrp="1"/>
          </p:cNvSpPr>
          <p:nvPr>
            <p:ph type="title"/>
          </p:nvPr>
        </p:nvSpPr>
        <p:spPr>
          <a:xfrm>
            <a:off x="132522" y="253514"/>
            <a:ext cx="7095374" cy="427523"/>
          </a:xfrm>
        </p:spPr>
        <p:txBody>
          <a:bodyPr>
            <a:noAutofit/>
          </a:bodyPr>
          <a:lstStyle/>
          <a:p>
            <a:r>
              <a:rPr lang="en-IN" sz="2800" dirty="0">
                <a:effectLst/>
                <a:latin typeface="Times New Roman" panose="02020603050405020304" pitchFamily="18" charset="0"/>
                <a:cs typeface="Times New Roman" panose="02020603050405020304" pitchFamily="18" charset="0"/>
              </a:rPr>
              <a:t>Revocation of Access Rights : </a:t>
            </a:r>
            <a:r>
              <a:rPr lang="en-US" sz="2800" b="1" dirty="0">
                <a:effectLst/>
                <a:latin typeface="Times New Roman" panose="02020603050405020304" pitchFamily="18" charset="0"/>
                <a:cs typeface="Times New Roman" panose="02020603050405020304" pitchFamily="18" charset="0"/>
              </a:rPr>
              <a:t>capabilities</a:t>
            </a:r>
            <a:endParaRPr lang="en-IN" sz="2800" dirty="0"/>
          </a:p>
        </p:txBody>
      </p:sp>
      <p:pic>
        <p:nvPicPr>
          <p:cNvPr id="4" name="Picture 3">
            <a:extLst>
              <a:ext uri="{FF2B5EF4-FFF2-40B4-BE49-F238E27FC236}">
                <a16:creationId xmlns:a16="http://schemas.microsoft.com/office/drawing/2014/main" id="{FABC8E06-922B-4CDA-B46A-E141C58ED15A}"/>
              </a:ext>
            </a:extLst>
          </p:cNvPr>
          <p:cNvPicPr>
            <a:picLocks noChangeAspect="1"/>
          </p:cNvPicPr>
          <p:nvPr/>
        </p:nvPicPr>
        <p:blipFill>
          <a:blip r:embed="rId2"/>
          <a:stretch>
            <a:fillRect/>
          </a:stretch>
        </p:blipFill>
        <p:spPr>
          <a:xfrm>
            <a:off x="4920697" y="3798339"/>
            <a:ext cx="3905250" cy="2514600"/>
          </a:xfrm>
          <a:prstGeom prst="rect">
            <a:avLst/>
          </a:prstGeom>
        </p:spPr>
      </p:pic>
    </p:spTree>
    <p:extLst>
      <p:ext uri="{BB962C8B-B14F-4D97-AF65-F5344CB8AC3E}">
        <p14:creationId xmlns:p14="http://schemas.microsoft.com/office/powerpoint/2010/main" val="11167648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CD7BFC-763C-4450-917F-C3C4C68FD13F}"/>
              </a:ext>
            </a:extLst>
          </p:cNvPr>
          <p:cNvSpPr>
            <a:spLocks noGrp="1"/>
          </p:cNvSpPr>
          <p:nvPr>
            <p:ph idx="1"/>
          </p:nvPr>
        </p:nvSpPr>
        <p:spPr>
          <a:xfrm>
            <a:off x="453325" y="861391"/>
            <a:ext cx="8237348" cy="5315572"/>
          </a:xfrm>
        </p:spPr>
        <p:txBody>
          <a:bodyPr>
            <a:normAutofit/>
          </a:bodyPr>
          <a:lstStyle/>
          <a:p>
            <a:pPr marL="285750" indent="-285750" algn="just">
              <a:lnSpc>
                <a:spcPct val="100000"/>
              </a:lnSpc>
              <a:spcBef>
                <a:spcPts val="700"/>
              </a:spcBef>
              <a:spcAft>
                <a:spcPts val="700"/>
              </a:spcAft>
              <a:buFont typeface="Wingdings" panose="05000000000000000000" pitchFamily="2" charset="2"/>
              <a:buChar char="q"/>
            </a:pPr>
            <a:r>
              <a:rPr lang="en-US" altLang="en-US" sz="1900" b="1" dirty="0">
                <a:latin typeface="Times New Roman" panose="02020603050405020304" pitchFamily="18" charset="0"/>
                <a:cs typeface="Times New Roman" panose="02020603050405020304" pitchFamily="18" charset="0"/>
              </a:rPr>
              <a:t>Capability List</a:t>
            </a:r>
            <a:r>
              <a:rPr lang="en-US" altLang="en-US" sz="1900" dirty="0">
                <a:latin typeface="Times New Roman" panose="02020603050405020304" pitchFamily="18" charset="0"/>
                <a:cs typeface="Times New Roman" panose="02020603050405020304" pitchFamily="18" charset="0"/>
              </a:rPr>
              <a:t> –  T</a:t>
            </a:r>
            <a:r>
              <a:rPr lang="en-US" sz="1900" dirty="0">
                <a:effectLst/>
                <a:latin typeface="Times New Roman" panose="02020603050405020304" pitchFamily="18" charset="0"/>
                <a:cs typeface="Times New Roman" panose="02020603050405020304" pitchFamily="18" charset="0"/>
              </a:rPr>
              <a:t>he capabilities are distributed throughout the system, we must find them before we can revoke them.</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Schemes that implement revocation for capabilities include the following:</a:t>
            </a:r>
            <a:endParaRPr lang="en-IN" sz="1900" dirty="0">
              <a:latin typeface="Times New Roman" panose="02020603050405020304" pitchFamily="18" charset="0"/>
              <a:cs typeface="Times New Roman" panose="02020603050405020304" pitchFamily="18" charset="0"/>
            </a:endParaRPr>
          </a:p>
          <a:p>
            <a:pPr>
              <a:lnSpc>
                <a:spcPct val="100000"/>
              </a:lnSpc>
              <a:spcBef>
                <a:spcPts val="700"/>
              </a:spcBef>
              <a:spcAft>
                <a:spcPts val="700"/>
              </a:spcAft>
            </a:pPr>
            <a:r>
              <a:rPr lang="en-IN" sz="1900" dirty="0">
                <a:effectLst/>
                <a:latin typeface="Times New Roman" panose="02020603050405020304" pitchFamily="18" charset="0"/>
                <a:cs typeface="Times New Roman" panose="02020603050405020304" pitchFamily="18" charset="0"/>
              </a:rPr>
              <a:t>                1.  Reacquisition</a:t>
            </a:r>
          </a:p>
          <a:p>
            <a:pPr>
              <a:lnSpc>
                <a:spcPct val="100000"/>
              </a:lnSpc>
              <a:spcBef>
                <a:spcPts val="700"/>
              </a:spcBef>
              <a:spcAft>
                <a:spcPts val="700"/>
              </a:spcAft>
            </a:pPr>
            <a:r>
              <a:rPr lang="en-IN" sz="1900" dirty="0">
                <a:effectLst/>
                <a:latin typeface="Times New Roman" panose="02020603050405020304" pitchFamily="18" charset="0"/>
                <a:cs typeface="Times New Roman" panose="02020603050405020304" pitchFamily="18" charset="0"/>
              </a:rPr>
              <a:t>                2.  Back-pointers</a:t>
            </a:r>
            <a:endParaRPr lang="en-IN" sz="1900" dirty="0">
              <a:latin typeface="Times New Roman" panose="02020603050405020304" pitchFamily="18" charset="0"/>
              <a:cs typeface="Times New Roman" panose="02020603050405020304" pitchFamily="18" charset="0"/>
            </a:endParaRPr>
          </a:p>
          <a:p>
            <a:pPr>
              <a:lnSpc>
                <a:spcPct val="100000"/>
              </a:lnSpc>
              <a:spcBef>
                <a:spcPts val="700"/>
              </a:spcBef>
              <a:spcAft>
                <a:spcPts val="700"/>
              </a:spcAft>
            </a:pPr>
            <a:r>
              <a:rPr lang="en-IN" sz="1900" dirty="0">
                <a:effectLst/>
                <a:latin typeface="Times New Roman" panose="02020603050405020304" pitchFamily="18" charset="0"/>
                <a:cs typeface="Times New Roman" panose="02020603050405020304" pitchFamily="18" charset="0"/>
              </a:rPr>
              <a:t>                3.  Indirection</a:t>
            </a:r>
          </a:p>
          <a:p>
            <a:pPr>
              <a:lnSpc>
                <a:spcPct val="100000"/>
              </a:lnSpc>
              <a:spcBef>
                <a:spcPts val="700"/>
              </a:spcBef>
              <a:spcAft>
                <a:spcPts val="700"/>
              </a:spcAft>
            </a:pPr>
            <a:r>
              <a:rPr lang="en-IN" sz="1900" dirty="0">
                <a:effectLst/>
                <a:latin typeface="Times New Roman" panose="02020603050405020304" pitchFamily="18" charset="0"/>
                <a:cs typeface="Times New Roman" panose="02020603050405020304" pitchFamily="18" charset="0"/>
              </a:rPr>
              <a:t>                 4.  Keys</a:t>
            </a:r>
          </a:p>
          <a:p>
            <a:pPr>
              <a:lnSpc>
                <a:spcPct val="100000"/>
              </a:lnSpc>
              <a:spcBef>
                <a:spcPts val="700"/>
              </a:spcBef>
              <a:spcAft>
                <a:spcPts val="700"/>
              </a:spcAft>
              <a:buNone/>
            </a:pPr>
            <a:r>
              <a:rPr lang="en-US" sz="1900" dirty="0">
                <a:effectLst/>
                <a:latin typeface="Times New Roman" panose="02020603050405020304" pitchFamily="18" charset="0"/>
                <a:cs typeface="Times New Roman" panose="02020603050405020304" pitchFamily="18" charset="0"/>
              </a:rPr>
              <a:t>1.  </a:t>
            </a:r>
            <a:r>
              <a:rPr lang="en-US" sz="1900" b="1" dirty="0">
                <a:effectLst/>
                <a:latin typeface="Times New Roman" panose="02020603050405020304" pitchFamily="18" charset="0"/>
                <a:cs typeface="Times New Roman" panose="02020603050405020304" pitchFamily="18" charset="0"/>
              </a:rPr>
              <a:t>Reacquisition:</a:t>
            </a:r>
          </a:p>
          <a:p>
            <a:pPr marL="342900" indent="-34290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 Periodically, capabilities are deleted from each domain. If a process wants to use a capability, it may find that that capability has been deleted. </a:t>
            </a:r>
          </a:p>
          <a:p>
            <a:pPr marL="342900" indent="-34290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process may then try to reacquire the capability. If access has been revoked, the process will not be able to reacquire the capability.</a:t>
            </a:r>
            <a:endParaRPr lang="en-IN" sz="1900" dirty="0">
              <a:latin typeface="Times New Roman" panose="02020603050405020304" pitchFamily="18" charset="0"/>
              <a:cs typeface="Times New Roman" panose="02020603050405020304" pitchFamily="18" charset="0"/>
            </a:endParaRPr>
          </a:p>
          <a:p>
            <a:pPr marL="342900" indent="-342900">
              <a:lnSpc>
                <a:spcPct val="100000"/>
              </a:lnSpc>
              <a:spcBef>
                <a:spcPts val="700"/>
              </a:spcBef>
              <a:spcAft>
                <a:spcPts val="700"/>
              </a:spcAft>
              <a:buFont typeface="Wingdings" panose="05000000000000000000" pitchFamily="2" charset="2"/>
              <a:buChar char="q"/>
            </a:pPr>
            <a:endParaRPr lang="en-IN" sz="1900" dirty="0"/>
          </a:p>
        </p:txBody>
      </p:sp>
      <p:sp>
        <p:nvSpPr>
          <p:cNvPr id="3" name="Title 2">
            <a:extLst>
              <a:ext uri="{FF2B5EF4-FFF2-40B4-BE49-F238E27FC236}">
                <a16:creationId xmlns:a16="http://schemas.microsoft.com/office/drawing/2014/main" id="{AD40FBEA-56B7-4ADB-9EC1-37AFC51BDB3B}"/>
              </a:ext>
            </a:extLst>
          </p:cNvPr>
          <p:cNvSpPr>
            <a:spLocks noGrp="1"/>
          </p:cNvSpPr>
          <p:nvPr>
            <p:ph type="title"/>
          </p:nvPr>
        </p:nvSpPr>
        <p:spPr>
          <a:xfrm>
            <a:off x="106017" y="253514"/>
            <a:ext cx="7121879" cy="479910"/>
          </a:xfrm>
        </p:spPr>
        <p:txBody>
          <a:bodyPr/>
          <a:lstStyle/>
          <a:p>
            <a:r>
              <a:rPr lang="en-IN" sz="2400" dirty="0">
                <a:effectLst/>
                <a:latin typeface="Times New Roman" panose="02020603050405020304" pitchFamily="18" charset="0"/>
                <a:cs typeface="Times New Roman" panose="02020603050405020304" pitchFamily="18" charset="0"/>
              </a:rPr>
              <a:t>Revocation of Access Rights : </a:t>
            </a:r>
            <a:r>
              <a:rPr lang="en-US" sz="2400" b="1" dirty="0">
                <a:effectLst/>
                <a:latin typeface="Times New Roman" panose="02020603050405020304" pitchFamily="18" charset="0"/>
                <a:cs typeface="Times New Roman" panose="02020603050405020304" pitchFamily="18" charset="0"/>
              </a:rPr>
              <a:t>capabilities</a:t>
            </a:r>
            <a:endParaRPr lang="en-IN" dirty="0"/>
          </a:p>
        </p:txBody>
      </p:sp>
    </p:spTree>
    <p:extLst>
      <p:ext uri="{BB962C8B-B14F-4D97-AF65-F5344CB8AC3E}">
        <p14:creationId xmlns:p14="http://schemas.microsoft.com/office/powerpoint/2010/main" val="281748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DB7576-6332-47ED-BB1F-9AC466E32B7A}"/>
              </a:ext>
            </a:extLst>
          </p:cNvPr>
          <p:cNvSpPr>
            <a:spLocks noGrp="1"/>
          </p:cNvSpPr>
          <p:nvPr>
            <p:ph idx="1"/>
          </p:nvPr>
        </p:nvSpPr>
        <p:spPr>
          <a:xfrm>
            <a:off x="453325" y="914400"/>
            <a:ext cx="8237348" cy="5262563"/>
          </a:xfrm>
        </p:spPr>
        <p:txBody>
          <a:bodyPr>
            <a:normAutofit/>
          </a:bodyPr>
          <a:lstStyle/>
          <a:p>
            <a:pPr algn="just">
              <a:lnSpc>
                <a:spcPct val="110000"/>
              </a:lnSpc>
              <a:spcBef>
                <a:spcPts val="700"/>
              </a:spcBef>
              <a:spcAft>
                <a:spcPts val="700"/>
              </a:spcAft>
              <a:buNone/>
            </a:pPr>
            <a:r>
              <a:rPr lang="en-IN" b="1" dirty="0">
                <a:effectLst/>
                <a:latin typeface="Times New Roman" panose="02020603050405020304" pitchFamily="18" charset="0"/>
              </a:rPr>
              <a:t>2</a:t>
            </a:r>
            <a:r>
              <a:rPr lang="en-IN" b="1" dirty="0">
                <a:effectLst/>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 </a:t>
            </a:r>
            <a:r>
              <a:rPr lang="en-IN" sz="1900" b="1" dirty="0">
                <a:effectLst/>
                <a:latin typeface="Times New Roman" panose="02020603050405020304" pitchFamily="18" charset="0"/>
                <a:cs typeface="Times New Roman" panose="02020603050405020304" pitchFamily="18" charset="0"/>
              </a:rPr>
              <a:t>Back-pointers :</a:t>
            </a:r>
            <a:r>
              <a:rPr lang="en-IN" sz="1900" dirty="0">
                <a:effectLst/>
                <a:latin typeface="Times New Roman" panose="02020603050405020304" pitchFamily="18" charset="0"/>
                <a:cs typeface="Times New Roman" panose="02020603050405020304" pitchFamily="18" charset="0"/>
              </a:rPr>
              <a:t> </a:t>
            </a:r>
          </a:p>
          <a:p>
            <a:pPr marL="285750" indent="-28575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A list of pointers is maintained with each object, pointing to all capabilities associated with that object. </a:t>
            </a:r>
          </a:p>
          <a:p>
            <a:pPr marL="285750" indent="-28575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When revocation is required, we can follow these pointers, changing the capabilities as necessary. </a:t>
            </a:r>
          </a:p>
          <a:p>
            <a:pPr marL="285750" indent="-28575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This scheme was adopted in the MULTICS system. It is quite  general, but its implementation is costly.</a:t>
            </a:r>
          </a:p>
          <a:p>
            <a:pPr algn="just">
              <a:lnSpc>
                <a:spcPct val="110000"/>
              </a:lnSpc>
              <a:spcBef>
                <a:spcPts val="700"/>
              </a:spcBef>
              <a:spcAft>
                <a:spcPts val="700"/>
              </a:spcAft>
              <a:buNone/>
            </a:pPr>
            <a:r>
              <a:rPr lang="en-US" sz="1900" b="1" dirty="0">
                <a:effectLst/>
                <a:latin typeface="Times New Roman" panose="02020603050405020304" pitchFamily="18" charset="0"/>
                <a:cs typeface="Times New Roman" panose="02020603050405020304" pitchFamily="18" charset="0"/>
              </a:rPr>
              <a:t>3.  Indirection:</a:t>
            </a:r>
            <a:r>
              <a:rPr lang="en-US" sz="1900" dirty="0">
                <a:effectLst/>
                <a:latin typeface="Times New Roman" panose="02020603050405020304" pitchFamily="18" charset="0"/>
                <a:cs typeface="Times New Roman" panose="02020603050405020304" pitchFamily="18" charset="0"/>
              </a:rPr>
              <a:t>   (The capabilities point indirectly, not directly, to the objects)</a:t>
            </a:r>
            <a:endParaRPr lang="en-US" sz="1900" dirty="0">
              <a:latin typeface="Times New Roman" panose="02020603050405020304" pitchFamily="18" charset="0"/>
              <a:cs typeface="Times New Roman" panose="02020603050405020304" pitchFamily="18" charset="0"/>
            </a:endParaRPr>
          </a:p>
          <a:p>
            <a:pPr marL="285750" indent="-28575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Each capability points to a unique entry in a global table, which in turn points to the object. </a:t>
            </a:r>
          </a:p>
          <a:p>
            <a:pPr marL="285750" indent="-28575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We implement revocation by searching the global table for the desired entry and deleting it. </a:t>
            </a:r>
          </a:p>
        </p:txBody>
      </p:sp>
      <p:sp>
        <p:nvSpPr>
          <p:cNvPr id="3" name="Title 2">
            <a:extLst>
              <a:ext uri="{FF2B5EF4-FFF2-40B4-BE49-F238E27FC236}">
                <a16:creationId xmlns:a16="http://schemas.microsoft.com/office/drawing/2014/main" id="{F85A6BA6-DA64-4B0D-B17D-7888D96D73DF}"/>
              </a:ext>
            </a:extLst>
          </p:cNvPr>
          <p:cNvSpPr>
            <a:spLocks noGrp="1"/>
          </p:cNvSpPr>
          <p:nvPr>
            <p:ph type="title"/>
          </p:nvPr>
        </p:nvSpPr>
        <p:spPr>
          <a:xfrm>
            <a:off x="0" y="253514"/>
            <a:ext cx="7227895" cy="427523"/>
          </a:xfrm>
        </p:spPr>
        <p:txBody>
          <a:bodyPr>
            <a:noAutofit/>
          </a:bodyPr>
          <a:lstStyle/>
          <a:p>
            <a:r>
              <a:rPr lang="en-IN" sz="2800" dirty="0">
                <a:effectLst/>
                <a:latin typeface="Times New Roman" panose="02020603050405020304" pitchFamily="18" charset="0"/>
                <a:cs typeface="Times New Roman" panose="02020603050405020304" pitchFamily="18" charset="0"/>
              </a:rPr>
              <a:t>Revocation of Access Rights : </a:t>
            </a:r>
            <a:r>
              <a:rPr lang="en-US" sz="2800" b="1" dirty="0">
                <a:effectLst/>
                <a:latin typeface="Times New Roman" panose="02020603050405020304" pitchFamily="18" charset="0"/>
                <a:cs typeface="Times New Roman" panose="02020603050405020304" pitchFamily="18" charset="0"/>
              </a:rPr>
              <a:t>capabilities</a:t>
            </a:r>
            <a:endParaRPr lang="en-IN" sz="2800" dirty="0"/>
          </a:p>
        </p:txBody>
      </p:sp>
    </p:spTree>
    <p:extLst>
      <p:ext uri="{BB962C8B-B14F-4D97-AF65-F5344CB8AC3E}">
        <p14:creationId xmlns:p14="http://schemas.microsoft.com/office/powerpoint/2010/main" val="4261833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311E0B-2507-48A2-8787-39E5751240A5}"/>
              </a:ext>
            </a:extLst>
          </p:cNvPr>
          <p:cNvSpPr>
            <a:spLocks noGrp="1"/>
          </p:cNvSpPr>
          <p:nvPr>
            <p:ph idx="1"/>
          </p:nvPr>
        </p:nvSpPr>
        <p:spPr>
          <a:xfrm>
            <a:off x="453325" y="901148"/>
            <a:ext cx="8237348" cy="5275815"/>
          </a:xfrm>
        </p:spPr>
        <p:txBody>
          <a:bodyPr>
            <a:noAutofit/>
          </a:bodyPr>
          <a:lstStyle/>
          <a:p>
            <a:pPr marL="285750" indent="-285750" algn="just">
              <a:lnSpc>
                <a:spcPct val="100000"/>
              </a:lnSpc>
              <a:spcBef>
                <a:spcPts val="500"/>
              </a:spcBef>
              <a:spcAft>
                <a:spcPts val="500"/>
              </a:spcAft>
              <a:buFont typeface="Wingdings" panose="05000000000000000000" pitchFamily="2" charset="2"/>
              <a:buChar char="q"/>
            </a:pPr>
            <a:r>
              <a:rPr lang="en-US" sz="1900" b="1" dirty="0">
                <a:latin typeface="Times New Roman" panose="02020603050405020304" pitchFamily="18" charset="0"/>
                <a:cs typeface="Times New Roman" panose="02020603050405020304" pitchFamily="18" charset="0"/>
              </a:rPr>
              <a:t>Disadvantage :</a:t>
            </a:r>
            <a:r>
              <a:rPr lang="en-US" sz="1900" dirty="0">
                <a:latin typeface="Times New Roman" panose="02020603050405020304" pitchFamily="18" charset="0"/>
                <a:cs typeface="Times New Roman" panose="02020603050405020304" pitchFamily="18" charset="0"/>
              </a:rPr>
              <a:t> </a:t>
            </a:r>
            <a:r>
              <a:rPr lang="en-US" sz="1900" dirty="0">
                <a:effectLst/>
                <a:latin typeface="Times New Roman" panose="02020603050405020304" pitchFamily="18" charset="0"/>
                <a:cs typeface="Times New Roman" panose="02020603050405020304" pitchFamily="18" charset="0"/>
              </a:rPr>
              <a:t>This scheme was adopted in the CAL system. It does not allow selective revocation</a:t>
            </a:r>
          </a:p>
          <a:p>
            <a:pPr algn="just">
              <a:lnSpc>
                <a:spcPct val="100000"/>
              </a:lnSpc>
              <a:spcBef>
                <a:spcPts val="500"/>
              </a:spcBef>
              <a:spcAft>
                <a:spcPts val="500"/>
              </a:spcAft>
            </a:pPr>
            <a:r>
              <a:rPr lang="en-US" sz="1900" b="1" dirty="0">
                <a:effectLst/>
                <a:latin typeface="Times New Roman" panose="02020603050405020304" pitchFamily="18" charset="0"/>
                <a:cs typeface="Times New Roman" panose="02020603050405020304" pitchFamily="18" charset="0"/>
              </a:rPr>
              <a:t>4. </a:t>
            </a:r>
            <a:r>
              <a:rPr lang="en-IN" sz="1900" b="1" dirty="0">
                <a:effectLst/>
                <a:latin typeface="Times New Roman" panose="02020603050405020304" pitchFamily="18" charset="0"/>
                <a:cs typeface="Times New Roman" panose="02020603050405020304" pitchFamily="18" charset="0"/>
              </a:rPr>
              <a:t>Keys :</a:t>
            </a:r>
          </a:p>
          <a:p>
            <a:pPr marL="285750" indent="-285750" algn="just">
              <a:lnSpc>
                <a:spcPct val="100000"/>
              </a:lnSpc>
              <a:spcBef>
                <a:spcPts val="500"/>
              </a:spcBef>
              <a:spcAft>
                <a:spcPts val="5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A key is a unique bit pattern that can be associated with a capability.</a:t>
            </a:r>
          </a:p>
          <a:p>
            <a:pPr marL="285750" indent="-285750" algn="just">
              <a:lnSpc>
                <a:spcPct val="100000"/>
              </a:lnSpc>
              <a:spcBef>
                <a:spcPts val="500"/>
              </a:spcBef>
              <a:spcAft>
                <a:spcPts val="5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This key is defined when the capability is created, and it can be neither modified nor inspected by the process that owns the capability. </a:t>
            </a:r>
          </a:p>
          <a:p>
            <a:pPr marL="285750" indent="-285750" algn="just">
              <a:lnSpc>
                <a:spcPct val="100000"/>
              </a:lnSpc>
              <a:spcBef>
                <a:spcPts val="500"/>
              </a:spcBef>
              <a:spcAft>
                <a:spcPts val="5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A master key is associated with each object.</a:t>
            </a:r>
          </a:p>
          <a:p>
            <a:pPr marL="285750" indent="-285750" algn="just">
              <a:lnSpc>
                <a:spcPct val="100000"/>
              </a:lnSpc>
              <a:spcBef>
                <a:spcPts val="500"/>
              </a:spcBef>
              <a:spcAft>
                <a:spcPts val="5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When a capability is created, the current value of the master key is associated with the capability.</a:t>
            </a:r>
          </a:p>
          <a:p>
            <a:pPr marL="285750" indent="-285750" algn="just">
              <a:lnSpc>
                <a:spcPct val="100000"/>
              </a:lnSpc>
              <a:spcBef>
                <a:spcPts val="500"/>
              </a:spcBef>
              <a:spcAft>
                <a:spcPts val="5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 When the capability is exercised, its key is compared with the master key. If the keys match, the operation is allowed to continue; otherwise, an exception condition is raised. </a:t>
            </a:r>
          </a:p>
          <a:p>
            <a:pPr marL="285750" indent="-285750" algn="just">
              <a:lnSpc>
                <a:spcPct val="100000"/>
              </a:lnSpc>
              <a:spcBef>
                <a:spcPts val="500"/>
              </a:spcBef>
              <a:spcAft>
                <a:spcPts val="5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Revocation replaces the master key with a new value via the set-key operation, invalidating all previous capabilities for this object.</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3529A67-C3D8-4BFC-ACA7-FF981EC0F2D9}"/>
              </a:ext>
            </a:extLst>
          </p:cNvPr>
          <p:cNvSpPr>
            <a:spLocks noGrp="1"/>
          </p:cNvSpPr>
          <p:nvPr>
            <p:ph type="title"/>
          </p:nvPr>
        </p:nvSpPr>
        <p:spPr>
          <a:xfrm>
            <a:off x="0" y="253514"/>
            <a:ext cx="7227896" cy="479910"/>
          </a:xfrm>
        </p:spPr>
        <p:txBody>
          <a:bodyPr/>
          <a:lstStyle/>
          <a:p>
            <a:r>
              <a:rPr lang="en-IN" sz="2400" dirty="0">
                <a:effectLst/>
                <a:latin typeface="Times New Roman" panose="02020603050405020304" pitchFamily="18" charset="0"/>
                <a:cs typeface="Times New Roman" panose="02020603050405020304" pitchFamily="18" charset="0"/>
              </a:rPr>
              <a:t>Revocation of Access Rights : </a:t>
            </a:r>
            <a:r>
              <a:rPr lang="en-US" sz="2400" b="1" dirty="0">
                <a:effectLst/>
                <a:latin typeface="Times New Roman" panose="02020603050405020304" pitchFamily="18" charset="0"/>
                <a:cs typeface="Times New Roman" panose="02020603050405020304" pitchFamily="18" charset="0"/>
              </a:rPr>
              <a:t>capabilities</a:t>
            </a:r>
            <a:endParaRPr lang="en-IN" dirty="0"/>
          </a:p>
        </p:txBody>
      </p:sp>
    </p:spTree>
    <p:extLst>
      <p:ext uri="{BB962C8B-B14F-4D97-AF65-F5344CB8AC3E}">
        <p14:creationId xmlns:p14="http://schemas.microsoft.com/office/powerpoint/2010/main" val="32876419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FD106A-C89C-46D8-A4E5-895D91E8DF5B}"/>
              </a:ext>
            </a:extLst>
          </p:cNvPr>
          <p:cNvSpPr>
            <a:spLocks noGrp="1"/>
          </p:cNvSpPr>
          <p:nvPr>
            <p:ph idx="1"/>
          </p:nvPr>
        </p:nvSpPr>
        <p:spPr>
          <a:xfrm>
            <a:off x="453325" y="848139"/>
            <a:ext cx="8237348" cy="5328824"/>
          </a:xfrm>
        </p:spPr>
        <p:txBody>
          <a:bodyPr>
            <a:normAutofit/>
          </a:bodyPr>
          <a:lstStyle/>
          <a:p>
            <a:pPr marL="285750" indent="-285750" algn="just" fontAlgn="base">
              <a:lnSpc>
                <a:spcPct val="100000"/>
              </a:lnSpc>
              <a:spcBef>
                <a:spcPts val="900"/>
              </a:spcBef>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A system is said to be secure if its resources are used and accessed as intended under all the circumstances, but no system can guarantee absolute security from several of the various malicious threats and unauthorized access.</a:t>
            </a:r>
          </a:p>
          <a:p>
            <a:pPr marL="285750" indent="-285750" algn="just" fontAlgn="base">
              <a:lnSpc>
                <a:spcPct val="100000"/>
              </a:lnSpc>
              <a:spcBef>
                <a:spcPts val="900"/>
              </a:spcBef>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Security of a computer system is a crucial task. It is a process of ensuring confidentiality and integrity of the OS.</a:t>
            </a:r>
            <a:endParaRPr lang="en-US" dirty="0">
              <a:latin typeface="Times New Roman" panose="02020603050405020304" pitchFamily="18" charset="0"/>
              <a:cs typeface="Times New Roman" panose="02020603050405020304" pitchFamily="18" charset="0"/>
            </a:endParaRP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Security must consider external environment of the system, and protect it from:</a:t>
            </a:r>
          </a:p>
          <a:p>
            <a:pPr algn="just">
              <a:lnSpc>
                <a:spcPct val="100000"/>
              </a:lnSpc>
              <a:spcBef>
                <a:spcPts val="900"/>
              </a:spcBef>
              <a:buNone/>
            </a:pPr>
            <a:r>
              <a:rPr lang="en-US" dirty="0">
                <a:latin typeface="Times New Roman" panose="02020603050405020304" pitchFamily="18" charset="0"/>
                <a:cs typeface="Times New Roman" panose="02020603050405020304" pitchFamily="18" charset="0"/>
              </a:rPr>
              <a:t>       ✦  unauthorized access.</a:t>
            </a:r>
          </a:p>
          <a:p>
            <a:pPr algn="just">
              <a:lnSpc>
                <a:spcPct val="100000"/>
              </a:lnSpc>
              <a:spcBef>
                <a:spcPts val="900"/>
              </a:spcBef>
              <a:buNone/>
            </a:pPr>
            <a:r>
              <a:rPr lang="en-US" dirty="0">
                <a:latin typeface="Times New Roman" panose="02020603050405020304" pitchFamily="18" charset="0"/>
                <a:cs typeface="Times New Roman" panose="02020603050405020304" pitchFamily="18" charset="0"/>
              </a:rPr>
              <a:t>       ✦  malicious modification or destruction </a:t>
            </a:r>
          </a:p>
          <a:p>
            <a:pPr algn="just">
              <a:lnSpc>
                <a:spcPct val="100000"/>
              </a:lnSpc>
              <a:spcBef>
                <a:spcPts val="900"/>
              </a:spcBef>
              <a:buNone/>
            </a:pPr>
            <a:r>
              <a:rPr lang="en-US" dirty="0">
                <a:latin typeface="Times New Roman" panose="02020603050405020304" pitchFamily="18" charset="0"/>
                <a:cs typeface="Times New Roman" panose="02020603050405020304" pitchFamily="18" charset="0"/>
              </a:rPr>
              <a:t>       ✦  accidental introduction of inconsistency</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Intruders (crackers) attempt to breach(breaking) security.</a:t>
            </a:r>
          </a:p>
        </p:txBody>
      </p:sp>
      <p:sp>
        <p:nvSpPr>
          <p:cNvPr id="3" name="Title 2">
            <a:extLst>
              <a:ext uri="{FF2B5EF4-FFF2-40B4-BE49-F238E27FC236}">
                <a16:creationId xmlns:a16="http://schemas.microsoft.com/office/drawing/2014/main" id="{BC630F2F-8CB2-4506-A8BC-3EA1127E904B}"/>
              </a:ext>
            </a:extLst>
          </p:cNvPr>
          <p:cNvSpPr>
            <a:spLocks noGrp="1"/>
          </p:cNvSpPr>
          <p:nvPr>
            <p:ph type="title"/>
          </p:nvPr>
        </p:nvSpPr>
        <p:spPr>
          <a:xfrm>
            <a:off x="132522" y="253514"/>
            <a:ext cx="7095374" cy="479910"/>
          </a:xfrm>
        </p:spPr>
        <p:txBody>
          <a:bodyPr/>
          <a:lstStyle/>
          <a:p>
            <a:r>
              <a:rPr lang="en-IN" dirty="0">
                <a:effectLst/>
                <a:latin typeface="Arial" panose="020B0604020202020204" pitchFamily="34" charset="0"/>
              </a:rPr>
              <a:t>The Security Problem :</a:t>
            </a:r>
            <a:endParaRPr lang="en-IN" dirty="0"/>
          </a:p>
        </p:txBody>
      </p:sp>
    </p:spTree>
    <p:extLst>
      <p:ext uri="{BB962C8B-B14F-4D97-AF65-F5344CB8AC3E}">
        <p14:creationId xmlns:p14="http://schemas.microsoft.com/office/powerpoint/2010/main" val="21060999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9B1F1E-D331-4210-B165-97C01A373591}"/>
              </a:ext>
            </a:extLst>
          </p:cNvPr>
          <p:cNvSpPr>
            <a:spLocks noGrp="1"/>
          </p:cNvSpPr>
          <p:nvPr>
            <p:ph idx="1"/>
          </p:nvPr>
        </p:nvSpPr>
        <p:spPr>
          <a:xfrm>
            <a:off x="453325" y="940904"/>
            <a:ext cx="8237348" cy="5236059"/>
          </a:xfrm>
        </p:spPr>
        <p:txBody>
          <a:bodyPr>
            <a:normAutofit lnSpcReduction="10000"/>
          </a:bodyPr>
          <a:lstStyle/>
          <a:p>
            <a:pPr marL="285750" indent="-285750" algn="just" fontAlgn="base">
              <a:lnSpc>
                <a:spcPct val="110000"/>
              </a:lnSpc>
              <a:spcBef>
                <a:spcPts val="700"/>
              </a:spcBef>
              <a:spcAft>
                <a:spcPts val="700"/>
              </a:spcAft>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Security of a system can be threatened via two violations:</a:t>
            </a:r>
          </a:p>
          <a:p>
            <a:pPr marL="285750" indent="-285750" algn="just" fontAlgn="base">
              <a:lnSpc>
                <a:spcPct val="110000"/>
              </a:lnSpc>
              <a:spcBef>
                <a:spcPts val="700"/>
              </a:spcBef>
              <a:spcAft>
                <a:spcPts val="700"/>
              </a:spcAft>
              <a:buFont typeface="Wingdings" panose="05000000000000000000" pitchFamily="2" charset="2"/>
              <a:buChar char="q"/>
            </a:pPr>
            <a:r>
              <a:rPr lang="en-US" b="1" i="0" dirty="0">
                <a:effectLst/>
                <a:latin typeface="Times New Roman" panose="02020603050405020304" pitchFamily="18" charset="0"/>
                <a:cs typeface="Times New Roman" panose="02020603050405020304" pitchFamily="18" charset="0"/>
              </a:rPr>
              <a:t>Threat:</a:t>
            </a:r>
            <a:r>
              <a:rPr lang="en-US" b="0" i="0" dirty="0">
                <a:effectLst/>
                <a:latin typeface="Times New Roman" panose="02020603050405020304" pitchFamily="18" charset="0"/>
                <a:cs typeface="Times New Roman" panose="02020603050405020304" pitchFamily="18" charset="0"/>
              </a:rPr>
              <a:t> A program which has the potential to cause serious damage to the system.</a:t>
            </a:r>
          </a:p>
          <a:p>
            <a:pPr algn="just" fontAlgn="base">
              <a:lnSpc>
                <a:spcPct val="110000"/>
              </a:lnSpc>
              <a:spcBef>
                <a:spcPts val="700"/>
              </a:spcBef>
              <a:spcAft>
                <a:spcPts val="700"/>
              </a:spcAft>
              <a:buNone/>
            </a:pPr>
            <a:r>
              <a:rPr lang="en-US" dirty="0">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potential security violation )</a:t>
            </a:r>
            <a:endParaRPr lang="en-US" b="0" i="0" dirty="0">
              <a:effectLst/>
              <a:latin typeface="Times New Roman" panose="02020603050405020304" pitchFamily="18" charset="0"/>
              <a:cs typeface="Times New Roman" panose="02020603050405020304" pitchFamily="18" charset="0"/>
            </a:endParaRPr>
          </a:p>
          <a:p>
            <a:pPr marL="285750" indent="-285750" algn="just" fontAlgn="base">
              <a:lnSpc>
                <a:spcPct val="110000"/>
              </a:lnSpc>
              <a:spcBef>
                <a:spcPts val="700"/>
              </a:spcBef>
              <a:spcAft>
                <a:spcPts val="700"/>
              </a:spcAft>
              <a:buFont typeface="Wingdings" panose="05000000000000000000" pitchFamily="2" charset="2"/>
              <a:buChar char="q"/>
            </a:pPr>
            <a:r>
              <a:rPr lang="en-US" b="1" i="0" dirty="0">
                <a:effectLst/>
                <a:latin typeface="Times New Roman" panose="02020603050405020304" pitchFamily="18" charset="0"/>
                <a:cs typeface="Times New Roman" panose="02020603050405020304" pitchFamily="18" charset="0"/>
              </a:rPr>
              <a:t>Attack:</a:t>
            </a:r>
            <a:r>
              <a:rPr lang="en-US" b="0" i="0" dirty="0">
                <a:effectLst/>
                <a:latin typeface="Times New Roman" panose="02020603050405020304" pitchFamily="18" charset="0"/>
                <a:cs typeface="Times New Roman" panose="02020603050405020304" pitchFamily="18" charset="0"/>
              </a:rPr>
              <a:t> An attempt to break security and make unauthorized use of an asset.(</a:t>
            </a:r>
            <a:r>
              <a:rPr lang="en-US" dirty="0">
                <a:latin typeface="Times New Roman" panose="02020603050405020304" pitchFamily="18" charset="0"/>
                <a:cs typeface="Times New Roman" panose="02020603050405020304" pitchFamily="18" charset="0"/>
              </a:rPr>
              <a:t>attempt to breach security)</a:t>
            </a:r>
            <a:endParaRPr lang="en-US" b="0" i="0" dirty="0">
              <a:effectLst/>
              <a:latin typeface="Times New Roman" panose="02020603050405020304" pitchFamily="18" charset="0"/>
              <a:cs typeface="Times New Roman" panose="02020603050405020304" pitchFamily="18" charset="0"/>
            </a:endParaRPr>
          </a:p>
          <a:p>
            <a:pPr marL="285750" indent="-285750" algn="just">
              <a:lnSpc>
                <a:spcPct val="110000"/>
              </a:lnSpc>
              <a:spcBef>
                <a:spcPts val="700"/>
              </a:spcBef>
              <a:spcAft>
                <a:spcPts val="700"/>
              </a:spcAft>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Security violations affecting the system can be categorized as malicious and accidental.</a:t>
            </a:r>
          </a:p>
          <a:p>
            <a:pPr marL="285750" indent="-285750" algn="just">
              <a:lnSpc>
                <a:spcPct val="110000"/>
              </a:lnSpc>
              <a:spcBef>
                <a:spcPts val="700"/>
              </a:spcBef>
              <a:spcAft>
                <a:spcPts val="700"/>
              </a:spcAft>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 </a:t>
            </a:r>
            <a:r>
              <a:rPr lang="en-US" b="1" i="0" dirty="0">
                <a:effectLst/>
                <a:latin typeface="Times New Roman" panose="02020603050405020304" pitchFamily="18" charset="0"/>
                <a:cs typeface="Times New Roman" panose="02020603050405020304" pitchFamily="18" charset="0"/>
              </a:rPr>
              <a:t>Malicious threats</a:t>
            </a:r>
            <a:r>
              <a:rPr lang="en-US" b="0" i="0" dirty="0">
                <a:effectLst/>
                <a:latin typeface="Times New Roman" panose="02020603050405020304" pitchFamily="18" charset="0"/>
                <a:cs typeface="Times New Roman" panose="02020603050405020304" pitchFamily="18" charset="0"/>
              </a:rPr>
              <a:t>, as the name suggests are a kind of harmful computer code or web script designed to create system vulnerabilities leading to back doors and security breaches. </a:t>
            </a:r>
          </a:p>
          <a:p>
            <a:pPr marL="285750" indent="-285750" algn="just">
              <a:lnSpc>
                <a:spcPct val="110000"/>
              </a:lnSpc>
              <a:spcBef>
                <a:spcPts val="700"/>
              </a:spcBef>
              <a:spcAft>
                <a:spcPts val="700"/>
              </a:spcAft>
              <a:buFont typeface="Wingdings" panose="05000000000000000000" pitchFamily="2" charset="2"/>
              <a:buChar char="q"/>
            </a:pPr>
            <a:r>
              <a:rPr lang="en-US" b="1" i="0" dirty="0">
                <a:effectLst/>
                <a:latin typeface="Times New Roman" panose="02020603050405020304" pitchFamily="18" charset="0"/>
                <a:cs typeface="Times New Roman" panose="02020603050405020304" pitchFamily="18" charset="0"/>
              </a:rPr>
              <a:t>Accidental Threats</a:t>
            </a:r>
            <a:r>
              <a:rPr lang="en-US" b="0" i="0" dirty="0">
                <a:effectLst/>
                <a:latin typeface="Times New Roman" panose="02020603050405020304" pitchFamily="18" charset="0"/>
                <a:cs typeface="Times New Roman" panose="02020603050405020304" pitchFamily="18" charset="0"/>
              </a:rPr>
              <a:t>, on the other hand, are comparatively easier to be protected against. Example:</a:t>
            </a:r>
            <a:r>
              <a:rPr lang="en-US" b="0" i="0" u="sng" dirty="0">
                <a:effectLst/>
                <a:latin typeface="Times New Roman" panose="02020603050405020304" pitchFamily="18" charset="0"/>
                <a:cs typeface="Times New Roman" panose="02020603050405020304" pitchFamily="18" charset="0"/>
              </a:rPr>
              <a:t> </a:t>
            </a:r>
            <a:r>
              <a:rPr lang="en-US" b="0" i="0" u="sng"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Denial of Service DDoS attack</a:t>
            </a:r>
            <a:r>
              <a:rPr lang="en-US" b="0" i="0" u="sng" dirty="0">
                <a:effectLst/>
                <a:latin typeface="Times New Roman" panose="02020603050405020304" pitchFamily="18" charset="0"/>
                <a:cs typeface="Times New Roman" panose="02020603050405020304" pitchFamily="18" charset="0"/>
              </a:rPr>
              <a:t>.</a:t>
            </a:r>
          </a:p>
          <a:p>
            <a:pPr marL="285750" indent="-285750" algn="just">
              <a:lnSpc>
                <a:spcPct val="110000"/>
              </a:lnSpc>
              <a:spcBef>
                <a:spcPts val="700"/>
              </a:spcBef>
              <a:spcAft>
                <a:spcPts val="700"/>
              </a:spcAf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Easier to protect against accidental than malicious misuse.</a:t>
            </a:r>
            <a:endParaRPr lang="en-US" b="1" i="0" dirty="0">
              <a:effectLst/>
              <a:latin typeface="Times New Roman" panose="02020603050405020304" pitchFamily="18" charset="0"/>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7319E560-717A-4397-9EEA-BACD4B8DE0B5}"/>
              </a:ext>
            </a:extLst>
          </p:cNvPr>
          <p:cNvSpPr>
            <a:spLocks noGrp="1"/>
          </p:cNvSpPr>
          <p:nvPr>
            <p:ph type="title"/>
          </p:nvPr>
        </p:nvSpPr>
        <p:spPr>
          <a:xfrm>
            <a:off x="0" y="253514"/>
            <a:ext cx="7227896" cy="479910"/>
          </a:xfrm>
        </p:spPr>
        <p:txBody>
          <a:bodyPr/>
          <a:lstStyle/>
          <a:p>
            <a:r>
              <a:rPr lang="en-IN" dirty="0">
                <a:effectLst/>
                <a:latin typeface="Arial" panose="020B0604020202020204" pitchFamily="34" charset="0"/>
              </a:rPr>
              <a:t>The Security Problem :</a:t>
            </a:r>
            <a:endParaRPr lang="en-IN" dirty="0"/>
          </a:p>
        </p:txBody>
      </p:sp>
    </p:spTree>
    <p:extLst>
      <p:ext uri="{BB962C8B-B14F-4D97-AF65-F5344CB8AC3E}">
        <p14:creationId xmlns:p14="http://schemas.microsoft.com/office/powerpoint/2010/main" val="2828337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4A9BD0-ABA5-4612-A58D-671C0D5B7086}"/>
              </a:ext>
            </a:extLst>
          </p:cNvPr>
          <p:cNvSpPr>
            <a:spLocks noGrp="1"/>
          </p:cNvSpPr>
          <p:nvPr>
            <p:ph idx="1"/>
          </p:nvPr>
        </p:nvSpPr>
        <p:spPr>
          <a:xfrm>
            <a:off x="453325" y="874642"/>
            <a:ext cx="8237348" cy="5539409"/>
          </a:xfrm>
        </p:spPr>
        <p:txBody>
          <a:bodyPr>
            <a:normAutofit/>
          </a:bodyPr>
          <a:lstStyle/>
          <a:p>
            <a:pPr algn="just">
              <a:lnSpc>
                <a:spcPct val="100000"/>
              </a:lnSpc>
              <a:spcBef>
                <a:spcPts val="700"/>
              </a:spcBef>
              <a:spcAft>
                <a:spcPts val="700"/>
              </a:spcAft>
              <a:buNone/>
            </a:pPr>
            <a:r>
              <a:rPr lang="en-US" sz="1900" b="0" dirty="0">
                <a:solidFill>
                  <a:srgbClr val="000000"/>
                </a:solidFill>
                <a:effectLst/>
                <a:latin typeface="Times New Roman" panose="02020603050405020304" pitchFamily="18" charset="0"/>
                <a:cs typeface="Times New Roman" panose="02020603050405020304" pitchFamily="18" charset="0"/>
              </a:rPr>
              <a:t>Some of the most common types of </a:t>
            </a:r>
            <a:r>
              <a:rPr lang="en-US" sz="1900" b="1" dirty="0">
                <a:solidFill>
                  <a:srgbClr val="000000"/>
                </a:solidFill>
                <a:effectLst/>
                <a:latin typeface="Times New Roman" panose="02020603050405020304" pitchFamily="18" charset="0"/>
                <a:cs typeface="Times New Roman" panose="02020603050405020304" pitchFamily="18" charset="0"/>
              </a:rPr>
              <a:t>violations </a:t>
            </a:r>
            <a:r>
              <a:rPr lang="en-US" sz="1900" b="0" dirty="0">
                <a:solidFill>
                  <a:srgbClr val="000000"/>
                </a:solidFill>
                <a:effectLst/>
                <a:latin typeface="Times New Roman" panose="02020603050405020304" pitchFamily="18" charset="0"/>
                <a:cs typeface="Times New Roman" panose="02020603050405020304" pitchFamily="18" charset="0"/>
              </a:rPr>
              <a:t>include:</a:t>
            </a:r>
          </a:p>
          <a:p>
            <a:pPr marL="742950" lvl="1" indent="-285750" algn="just">
              <a:lnSpc>
                <a:spcPct val="100000"/>
              </a:lnSpc>
              <a:spcBef>
                <a:spcPts val="700"/>
              </a:spcBef>
              <a:spcAft>
                <a:spcPts val="700"/>
              </a:spcAft>
              <a:buFont typeface="Wingdings" panose="05000000000000000000" pitchFamily="2" charset="2"/>
              <a:buChar char="§"/>
            </a:pPr>
            <a:r>
              <a:rPr lang="en-US" sz="1900" b="1" dirty="0">
                <a:solidFill>
                  <a:srgbClr val="000000"/>
                </a:solidFill>
                <a:effectLst/>
                <a:latin typeface="Times New Roman" panose="02020603050405020304" pitchFamily="18" charset="0"/>
                <a:cs typeface="Times New Roman" panose="02020603050405020304" pitchFamily="18" charset="0"/>
              </a:rPr>
              <a:t>Breach of Confidentiality - </a:t>
            </a:r>
            <a:r>
              <a:rPr lang="en-US" sz="1900" b="0" dirty="0">
                <a:solidFill>
                  <a:srgbClr val="000000"/>
                </a:solidFill>
                <a:effectLst/>
                <a:latin typeface="Times New Roman" panose="02020603050405020304" pitchFamily="18" charset="0"/>
                <a:cs typeface="Times New Roman" panose="02020603050405020304" pitchFamily="18" charset="0"/>
              </a:rPr>
              <a:t>Theft of private or confidential information, such as credit-card numbers, trade secrets, patents, secret formulas, manufacturing procedures, medical information, financial information, etc.</a:t>
            </a:r>
          </a:p>
          <a:p>
            <a:pPr marL="742950" lvl="1" indent="-285750" algn="just">
              <a:lnSpc>
                <a:spcPct val="100000"/>
              </a:lnSpc>
              <a:spcBef>
                <a:spcPts val="700"/>
              </a:spcBef>
              <a:spcAft>
                <a:spcPts val="700"/>
              </a:spcAft>
              <a:buFont typeface="Wingdings" panose="05000000000000000000" pitchFamily="2" charset="2"/>
              <a:buChar char="§"/>
            </a:pPr>
            <a:r>
              <a:rPr lang="en-US" sz="1900" b="1" dirty="0">
                <a:solidFill>
                  <a:srgbClr val="000000"/>
                </a:solidFill>
                <a:effectLst/>
                <a:latin typeface="Times New Roman" panose="02020603050405020304" pitchFamily="18" charset="0"/>
                <a:cs typeface="Times New Roman" panose="02020603050405020304" pitchFamily="18" charset="0"/>
              </a:rPr>
              <a:t>Breach of Integrity - </a:t>
            </a:r>
            <a:r>
              <a:rPr lang="en-US" sz="1900" b="0" dirty="0">
                <a:solidFill>
                  <a:srgbClr val="000000"/>
                </a:solidFill>
                <a:effectLst/>
                <a:latin typeface="Times New Roman" panose="02020603050405020304" pitchFamily="18" charset="0"/>
                <a:cs typeface="Times New Roman" panose="02020603050405020304" pitchFamily="18" charset="0"/>
              </a:rPr>
              <a:t>Unauthorized </a:t>
            </a:r>
            <a:r>
              <a:rPr lang="en-US" sz="1900" b="1" dirty="0">
                <a:solidFill>
                  <a:srgbClr val="000000"/>
                </a:solidFill>
                <a:effectLst/>
                <a:latin typeface="Times New Roman" panose="02020603050405020304" pitchFamily="18" charset="0"/>
                <a:cs typeface="Times New Roman" panose="02020603050405020304" pitchFamily="18" charset="0"/>
              </a:rPr>
              <a:t>modification</a:t>
            </a:r>
            <a:r>
              <a:rPr lang="en-US" sz="1900" b="0" dirty="0">
                <a:solidFill>
                  <a:srgbClr val="000000"/>
                </a:solidFill>
                <a:effectLst/>
                <a:latin typeface="Times New Roman" panose="02020603050405020304" pitchFamily="18" charset="0"/>
                <a:cs typeface="Times New Roman" panose="02020603050405020304" pitchFamily="18" charset="0"/>
              </a:rPr>
              <a:t> of data, which may have serious indirect consequences. For example a popular game or other program's source code could be modified to open up security holes on users systems before being released to the public.</a:t>
            </a:r>
          </a:p>
          <a:p>
            <a:pPr marL="742950" lvl="1" indent="-285750" algn="just">
              <a:lnSpc>
                <a:spcPct val="100000"/>
              </a:lnSpc>
              <a:spcBef>
                <a:spcPts val="700"/>
              </a:spcBef>
              <a:spcAft>
                <a:spcPts val="700"/>
              </a:spcAft>
              <a:buFont typeface="Wingdings" panose="05000000000000000000" pitchFamily="2" charset="2"/>
              <a:buChar char="§"/>
            </a:pPr>
            <a:r>
              <a:rPr lang="en-US" sz="1900" b="1" dirty="0">
                <a:solidFill>
                  <a:srgbClr val="000000"/>
                </a:solidFill>
                <a:effectLst/>
                <a:latin typeface="Times New Roman" panose="02020603050405020304" pitchFamily="18" charset="0"/>
                <a:cs typeface="Times New Roman" panose="02020603050405020304" pitchFamily="18" charset="0"/>
              </a:rPr>
              <a:t>Breach of Availability - </a:t>
            </a:r>
            <a:r>
              <a:rPr lang="en-US" sz="1900" b="0" dirty="0">
                <a:solidFill>
                  <a:srgbClr val="000000"/>
                </a:solidFill>
                <a:effectLst/>
                <a:latin typeface="Times New Roman" panose="02020603050405020304" pitchFamily="18" charset="0"/>
                <a:cs typeface="Times New Roman" panose="02020603050405020304" pitchFamily="18" charset="0"/>
              </a:rPr>
              <a:t>Unauthorized </a:t>
            </a:r>
            <a:r>
              <a:rPr lang="en-US" sz="1900" b="1" dirty="0">
                <a:solidFill>
                  <a:srgbClr val="000000"/>
                </a:solidFill>
                <a:effectLst/>
                <a:latin typeface="Times New Roman" panose="02020603050405020304" pitchFamily="18" charset="0"/>
                <a:cs typeface="Times New Roman" panose="02020603050405020304" pitchFamily="18" charset="0"/>
              </a:rPr>
              <a:t>destruction</a:t>
            </a:r>
            <a:r>
              <a:rPr lang="en-US" sz="1900" b="0" dirty="0">
                <a:solidFill>
                  <a:srgbClr val="000000"/>
                </a:solidFill>
                <a:effectLst/>
                <a:latin typeface="Times New Roman" panose="02020603050405020304" pitchFamily="18" charset="0"/>
                <a:cs typeface="Times New Roman" panose="02020603050405020304" pitchFamily="18" charset="0"/>
              </a:rPr>
              <a:t> of data, often just for the "fun“, s</a:t>
            </a:r>
            <a:r>
              <a:rPr lang="en-US" sz="1900" dirty="0">
                <a:effectLst/>
                <a:latin typeface="Times New Roman" panose="02020603050405020304" pitchFamily="18" charset="0"/>
                <a:cs typeface="Times New Roman" panose="02020603050405020304" pitchFamily="18" charset="0"/>
              </a:rPr>
              <a:t>ome crackers would rather wreak havoc and gain status or bragging rights than gain financially. Website defacement is a common example of this type of security breach.</a:t>
            </a:r>
            <a:endParaRPr lang="en-US" sz="1900" b="0" dirty="0">
              <a:solidFill>
                <a:srgbClr val="000000"/>
              </a:solidFill>
              <a:effectLst/>
              <a:latin typeface="Times New Roman" panose="02020603050405020304" pitchFamily="18" charset="0"/>
              <a:cs typeface="Times New Roman" panose="02020603050405020304" pitchFamily="18" charset="0"/>
            </a:endParaRPr>
          </a:p>
          <a:p>
            <a:pPr marL="457200" lvl="1" indent="0" algn="just">
              <a:lnSpc>
                <a:spcPct val="100000"/>
              </a:lnSpc>
              <a:spcBef>
                <a:spcPts val="700"/>
              </a:spcBef>
              <a:spcAft>
                <a:spcPts val="700"/>
              </a:spcAft>
              <a:buNone/>
            </a:pPr>
            <a:r>
              <a:rPr lang="en-US" sz="1900" b="0" i="0" dirty="0">
                <a:solidFill>
                  <a:srgbClr val="202124"/>
                </a:solidFill>
                <a:effectLst/>
                <a:latin typeface="Times New Roman" panose="02020603050405020304" pitchFamily="18" charset="0"/>
                <a:cs typeface="Times New Roman" panose="02020603050405020304" pitchFamily="18" charset="0"/>
              </a:rPr>
              <a:t>  ( Web defacement is </a:t>
            </a:r>
            <a:r>
              <a:rPr lang="en-US" sz="1900" b="1" i="0" dirty="0">
                <a:solidFill>
                  <a:srgbClr val="202124"/>
                </a:solidFill>
                <a:effectLst/>
                <a:latin typeface="Times New Roman" panose="02020603050405020304" pitchFamily="18" charset="0"/>
                <a:cs typeface="Times New Roman" panose="02020603050405020304" pitchFamily="18" charset="0"/>
              </a:rPr>
              <a:t>an attack in which malicious parties penetrate a website and replace content on the site with their own messages</a:t>
            </a:r>
            <a:r>
              <a:rPr lang="en-US" sz="1900" b="0" i="0" dirty="0">
                <a:solidFill>
                  <a:srgbClr val="202124"/>
                </a:solidFill>
                <a:effectLst/>
                <a:latin typeface="Times New Roman" panose="02020603050405020304" pitchFamily="18" charset="0"/>
                <a:cs typeface="Times New Roman" panose="02020603050405020304" pitchFamily="18" charset="0"/>
              </a:rPr>
              <a:t>.)</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743E98DE-AFBB-4687-A466-A797E8E5745F}"/>
              </a:ext>
            </a:extLst>
          </p:cNvPr>
          <p:cNvSpPr>
            <a:spLocks noGrp="1"/>
          </p:cNvSpPr>
          <p:nvPr>
            <p:ph type="title"/>
          </p:nvPr>
        </p:nvSpPr>
        <p:spPr>
          <a:xfrm>
            <a:off x="0" y="253514"/>
            <a:ext cx="7227896" cy="479910"/>
          </a:xfrm>
        </p:spPr>
        <p:txBody>
          <a:bodyPr>
            <a:normAutofit/>
          </a:bodyPr>
          <a:lstStyle/>
          <a:p>
            <a:r>
              <a:rPr lang="en-IN" sz="2800" dirty="0">
                <a:latin typeface="Times New Roman" panose="02020603050405020304" pitchFamily="18" charset="0"/>
                <a:cs typeface="Times New Roman" panose="02020603050405020304" pitchFamily="18" charset="0"/>
              </a:rPr>
              <a:t>Security Violations :</a:t>
            </a:r>
          </a:p>
        </p:txBody>
      </p:sp>
    </p:spTree>
    <p:extLst>
      <p:ext uri="{BB962C8B-B14F-4D97-AF65-F5344CB8AC3E}">
        <p14:creationId xmlns:p14="http://schemas.microsoft.com/office/powerpoint/2010/main" val="27823536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51DF9F-B37B-4F6B-872C-D6A4AF7ADBC8}"/>
              </a:ext>
            </a:extLst>
          </p:cNvPr>
          <p:cNvSpPr>
            <a:spLocks noGrp="1"/>
          </p:cNvSpPr>
          <p:nvPr>
            <p:ph idx="1"/>
          </p:nvPr>
        </p:nvSpPr>
        <p:spPr>
          <a:xfrm>
            <a:off x="453325" y="954157"/>
            <a:ext cx="8237348" cy="5222806"/>
          </a:xfrm>
        </p:spPr>
        <p:txBody>
          <a:bodyPr>
            <a:noAutofit/>
          </a:bodyPr>
          <a:lstStyle/>
          <a:p>
            <a:pPr marL="742950" lvl="1" indent="-285750" algn="just">
              <a:lnSpc>
                <a:spcPct val="110000"/>
              </a:lnSpc>
              <a:spcBef>
                <a:spcPts val="700"/>
              </a:spcBef>
              <a:spcAft>
                <a:spcPts val="700"/>
              </a:spcAft>
              <a:buFont typeface="Arial" panose="020B0604020202020204" pitchFamily="34" charset="0"/>
              <a:buChar char="•"/>
            </a:pPr>
            <a:r>
              <a:rPr lang="en-US" sz="1900" b="1" dirty="0">
                <a:solidFill>
                  <a:srgbClr val="000000"/>
                </a:solidFill>
                <a:effectLst/>
                <a:latin typeface="Times New Roman" panose="02020603050405020304" pitchFamily="18" charset="0"/>
                <a:cs typeface="Times New Roman" panose="02020603050405020304" pitchFamily="18" charset="0"/>
              </a:rPr>
              <a:t>Theft of Service - </a:t>
            </a:r>
            <a:r>
              <a:rPr lang="en-US" sz="1900" b="0" dirty="0">
                <a:solidFill>
                  <a:srgbClr val="000000"/>
                </a:solidFill>
                <a:effectLst/>
                <a:latin typeface="Times New Roman" panose="02020603050405020304" pitchFamily="18" charset="0"/>
                <a:cs typeface="Times New Roman" panose="02020603050405020304" pitchFamily="18" charset="0"/>
              </a:rPr>
              <a:t>Unauthorized use of resources, such as theft of CPU cycles, installation of daemons running an unauthorized file server, or tapping into the target's telephone or networking services.</a:t>
            </a:r>
          </a:p>
          <a:p>
            <a:pPr marL="742950" lvl="1" indent="-285750" algn="just">
              <a:lnSpc>
                <a:spcPct val="110000"/>
              </a:lnSpc>
              <a:spcBef>
                <a:spcPts val="700"/>
              </a:spcBef>
              <a:spcAft>
                <a:spcPts val="700"/>
              </a:spcAft>
              <a:buFont typeface="Arial" panose="020B0604020202020204" pitchFamily="34" charset="0"/>
              <a:buChar char="•"/>
            </a:pPr>
            <a:r>
              <a:rPr lang="en-US" sz="1900" b="1" dirty="0">
                <a:solidFill>
                  <a:srgbClr val="000000"/>
                </a:solidFill>
                <a:effectLst/>
                <a:latin typeface="Times New Roman" panose="02020603050405020304" pitchFamily="18" charset="0"/>
                <a:cs typeface="Times New Roman" panose="02020603050405020304" pitchFamily="18" charset="0"/>
              </a:rPr>
              <a:t>Denial of Service, DOS - </a:t>
            </a:r>
            <a:r>
              <a:rPr lang="en-US" sz="1900" dirty="0">
                <a:effectLst/>
                <a:latin typeface="Times New Roman" panose="02020603050405020304" pitchFamily="18" charset="0"/>
                <a:cs typeface="Times New Roman" panose="02020603050405020304" pitchFamily="18" charset="0"/>
              </a:rPr>
              <a:t> This violation involves preventing legitimate use of the system. Denial-of-service (DOS) attacks are sometimes accidental. The original Internet worm turned into a DOS attack when a bug failed to delay its rapid spread. </a:t>
            </a:r>
            <a:endParaRPr lang="en-US" sz="1900" b="0" dirty="0">
              <a:solidFill>
                <a:srgbClr val="000000"/>
              </a:solidFill>
              <a:effectLst/>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4FCD92D-B9A2-461C-9ADE-3FFF8507FB02}"/>
              </a:ext>
            </a:extLst>
          </p:cNvPr>
          <p:cNvSpPr>
            <a:spLocks noGrp="1"/>
          </p:cNvSpPr>
          <p:nvPr>
            <p:ph type="title"/>
          </p:nvPr>
        </p:nvSpPr>
        <p:spPr>
          <a:xfrm>
            <a:off x="0" y="253514"/>
            <a:ext cx="7227896" cy="479910"/>
          </a:xfrm>
        </p:spPr>
        <p:txBody>
          <a:bodyPr>
            <a:normAutofit/>
          </a:bodyPr>
          <a:lstStyle/>
          <a:p>
            <a:r>
              <a:rPr lang="en-IN" sz="2800" dirty="0">
                <a:latin typeface="Times New Roman" panose="02020603050405020304" pitchFamily="18" charset="0"/>
                <a:cs typeface="Times New Roman" panose="02020603050405020304" pitchFamily="18" charset="0"/>
              </a:rPr>
              <a:t>Security Violations :</a:t>
            </a:r>
            <a:endParaRPr lang="en-IN" sz="2800" dirty="0"/>
          </a:p>
        </p:txBody>
      </p:sp>
    </p:spTree>
    <p:extLst>
      <p:ext uri="{BB962C8B-B14F-4D97-AF65-F5344CB8AC3E}">
        <p14:creationId xmlns:p14="http://schemas.microsoft.com/office/powerpoint/2010/main" val="18379740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436E89-6C47-4D14-A743-054079B3E816}"/>
              </a:ext>
            </a:extLst>
          </p:cNvPr>
          <p:cNvSpPr>
            <a:spLocks noGrp="1"/>
          </p:cNvSpPr>
          <p:nvPr>
            <p:ph idx="1"/>
          </p:nvPr>
        </p:nvSpPr>
        <p:spPr>
          <a:xfrm>
            <a:off x="453325" y="914400"/>
            <a:ext cx="8237348" cy="5262563"/>
          </a:xfrm>
        </p:spPr>
        <p:txBody>
          <a:bodyPr/>
          <a:lstStyle/>
          <a:p>
            <a:pPr algn="just">
              <a:lnSpc>
                <a:spcPct val="100000"/>
              </a:lnSpc>
              <a:spcBef>
                <a:spcPts val="700"/>
              </a:spcBef>
              <a:spcAft>
                <a:spcPts val="700"/>
              </a:spcAft>
            </a:pPr>
            <a:r>
              <a:rPr lang="en-US" sz="1900" dirty="0">
                <a:effectLst/>
                <a:latin typeface="Times New Roman" panose="02020603050405020304" pitchFamily="18" charset="0"/>
                <a:cs typeface="Times New Roman" panose="02020603050405020304" pitchFamily="18" charset="0"/>
              </a:rPr>
              <a:t>Attackers use several standard methods in their attempts to breach security.</a:t>
            </a:r>
          </a:p>
          <a:p>
            <a:pPr marL="285750" indent="-285750" algn="just">
              <a:lnSpc>
                <a:spcPct val="100000"/>
              </a:lnSpc>
              <a:spcBef>
                <a:spcPts val="700"/>
              </a:spcBef>
              <a:spcAft>
                <a:spcPts val="700"/>
              </a:spcAft>
              <a:buFont typeface="Wingdings" panose="05000000000000000000" pitchFamily="2" charset="2"/>
              <a:buChar char="q"/>
            </a:pPr>
            <a:r>
              <a:rPr lang="en-US" sz="1900" b="1" dirty="0">
                <a:effectLst/>
                <a:latin typeface="Times New Roman" panose="02020603050405020304" pitchFamily="18" charset="0"/>
                <a:cs typeface="Times New Roman" panose="02020603050405020304" pitchFamily="18" charset="0"/>
              </a:rPr>
              <a:t>Masquerading,</a:t>
            </a:r>
            <a:r>
              <a:rPr lang="en-US" sz="1900" dirty="0">
                <a:effectLst/>
                <a:latin typeface="Times New Roman" panose="02020603050405020304" pitchFamily="18" charset="0"/>
                <a:cs typeface="Times New Roman" panose="02020603050405020304" pitchFamily="18" charset="0"/>
              </a:rPr>
              <a:t> in which one participant in a communication pretends to be someone else (another host or another person). By masquerading, attackers breach authentication, the correctness of identification</a:t>
            </a:r>
            <a:endParaRPr lang="en-IN" sz="1900"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A </a:t>
            </a:r>
            <a:r>
              <a:rPr lang="en-US" sz="1900" b="1" dirty="0">
                <a:effectLst/>
                <a:latin typeface="Times New Roman" panose="02020603050405020304" pitchFamily="18" charset="0"/>
                <a:cs typeface="Times New Roman" panose="02020603050405020304" pitchFamily="18" charset="0"/>
              </a:rPr>
              <a:t>replay attack </a:t>
            </a:r>
            <a:r>
              <a:rPr lang="en-US" sz="1900" dirty="0">
                <a:effectLst/>
                <a:latin typeface="Times New Roman" panose="02020603050405020304" pitchFamily="18" charset="0"/>
                <a:cs typeface="Times New Roman" panose="02020603050405020304" pitchFamily="18" charset="0"/>
              </a:rPr>
              <a:t>consists of the malicious or fraudulent repeat of a valid data transmission. Sometimes the replay comprises the entire attack (for example, in a repeat of a request to transfer money),</a:t>
            </a:r>
            <a:r>
              <a:rPr lang="en-US" sz="1900" dirty="0">
                <a:latin typeface="Times New Roman" panose="02020603050405020304" pitchFamily="18" charset="0"/>
                <a:cs typeface="Times New Roman" panose="02020603050405020304" pitchFamily="18" charset="0"/>
              </a:rPr>
              <a:t>b</a:t>
            </a:r>
            <a:r>
              <a:rPr lang="en-US" sz="1900" dirty="0">
                <a:effectLst/>
                <a:latin typeface="Times New Roman" panose="02020603050405020304" pitchFamily="18" charset="0"/>
                <a:cs typeface="Times New Roman" panose="02020603050405020304" pitchFamily="18" charset="0"/>
              </a:rPr>
              <a:t>ut frequently it is done along with </a:t>
            </a:r>
            <a:r>
              <a:rPr lang="en-US" sz="1900" b="1" dirty="0">
                <a:effectLst/>
                <a:latin typeface="Times New Roman" panose="02020603050405020304" pitchFamily="18" charset="0"/>
                <a:cs typeface="Times New Roman" panose="02020603050405020304" pitchFamily="18" charset="0"/>
              </a:rPr>
              <a:t>message modification</a:t>
            </a:r>
            <a:r>
              <a:rPr lang="en-US" sz="1900" dirty="0">
                <a:effectLst/>
                <a:latin typeface="Times New Roman" panose="02020603050405020304" pitchFamily="18" charset="0"/>
                <a:cs typeface="Times New Roman" panose="02020603050405020304" pitchFamily="18" charset="0"/>
              </a:rPr>
              <a:t>, again to escalate privileges.</a:t>
            </a:r>
            <a:endParaRPr lang="en-IN" sz="1900"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q"/>
            </a:pPr>
            <a:r>
              <a:rPr lang="en-US" sz="1900" dirty="0">
                <a:effectLst/>
                <a:latin typeface="Times New Roman" panose="02020603050405020304" pitchFamily="18" charset="0"/>
              </a:rPr>
              <a:t>The </a:t>
            </a:r>
            <a:r>
              <a:rPr lang="en-US" sz="1900" b="1" dirty="0">
                <a:effectLst/>
                <a:latin typeface="Times New Roman" panose="02020603050405020304" pitchFamily="18" charset="0"/>
              </a:rPr>
              <a:t>man-in-the-middle attack</a:t>
            </a:r>
            <a:r>
              <a:rPr lang="en-US" sz="1900" dirty="0">
                <a:effectLst/>
                <a:latin typeface="Times New Roman" panose="02020603050405020304" pitchFamily="18" charset="0"/>
              </a:rPr>
              <a:t>, in which an attacker sits in the data flow of a communication, masquerading as the sender to the receiver, and vice versa.</a:t>
            </a:r>
          </a:p>
          <a:p>
            <a:pPr marL="285750" indent="-285750">
              <a:lnSpc>
                <a:spcPct val="100000"/>
              </a:lnSpc>
              <a:buFont typeface="Wingdings" panose="05000000000000000000" pitchFamily="2" charset="2"/>
              <a:buChar char="q"/>
            </a:pPr>
            <a:r>
              <a:rPr lang="en-US" sz="1900" dirty="0">
                <a:effectLst/>
                <a:latin typeface="Times New Roman" panose="02020603050405020304" pitchFamily="18" charset="0"/>
              </a:rPr>
              <a:t>In a network communication, a man-in-the-middle attack may be preceded by a </a:t>
            </a:r>
            <a:r>
              <a:rPr lang="en-US" sz="1900" b="1" dirty="0">
                <a:effectLst/>
                <a:latin typeface="Times New Roman" panose="02020603050405020304" pitchFamily="18" charset="0"/>
              </a:rPr>
              <a:t>session hijacking</a:t>
            </a:r>
            <a:r>
              <a:rPr lang="en-US" sz="1900" dirty="0">
                <a:effectLst/>
                <a:latin typeface="Times New Roman" panose="02020603050405020304" pitchFamily="18" charset="0"/>
              </a:rPr>
              <a:t>, in which an active communication session is intercepted</a:t>
            </a:r>
            <a:r>
              <a:rPr lang="en-US" dirty="0">
                <a:effectLst/>
                <a:latin typeface="Times New Roman" panose="02020603050405020304" pitchFamily="18" charset="0"/>
              </a:rPr>
              <a:t>. </a:t>
            </a:r>
            <a:endParaRPr lang="en-IN" dirty="0"/>
          </a:p>
        </p:txBody>
      </p:sp>
      <p:sp>
        <p:nvSpPr>
          <p:cNvPr id="3" name="Title 2">
            <a:extLst>
              <a:ext uri="{FF2B5EF4-FFF2-40B4-BE49-F238E27FC236}">
                <a16:creationId xmlns:a16="http://schemas.microsoft.com/office/drawing/2014/main" id="{7DECFEC9-E3F1-4127-9BB3-0AC5FC7DF0A1}"/>
              </a:ext>
            </a:extLst>
          </p:cNvPr>
          <p:cNvSpPr>
            <a:spLocks noGrp="1"/>
          </p:cNvSpPr>
          <p:nvPr>
            <p:ph type="title"/>
          </p:nvPr>
        </p:nvSpPr>
        <p:spPr>
          <a:xfrm>
            <a:off x="0" y="253514"/>
            <a:ext cx="7227896" cy="479910"/>
          </a:xfrm>
        </p:spPr>
        <p:txBody>
          <a:bodyPr>
            <a:normAutofit/>
          </a:bodyPr>
          <a:lstStyle/>
          <a:p>
            <a:r>
              <a:rPr lang="en-IN" sz="2800" dirty="0">
                <a:latin typeface="Times New Roman" panose="02020603050405020304" pitchFamily="18" charset="0"/>
                <a:cs typeface="Times New Roman" panose="02020603050405020304" pitchFamily="18" charset="0"/>
              </a:rPr>
              <a:t>Security Methods :</a:t>
            </a:r>
            <a:endParaRPr lang="en-IN" sz="2800" dirty="0"/>
          </a:p>
        </p:txBody>
      </p:sp>
    </p:spTree>
    <p:extLst>
      <p:ext uri="{BB962C8B-B14F-4D97-AF65-F5344CB8AC3E}">
        <p14:creationId xmlns:p14="http://schemas.microsoft.com/office/powerpoint/2010/main" val="27095731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392691-774B-4741-B98E-213190A08BF3}"/>
              </a:ext>
            </a:extLst>
          </p:cNvPr>
          <p:cNvSpPr>
            <a:spLocks noGrp="1"/>
          </p:cNvSpPr>
          <p:nvPr>
            <p:ph type="title"/>
          </p:nvPr>
        </p:nvSpPr>
        <p:spPr>
          <a:xfrm>
            <a:off x="119270" y="253514"/>
            <a:ext cx="7108626" cy="479910"/>
          </a:xfrm>
        </p:spPr>
        <p:txBody>
          <a:bodyPr/>
          <a:lstStyle/>
          <a:p>
            <a:r>
              <a:rPr lang="en-IN" dirty="0"/>
              <a:t>Standard Security Attacks :</a:t>
            </a:r>
          </a:p>
        </p:txBody>
      </p:sp>
      <p:pic>
        <p:nvPicPr>
          <p:cNvPr id="1026" name="Picture 2">
            <a:extLst>
              <a:ext uri="{FF2B5EF4-FFF2-40B4-BE49-F238E27FC236}">
                <a16:creationId xmlns:a16="http://schemas.microsoft.com/office/drawing/2014/main" id="{52332972-C160-4F52-8365-F12A360ADAD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3826" y="927100"/>
            <a:ext cx="8136835" cy="5553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02706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BED85E-FC74-4269-A850-683791CC6995}"/>
              </a:ext>
            </a:extLst>
          </p:cNvPr>
          <p:cNvSpPr>
            <a:spLocks noGrp="1"/>
          </p:cNvSpPr>
          <p:nvPr>
            <p:ph idx="1"/>
          </p:nvPr>
        </p:nvSpPr>
        <p:spPr>
          <a:xfrm>
            <a:off x="453325" y="834887"/>
            <a:ext cx="8237348" cy="5342076"/>
          </a:xfrm>
        </p:spPr>
        <p:txBody>
          <a:bodyPr>
            <a:normAutofit lnSpcReduction="10000"/>
          </a:bodyPr>
          <a:lstStyle/>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Absolute protection of the system from malicious abuse is not possible, but the cost to the perpetrator can be made sufficiently high to deter most intruders.</a:t>
            </a:r>
          </a:p>
          <a:p>
            <a:pPr algn="just">
              <a:lnSpc>
                <a:spcPct val="100000"/>
              </a:lnSpc>
              <a:spcBef>
                <a:spcPts val="700"/>
              </a:spcBef>
              <a:spcAft>
                <a:spcPts val="700"/>
              </a:spcAft>
              <a:buNone/>
            </a:pPr>
            <a:r>
              <a:rPr lang="en-US" sz="1900" dirty="0">
                <a:effectLst/>
                <a:latin typeface="Times New Roman" panose="02020603050405020304" pitchFamily="18" charset="0"/>
                <a:cs typeface="Times New Roman" panose="02020603050405020304" pitchFamily="18" charset="0"/>
              </a:rPr>
              <a:t>To protect a system, we must take security measures at four levels:</a:t>
            </a:r>
          </a:p>
          <a:p>
            <a:pPr algn="just">
              <a:lnSpc>
                <a:spcPct val="100000"/>
              </a:lnSpc>
              <a:spcBef>
                <a:spcPts val="700"/>
              </a:spcBef>
              <a:spcAft>
                <a:spcPts val="700"/>
              </a:spcAft>
              <a:buNone/>
            </a:pPr>
            <a:r>
              <a:rPr lang="en-IN" sz="1900" b="1" dirty="0">
                <a:latin typeface="Times New Roman" panose="02020603050405020304" pitchFamily="18" charset="0"/>
                <a:cs typeface="Times New Roman" panose="02020603050405020304" pitchFamily="18" charset="0"/>
              </a:rPr>
              <a:t>1. Physical</a:t>
            </a:r>
            <a:r>
              <a:rPr lang="en-IN" sz="1900" dirty="0">
                <a:latin typeface="Times New Roman" panose="02020603050405020304" pitchFamily="18" charset="0"/>
                <a:cs typeface="Times New Roman" panose="02020603050405020304" pitchFamily="18" charset="0"/>
              </a:rPr>
              <a:t>  -</a:t>
            </a:r>
            <a:r>
              <a:rPr lang="en-US" sz="1900" dirty="0">
                <a:effectLst/>
                <a:latin typeface="Times New Roman" panose="02020603050405020304" pitchFamily="18" charset="0"/>
                <a:cs typeface="Times New Roman" panose="02020603050405020304" pitchFamily="18" charset="0"/>
              </a:rPr>
              <a:t> The site or sites containing the computer systems must be</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physically secured against armed or surreptitious entry by intruders. The machine rooms,</a:t>
            </a:r>
            <a:r>
              <a:rPr lang="en-IN" sz="1900" dirty="0">
                <a:latin typeface="Times New Roman" panose="02020603050405020304" pitchFamily="18" charset="0"/>
                <a:cs typeface="Times New Roman" panose="02020603050405020304" pitchFamily="18" charset="0"/>
              </a:rPr>
              <a:t> Data centres, servers, connected terminals</a:t>
            </a:r>
            <a:r>
              <a:rPr lang="en-US" sz="1900" dirty="0">
                <a:effectLst/>
                <a:latin typeface="Times New Roman" panose="02020603050405020304" pitchFamily="18" charset="0"/>
                <a:cs typeface="Times New Roman" panose="02020603050405020304" pitchFamily="18" charset="0"/>
              </a:rPr>
              <a:t>  or workstations that  have access to the machines must be secured.</a:t>
            </a:r>
            <a:endParaRPr lang="en-IN" sz="1900" dirty="0">
              <a:latin typeface="Times New Roman" panose="02020603050405020304" pitchFamily="18" charset="0"/>
              <a:cs typeface="Times New Roman" panose="02020603050405020304" pitchFamily="18" charset="0"/>
            </a:endParaRPr>
          </a:p>
          <a:p>
            <a:pPr algn="just">
              <a:lnSpc>
                <a:spcPct val="100000"/>
              </a:lnSpc>
              <a:spcBef>
                <a:spcPts val="700"/>
              </a:spcBef>
              <a:spcAft>
                <a:spcPts val="700"/>
              </a:spcAft>
              <a:buNone/>
            </a:pPr>
            <a:r>
              <a:rPr lang="en-IN" sz="1900" b="1" dirty="0">
                <a:latin typeface="Times New Roman" panose="02020603050405020304" pitchFamily="18" charset="0"/>
                <a:cs typeface="Times New Roman" panose="02020603050405020304" pitchFamily="18" charset="0"/>
              </a:rPr>
              <a:t>2.</a:t>
            </a:r>
            <a:r>
              <a:rPr lang="en-IN" sz="1900" dirty="0">
                <a:latin typeface="Times New Roman" panose="02020603050405020304" pitchFamily="18" charset="0"/>
                <a:cs typeface="Times New Roman" panose="02020603050405020304" pitchFamily="18" charset="0"/>
              </a:rPr>
              <a:t> </a:t>
            </a:r>
            <a:r>
              <a:rPr lang="en-IN" sz="1900" b="1" dirty="0">
                <a:latin typeface="Times New Roman" panose="02020603050405020304" pitchFamily="18" charset="0"/>
                <a:cs typeface="Times New Roman" panose="02020603050405020304" pitchFamily="18" charset="0"/>
              </a:rPr>
              <a:t>Human</a:t>
            </a:r>
            <a:r>
              <a:rPr lang="en-IN" sz="1900" dirty="0">
                <a:latin typeface="Times New Roman" panose="02020603050405020304" pitchFamily="18" charset="0"/>
                <a:cs typeface="Times New Roman" panose="02020603050405020304" pitchFamily="18" charset="0"/>
              </a:rPr>
              <a:t> - </a:t>
            </a:r>
            <a:r>
              <a:rPr lang="en-US" sz="1900" dirty="0">
                <a:effectLst/>
                <a:latin typeface="Times New Roman" panose="02020603050405020304" pitchFamily="18" charset="0"/>
                <a:cs typeface="Times New Roman" panose="02020603050405020304" pitchFamily="18" charset="0"/>
              </a:rPr>
              <a:t>Authorization must be done carefully to assure that only</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appropriate users have access to the system.</a:t>
            </a:r>
          </a:p>
          <a:p>
            <a:pPr marL="285750" indent="-285750" algn="just">
              <a:lnSpc>
                <a:spcPct val="100000"/>
              </a:lnSpc>
              <a:spcBef>
                <a:spcPts val="700"/>
              </a:spcBef>
              <a:spcAft>
                <a:spcPts val="700"/>
              </a:spcAft>
              <a:buFont typeface="Wingdings" panose="05000000000000000000" pitchFamily="2" charset="2"/>
              <a:buChar char="q"/>
            </a:pPr>
            <a:r>
              <a:rPr lang="en-US" sz="1900" b="0" dirty="0">
                <a:solidFill>
                  <a:srgbClr val="000000"/>
                </a:solidFill>
                <a:effectLst/>
                <a:latin typeface="Times New Roman" panose="02020603050405020304" pitchFamily="18" charset="0"/>
                <a:cs typeface="Times New Roman" panose="02020603050405020304" pitchFamily="18" charset="0"/>
              </a:rPr>
              <a:t>However more and more attacks today are made via </a:t>
            </a:r>
            <a:r>
              <a:rPr lang="en-US" sz="1900" b="1" dirty="0">
                <a:solidFill>
                  <a:srgbClr val="000000"/>
                </a:solidFill>
                <a:effectLst/>
                <a:latin typeface="Times New Roman" panose="02020603050405020304" pitchFamily="18" charset="0"/>
                <a:cs typeface="Times New Roman" panose="02020603050405020304" pitchFamily="18" charset="0"/>
              </a:rPr>
              <a:t>social engineering, </a:t>
            </a:r>
            <a:r>
              <a:rPr lang="en-US" sz="1900" b="0" dirty="0">
                <a:solidFill>
                  <a:srgbClr val="000000"/>
                </a:solidFill>
                <a:effectLst/>
                <a:latin typeface="Times New Roman" panose="02020603050405020304" pitchFamily="18" charset="0"/>
                <a:cs typeface="Times New Roman" panose="02020603050405020304" pitchFamily="18" charset="0"/>
              </a:rPr>
              <a:t>which basically means fooling trustworthy people into accidentally breaching security.</a:t>
            </a:r>
          </a:p>
          <a:p>
            <a:pPr marL="285750" indent="-285750" algn="just">
              <a:lnSpc>
                <a:spcPct val="100000"/>
              </a:lnSpc>
              <a:spcBef>
                <a:spcPts val="700"/>
              </a:spcBef>
              <a:spcAft>
                <a:spcPts val="700"/>
              </a:spcAft>
              <a:buFont typeface="Wingdings" panose="05000000000000000000" pitchFamily="2" charset="2"/>
              <a:buChar char="q"/>
            </a:pPr>
            <a:r>
              <a:rPr lang="en-US" sz="1900" b="1" i="0" dirty="0">
                <a:solidFill>
                  <a:srgbClr val="000000"/>
                </a:solidFill>
                <a:effectLst/>
                <a:latin typeface="Times New Roman" panose="02020603050405020304" pitchFamily="18" charset="0"/>
              </a:rPr>
              <a:t>Phishing</a:t>
            </a:r>
            <a:r>
              <a:rPr lang="en-US" sz="1900" b="0" i="0" dirty="0">
                <a:solidFill>
                  <a:srgbClr val="000000"/>
                </a:solidFill>
                <a:effectLst/>
                <a:latin typeface="Times New Roman" panose="02020603050405020304" pitchFamily="18" charset="0"/>
              </a:rPr>
              <a:t> involves sending an innocent-looking e-mail or web site designed to fool people into revealing confidential information. E.g. spam e-mails pretending to be from e-Bay, PayPal, or any of a number of banks or credit-card companies.</a:t>
            </a:r>
          </a:p>
          <a:p>
            <a:pPr marL="285750" indent="-285750" algn="just">
              <a:lnSpc>
                <a:spcPct val="100000"/>
              </a:lnSpc>
              <a:spcBef>
                <a:spcPts val="700"/>
              </a:spcBef>
              <a:spcAft>
                <a:spcPts val="700"/>
              </a:spcAft>
              <a:buFont typeface="Wingdings" panose="05000000000000000000" pitchFamily="2" charset="2"/>
              <a:buChar char="q"/>
            </a:pP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24285B68-65E9-4E71-A85D-92BCBDCC86B3}"/>
              </a:ext>
            </a:extLst>
          </p:cNvPr>
          <p:cNvSpPr>
            <a:spLocks noGrp="1"/>
          </p:cNvSpPr>
          <p:nvPr>
            <p:ph type="title"/>
          </p:nvPr>
        </p:nvSpPr>
        <p:spPr>
          <a:xfrm>
            <a:off x="0" y="253514"/>
            <a:ext cx="7227896" cy="479910"/>
          </a:xfrm>
        </p:spPr>
        <p:txBody>
          <a:bodyPr>
            <a:normAutofit/>
          </a:bodyPr>
          <a:lstStyle/>
          <a:p>
            <a:r>
              <a:rPr lang="en-IN" sz="2800" dirty="0">
                <a:latin typeface="Times New Roman" panose="02020603050405020304" pitchFamily="18" charset="0"/>
                <a:cs typeface="Times New Roman" panose="02020603050405020304" pitchFamily="18" charset="0"/>
              </a:rPr>
              <a:t>Security Measure Levels :</a:t>
            </a:r>
          </a:p>
        </p:txBody>
      </p:sp>
    </p:spTree>
    <p:extLst>
      <p:ext uri="{BB962C8B-B14F-4D97-AF65-F5344CB8AC3E}">
        <p14:creationId xmlns:p14="http://schemas.microsoft.com/office/powerpoint/2010/main" val="20665201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E2CCC1-3D23-4B27-AB6D-A92708D1C023}"/>
              </a:ext>
            </a:extLst>
          </p:cNvPr>
          <p:cNvSpPr>
            <a:spLocks noGrp="1"/>
          </p:cNvSpPr>
          <p:nvPr>
            <p:ph idx="1"/>
          </p:nvPr>
        </p:nvSpPr>
        <p:spPr>
          <a:xfrm>
            <a:off x="453325" y="901148"/>
            <a:ext cx="8237348" cy="5275815"/>
          </a:xfrm>
        </p:spPr>
        <p:txBody>
          <a:bodyPr>
            <a:normAutofit/>
          </a:bodyPr>
          <a:lstStyle/>
          <a:p>
            <a:pPr marL="285750" indent="-285750" algn="just">
              <a:lnSpc>
                <a:spcPct val="100000"/>
              </a:lnSpc>
              <a:spcBef>
                <a:spcPts val="700"/>
              </a:spcBef>
              <a:spcAft>
                <a:spcPts val="700"/>
              </a:spcAft>
              <a:buFont typeface="Wingdings" panose="05000000000000000000" pitchFamily="2" charset="2"/>
              <a:buChar char="q"/>
            </a:pPr>
            <a:r>
              <a:rPr lang="en-US" sz="1900" b="1" i="0" dirty="0">
                <a:solidFill>
                  <a:srgbClr val="000000"/>
                </a:solidFill>
                <a:effectLst/>
                <a:latin typeface="Times New Roman" panose="02020603050405020304" pitchFamily="18" charset="0"/>
                <a:cs typeface="Times New Roman" panose="02020603050405020304" pitchFamily="18" charset="0"/>
              </a:rPr>
              <a:t>Dumpster Diving</a:t>
            </a:r>
            <a:r>
              <a:rPr lang="en-US" sz="1900" b="0" i="0" dirty="0">
                <a:solidFill>
                  <a:srgbClr val="000000"/>
                </a:solidFill>
                <a:effectLst/>
                <a:latin typeface="Times New Roman" panose="02020603050405020304" pitchFamily="18" charset="0"/>
                <a:cs typeface="Times New Roman" panose="02020603050405020304" pitchFamily="18" charset="0"/>
              </a:rPr>
              <a:t> : </a:t>
            </a:r>
            <a:r>
              <a:rPr lang="en-US" sz="1900" i="0" dirty="0">
                <a:solidFill>
                  <a:srgbClr val="000000"/>
                </a:solidFill>
                <a:effectLst/>
                <a:latin typeface="Times New Roman" panose="02020603050405020304" pitchFamily="18" charset="0"/>
                <a:cs typeface="Times New Roman" panose="02020603050405020304" pitchFamily="18" charset="0"/>
              </a:rPr>
              <a:t>It means </a:t>
            </a:r>
            <a:r>
              <a:rPr lang="en-US" sz="1900" i="0" dirty="0">
                <a:solidFill>
                  <a:srgbClr val="202124"/>
                </a:solidFill>
                <a:effectLst/>
                <a:latin typeface="Times New Roman" panose="02020603050405020304" pitchFamily="18" charset="0"/>
                <a:cs typeface="Times New Roman" panose="02020603050405020304" pitchFamily="18" charset="0"/>
              </a:rPr>
              <a:t>searching trash for  find useful information that can be used to attack a computer network. For</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example by looking through trash, finding phone books, or finding notes containing passwords.</a:t>
            </a:r>
            <a:r>
              <a:rPr lang="en-US" sz="1900" b="1" i="0" dirty="0">
                <a:solidFill>
                  <a:srgbClr val="000000"/>
                </a:solidFill>
                <a:effectLst/>
                <a:latin typeface="Times New Roman" panose="02020603050405020304" pitchFamily="18" charset="0"/>
                <a:cs typeface="Times New Roman" panose="02020603050405020304" pitchFamily="18" charset="0"/>
              </a:rPr>
              <a:t> </a:t>
            </a:r>
          </a:p>
          <a:p>
            <a:pPr marL="285750" indent="-285750" algn="just">
              <a:lnSpc>
                <a:spcPct val="100000"/>
              </a:lnSpc>
              <a:spcBef>
                <a:spcPts val="700"/>
              </a:spcBef>
              <a:spcAft>
                <a:spcPts val="700"/>
              </a:spcAft>
              <a:buFont typeface="Wingdings" panose="05000000000000000000" pitchFamily="2" charset="2"/>
              <a:buChar char="q"/>
            </a:pPr>
            <a:r>
              <a:rPr lang="en-US" sz="1900" b="1" i="0" dirty="0">
                <a:solidFill>
                  <a:srgbClr val="000000"/>
                </a:solidFill>
                <a:effectLst/>
                <a:latin typeface="Times New Roman" panose="02020603050405020304" pitchFamily="18" charset="0"/>
                <a:cs typeface="Times New Roman" panose="02020603050405020304" pitchFamily="18" charset="0"/>
              </a:rPr>
              <a:t>Password Cracking</a:t>
            </a:r>
            <a:r>
              <a:rPr lang="en-US" sz="1900" b="0" i="0" dirty="0">
                <a:solidFill>
                  <a:srgbClr val="000000"/>
                </a:solidFill>
                <a:effectLst/>
                <a:latin typeface="Times New Roman" panose="02020603050405020304" pitchFamily="18" charset="0"/>
                <a:cs typeface="Times New Roman" panose="02020603050405020304" pitchFamily="18" charset="0"/>
              </a:rPr>
              <a:t> involves divining users passwords, either by watching them type in their passwords, knowing something about them like their pet's names, or simply trying all words in common dictionaries. </a:t>
            </a:r>
            <a:endParaRPr lang="en-IN" sz="1900" dirty="0">
              <a:latin typeface="Times New Roman" panose="02020603050405020304" pitchFamily="18" charset="0"/>
              <a:cs typeface="Times New Roman" panose="02020603050405020304" pitchFamily="18" charset="0"/>
            </a:endParaRPr>
          </a:p>
          <a:p>
            <a:pPr algn="just">
              <a:lnSpc>
                <a:spcPct val="100000"/>
              </a:lnSpc>
              <a:spcBef>
                <a:spcPts val="700"/>
              </a:spcBef>
              <a:spcAft>
                <a:spcPts val="700"/>
              </a:spcAft>
              <a:buNone/>
            </a:pPr>
            <a:r>
              <a:rPr lang="en-IN" sz="1900" b="1" dirty="0">
                <a:latin typeface="Times New Roman" panose="02020603050405020304" pitchFamily="18" charset="0"/>
                <a:cs typeface="Times New Roman" panose="02020603050405020304" pitchFamily="18" charset="0"/>
              </a:rPr>
              <a:t>3.  Operating System </a:t>
            </a:r>
            <a:r>
              <a:rPr lang="en-IN" sz="1900" dirty="0">
                <a:latin typeface="Times New Roman" panose="02020603050405020304" pitchFamily="18" charset="0"/>
                <a:cs typeface="Times New Roman" panose="02020603050405020304" pitchFamily="18" charset="0"/>
              </a:rPr>
              <a:t>- </a:t>
            </a:r>
            <a:r>
              <a:rPr lang="en-US" sz="1900" b="0" i="0" dirty="0">
                <a:solidFill>
                  <a:srgbClr val="000000"/>
                </a:solidFill>
                <a:effectLst/>
                <a:latin typeface="Times New Roman" panose="02020603050405020304" pitchFamily="18" charset="0"/>
                <a:cs typeface="Times New Roman" panose="02020603050405020304" pitchFamily="18" charset="0"/>
              </a:rPr>
              <a:t>The OS must protect itself from security breaches, such as runaway processes ( denial of service ), memory-access violations, stack overflow violations, the launching of programs with excessive privileges, and many others.</a:t>
            </a:r>
            <a:endParaRPr lang="en-IN" sz="1900" dirty="0">
              <a:latin typeface="Times New Roman" panose="02020603050405020304" pitchFamily="18" charset="0"/>
              <a:cs typeface="Times New Roman" panose="02020603050405020304" pitchFamily="18" charset="0"/>
            </a:endParaRPr>
          </a:p>
          <a:p>
            <a:pPr algn="just">
              <a:lnSpc>
                <a:spcPct val="100000"/>
              </a:lnSpc>
              <a:spcBef>
                <a:spcPts val="700"/>
              </a:spcBef>
              <a:spcAft>
                <a:spcPts val="700"/>
              </a:spcAft>
              <a:buNone/>
            </a:pPr>
            <a:r>
              <a:rPr lang="en-IN" sz="1900" b="1" dirty="0">
                <a:latin typeface="Times New Roman" panose="02020603050405020304" pitchFamily="18" charset="0"/>
                <a:cs typeface="Times New Roman" panose="02020603050405020304" pitchFamily="18" charset="0"/>
              </a:rPr>
              <a:t>4. Network </a:t>
            </a:r>
            <a:r>
              <a:rPr lang="en-US" sz="1900" dirty="0">
                <a:effectLst/>
                <a:latin typeface="Times New Roman" panose="02020603050405020304" pitchFamily="18" charset="0"/>
                <a:cs typeface="Times New Roman" panose="02020603050405020304" pitchFamily="18" charset="0"/>
              </a:rPr>
              <a:t>Much computer data in modern systems travels over private</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leased lines, shared lines like the Internet, wireless connections, or dial-up</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lines. Intercepting these data could be just as harmful as breaking into a</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computer, and interruption of communications could constitute a remote</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denial-of-service attack, diminishing users’ use of and trust in the system.</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FED56B2E-6B79-4533-88AF-872C811F5220}"/>
              </a:ext>
            </a:extLst>
          </p:cNvPr>
          <p:cNvSpPr>
            <a:spLocks noGrp="1"/>
          </p:cNvSpPr>
          <p:nvPr>
            <p:ph type="title"/>
          </p:nvPr>
        </p:nvSpPr>
        <p:spPr>
          <a:xfrm>
            <a:off x="132522" y="253513"/>
            <a:ext cx="7095374" cy="427523"/>
          </a:xfrm>
        </p:spPr>
        <p:txBody>
          <a:bodyPr>
            <a:noAutofit/>
          </a:bodyPr>
          <a:lstStyle/>
          <a:p>
            <a:r>
              <a:rPr lang="en-IN" sz="2800" dirty="0">
                <a:latin typeface="Times New Roman" panose="02020603050405020304" pitchFamily="18" charset="0"/>
                <a:cs typeface="Times New Roman" panose="02020603050405020304" pitchFamily="18" charset="0"/>
              </a:rPr>
              <a:t>Security Measure Levels :</a:t>
            </a:r>
            <a:endParaRPr lang="en-IN" sz="2800" dirty="0"/>
          </a:p>
        </p:txBody>
      </p:sp>
    </p:spTree>
    <p:extLst>
      <p:ext uri="{BB962C8B-B14F-4D97-AF65-F5344CB8AC3E}">
        <p14:creationId xmlns:p14="http://schemas.microsoft.com/office/powerpoint/2010/main" val="30821709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37A41D-946F-4C34-B58F-D49AB18C37AE}"/>
              </a:ext>
            </a:extLst>
          </p:cNvPr>
          <p:cNvSpPr>
            <a:spLocks noGrp="1"/>
          </p:cNvSpPr>
          <p:nvPr>
            <p:ph idx="1"/>
          </p:nvPr>
        </p:nvSpPr>
        <p:spPr>
          <a:xfrm>
            <a:off x="453325" y="927652"/>
            <a:ext cx="8237348" cy="5249311"/>
          </a:xfrm>
        </p:spPr>
        <p:txBody>
          <a:bodyPr>
            <a:normAutofit/>
          </a:bodyPr>
          <a:lstStyle/>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Processes, along with the kernel, are the only means of accomplishing work on a computer. Therefore, writing a program that creates a breach of security, or causing a normal process to change its behavior and create a breach, is a common goal of crackers.</a:t>
            </a:r>
          </a:p>
          <a:p>
            <a:pPr marL="285750" indent="-285750" algn="just">
              <a:lnSpc>
                <a:spcPct val="100000"/>
              </a:lnSpc>
              <a:spcBef>
                <a:spcPts val="700"/>
              </a:spcBef>
              <a:spcAft>
                <a:spcPts val="700"/>
              </a:spcAft>
              <a:buFont typeface="Wingdings" panose="05000000000000000000" pitchFamily="2" charset="2"/>
              <a:buChar char="q"/>
            </a:pPr>
            <a:r>
              <a:rPr lang="en-IN" sz="1900" b="1" u="sng" dirty="0">
                <a:effectLst/>
                <a:latin typeface="Times New Roman" panose="02020603050405020304" pitchFamily="18" charset="0"/>
                <a:cs typeface="Times New Roman" panose="02020603050405020304" pitchFamily="18" charset="0"/>
              </a:rPr>
              <a:t>Trojan Horse</a:t>
            </a:r>
            <a:r>
              <a:rPr lang="en-US" sz="1900" b="1" u="sng" dirty="0">
                <a:latin typeface="Times New Roman" panose="02020603050405020304" pitchFamily="18" charset="0"/>
                <a:cs typeface="Times New Roman" panose="02020603050405020304" pitchFamily="18" charset="0"/>
              </a:rPr>
              <a:t>:</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A code segment that misuses its environment is called a Trojan horse.</a:t>
            </a:r>
          </a:p>
          <a:p>
            <a:pPr algn="just">
              <a:lnSpc>
                <a:spcPct val="100000"/>
              </a:lnSpc>
              <a:spcBef>
                <a:spcPts val="700"/>
              </a:spcBef>
              <a:spcAft>
                <a:spcPts val="700"/>
              </a:spcAft>
              <a:buNone/>
            </a:pPr>
            <a:r>
              <a:rPr lang="en-US" sz="1900" dirty="0">
                <a:latin typeface="Times New Roman" panose="02020603050405020304" pitchFamily="18" charset="0"/>
                <a:cs typeface="Times New Roman" panose="02020603050405020304" pitchFamily="18" charset="0"/>
              </a:rPr>
              <a:t>    Ex: Text Editor ,Boot Strap Program etc..</a:t>
            </a:r>
            <a:endParaRPr lang="en-US" sz="1900" dirty="0">
              <a:effectLst/>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r>
              <a:rPr lang="en-US" sz="1900" b="0" i="0" dirty="0">
                <a:effectLst/>
                <a:latin typeface="Times New Roman" panose="02020603050405020304" pitchFamily="18" charset="0"/>
                <a:cs typeface="Times New Roman" panose="02020603050405020304" pitchFamily="18" charset="0"/>
              </a:rPr>
              <a:t>Exploits are programs that contain data or code that takes advantage of a vulnerability within application software that's running on your computer.</a:t>
            </a:r>
          </a:p>
          <a:p>
            <a:pPr algn="just">
              <a:lnSpc>
                <a:spcPct val="100000"/>
              </a:lnSpc>
              <a:spcBef>
                <a:spcPts val="700"/>
              </a:spcBef>
              <a:spcAft>
                <a:spcPts val="700"/>
              </a:spcAft>
              <a:buNone/>
            </a:pPr>
            <a:r>
              <a:rPr lang="en-US" sz="1900" b="0" i="0" dirty="0">
                <a:effectLst/>
                <a:latin typeface="Times New Roman" panose="02020603050405020304" pitchFamily="18" charset="0"/>
                <a:cs typeface="Times New Roman" panose="02020603050405020304" pitchFamily="18" charset="0"/>
              </a:rPr>
              <a:t>   (Vulnerability is </a:t>
            </a:r>
            <a:r>
              <a:rPr lang="en-US" sz="1900" b="1" i="0" dirty="0">
                <a:effectLst/>
                <a:latin typeface="Times New Roman" panose="02020603050405020304" pitchFamily="18" charset="0"/>
                <a:cs typeface="Times New Roman" panose="02020603050405020304" pitchFamily="18" charset="0"/>
              </a:rPr>
              <a:t>a weakness or some area where you are exposed or at risk</a:t>
            </a:r>
            <a:r>
              <a:rPr lang="en-US" sz="1900" b="0" i="0" dirty="0">
                <a:effectLst/>
                <a:latin typeface="Times New Roman" panose="02020603050405020304" pitchFamily="18" charset="0"/>
                <a:cs typeface="Times New Roman" panose="02020603050405020304" pitchFamily="18" charset="0"/>
              </a:rPr>
              <a:t>.)</a:t>
            </a:r>
          </a:p>
          <a:p>
            <a:pPr algn="just">
              <a:lnSpc>
                <a:spcPct val="100000"/>
              </a:lnSpc>
              <a:spcBef>
                <a:spcPts val="700"/>
              </a:spcBef>
              <a:spcAft>
                <a:spcPts val="700"/>
              </a:spcAft>
              <a:buNone/>
            </a:pPr>
            <a:r>
              <a:rPr lang="en-US" sz="1900" b="0" i="0" dirty="0">
                <a:effectLst/>
                <a:latin typeface="Times New Roman" panose="02020603050405020304" pitchFamily="18" charset="0"/>
                <a:cs typeface="Times New Roman" panose="02020603050405020304" pitchFamily="18" charset="0"/>
              </a:rPr>
              <a:t> Ex: Trojan-Banker programs are designed to steal your account data for online banking systems, </a:t>
            </a:r>
            <a:r>
              <a:rPr lang="en-US" sz="1900" b="0" i="0"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e-payment systems</a:t>
            </a:r>
            <a:r>
              <a:rPr lang="en-US" sz="1900" b="0" i="0" dirty="0">
                <a:effectLst/>
                <a:latin typeface="Times New Roman" panose="02020603050405020304" pitchFamily="18" charset="0"/>
                <a:cs typeface="Times New Roman" panose="02020603050405020304" pitchFamily="18" charset="0"/>
              </a:rPr>
              <a:t>, and credit or debit cards.</a:t>
            </a:r>
          </a:p>
        </p:txBody>
      </p:sp>
      <p:sp>
        <p:nvSpPr>
          <p:cNvPr id="3" name="Title 2">
            <a:extLst>
              <a:ext uri="{FF2B5EF4-FFF2-40B4-BE49-F238E27FC236}">
                <a16:creationId xmlns:a16="http://schemas.microsoft.com/office/drawing/2014/main" id="{CA7795DC-75F6-498A-AC92-BF451C9E848A}"/>
              </a:ext>
            </a:extLst>
          </p:cNvPr>
          <p:cNvSpPr>
            <a:spLocks noGrp="1"/>
          </p:cNvSpPr>
          <p:nvPr>
            <p:ph type="title"/>
          </p:nvPr>
        </p:nvSpPr>
        <p:spPr>
          <a:xfrm>
            <a:off x="92765" y="253514"/>
            <a:ext cx="7135131" cy="479910"/>
          </a:xfrm>
        </p:spPr>
        <p:txBody>
          <a:bodyPr>
            <a:normAutofit/>
          </a:bodyPr>
          <a:lstStyle/>
          <a:p>
            <a:r>
              <a:rPr lang="en-IN" sz="2800" dirty="0">
                <a:effectLst/>
                <a:latin typeface="Times New Roman" panose="02020603050405020304" pitchFamily="18" charset="0"/>
                <a:cs typeface="Times New Roman" panose="02020603050405020304" pitchFamily="18" charset="0"/>
              </a:rPr>
              <a:t>Program Threats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40101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04F0C0-E86E-4A0B-B481-5C27215BBAC5}"/>
              </a:ext>
            </a:extLst>
          </p:cNvPr>
          <p:cNvSpPr>
            <a:spLocks noGrp="1"/>
          </p:cNvSpPr>
          <p:nvPr>
            <p:ph idx="1"/>
          </p:nvPr>
        </p:nvSpPr>
        <p:spPr>
          <a:xfrm>
            <a:off x="453325" y="874643"/>
            <a:ext cx="8237348" cy="5565914"/>
          </a:xfrm>
        </p:spPr>
        <p:txBody>
          <a:bodyPr>
            <a:normAutofit fontScale="70000" lnSpcReduction="20000"/>
          </a:bodyPr>
          <a:lstStyle/>
          <a:p>
            <a:pPr algn="just" fontAlgn="base">
              <a:spcBef>
                <a:spcPts val="700"/>
              </a:spcBef>
              <a:spcAft>
                <a:spcPts val="700"/>
              </a:spcAft>
              <a:buNone/>
            </a:pPr>
            <a:r>
              <a:rPr lang="en-US" sz="2500" b="0" i="0" dirty="0">
                <a:effectLst/>
                <a:latin typeface="Times New Roman" panose="02020603050405020304" pitchFamily="18" charset="0"/>
                <a:cs typeface="Times New Roman" panose="02020603050405020304" pitchFamily="18" charset="0"/>
              </a:rPr>
              <a:t>A Trojan must be executed by its victim to do its work. Trojan malware can infect devices in several ways.</a:t>
            </a:r>
          </a:p>
          <a:p>
            <a:pPr algn="just" fontAlgn="base">
              <a:spcBef>
                <a:spcPts val="700"/>
              </a:spcBef>
              <a:spcAft>
                <a:spcPts val="700"/>
              </a:spcAft>
              <a:buNone/>
            </a:pPr>
            <a:r>
              <a:rPr lang="en-US" sz="2500" b="0" i="0" dirty="0">
                <a:effectLst/>
                <a:latin typeface="Times New Roman" panose="02020603050405020304" pitchFamily="18" charset="0"/>
                <a:cs typeface="Times New Roman" panose="02020603050405020304" pitchFamily="18" charset="0"/>
              </a:rPr>
              <a:t>(Malware : software that is specifically designed to disrupt, damage, or gain unauthorized access to a computer system.)</a:t>
            </a:r>
          </a:p>
          <a:p>
            <a:pPr algn="just" fontAlgn="base">
              <a:spcBef>
                <a:spcPts val="700"/>
              </a:spcBef>
              <a:spcAft>
                <a:spcPts val="700"/>
              </a:spcAft>
              <a:buNone/>
            </a:pPr>
            <a:r>
              <a:rPr lang="en-US" sz="2500" b="1" u="sng" dirty="0">
                <a:latin typeface="Times New Roman" panose="02020603050405020304" pitchFamily="18" charset="0"/>
                <a:cs typeface="Times New Roman" panose="02020603050405020304" pitchFamily="18" charset="0"/>
              </a:rPr>
              <a:t>F</a:t>
            </a:r>
            <a:r>
              <a:rPr lang="en-US" sz="2500" b="1" i="0" u="sng" dirty="0">
                <a:effectLst/>
                <a:latin typeface="Times New Roman" panose="02020603050405020304" pitchFamily="18" charset="0"/>
                <a:cs typeface="Times New Roman" panose="02020603050405020304" pitchFamily="18" charset="0"/>
              </a:rPr>
              <a:t>or example:</a:t>
            </a:r>
            <a:endParaRPr lang="en-US" sz="2500" b="1" u="sng" dirty="0">
              <a:latin typeface="Times New Roman" panose="02020603050405020304" pitchFamily="18" charset="0"/>
              <a:cs typeface="Times New Roman" panose="02020603050405020304" pitchFamily="18" charset="0"/>
            </a:endParaRPr>
          </a:p>
          <a:p>
            <a:pPr marL="285750" indent="-285750" algn="just" fontAlgn="base">
              <a:spcBef>
                <a:spcPts val="700"/>
              </a:spcBef>
              <a:spcAft>
                <a:spcPts val="700"/>
              </a:spcAft>
              <a:buFont typeface="Wingdings" panose="05000000000000000000" pitchFamily="2" charset="2"/>
              <a:buChar char="q"/>
            </a:pPr>
            <a:r>
              <a:rPr lang="en-US" sz="2500" b="0" i="0" dirty="0">
                <a:effectLst/>
                <a:latin typeface="Times New Roman" panose="02020603050405020304" pitchFamily="18" charset="0"/>
                <a:cs typeface="Times New Roman" panose="02020603050405020304" pitchFamily="18" charset="0"/>
              </a:rPr>
              <a:t>A user sees a pop-up for a fake antivirus program that claims your computer is infected and invites you to run a program to clean it up. This is known as “scareware”. In reality, users are downloading a Trojan onto their device.</a:t>
            </a:r>
          </a:p>
          <a:p>
            <a:pPr marL="285750" indent="-285750" algn="just" fontAlgn="base">
              <a:spcBef>
                <a:spcPts val="700"/>
              </a:spcBef>
              <a:spcAft>
                <a:spcPts val="700"/>
              </a:spcAft>
              <a:buFont typeface="Wingdings" panose="05000000000000000000" pitchFamily="2" charset="2"/>
              <a:buChar char="q"/>
            </a:pPr>
            <a:r>
              <a:rPr lang="en-US" sz="2500" b="0" i="0" dirty="0">
                <a:effectLst/>
                <a:latin typeface="Times New Roman" panose="02020603050405020304" pitchFamily="18" charset="0"/>
                <a:cs typeface="Times New Roman" panose="02020603050405020304" pitchFamily="18" charset="0"/>
              </a:rPr>
              <a:t>A user downloads a program whose publisher is unknown from an untrustworthy website.</a:t>
            </a:r>
          </a:p>
          <a:p>
            <a:pPr marL="285750" indent="-285750" algn="just" fontAlgn="base">
              <a:spcBef>
                <a:spcPts val="700"/>
              </a:spcBef>
              <a:spcAft>
                <a:spcPts val="700"/>
              </a:spcAft>
              <a:buFont typeface="Wingdings" panose="05000000000000000000" pitchFamily="2" charset="2"/>
              <a:buChar char="q"/>
            </a:pPr>
            <a:r>
              <a:rPr lang="en-US" sz="2500" b="0" i="0" dirty="0">
                <a:effectLst/>
                <a:latin typeface="Times New Roman" panose="02020603050405020304" pitchFamily="18" charset="0"/>
                <a:cs typeface="Times New Roman" panose="02020603050405020304" pitchFamily="18" charset="0"/>
              </a:rPr>
              <a:t>Attackers install a Trojan through exploiting a software vulnerability or through unauthorized access.</a:t>
            </a:r>
          </a:p>
          <a:p>
            <a:pPr marL="285750" indent="-285750" algn="just" fontAlgn="base">
              <a:spcBef>
                <a:spcPts val="700"/>
              </a:spcBef>
              <a:spcAft>
                <a:spcPts val="700"/>
              </a:spcAft>
              <a:buFont typeface="Wingdings" panose="05000000000000000000" pitchFamily="2" charset="2"/>
              <a:buChar char="q"/>
            </a:pPr>
            <a:r>
              <a:rPr lang="en-US" sz="2500" b="0" i="0" dirty="0">
                <a:effectLst/>
                <a:latin typeface="Times New Roman" panose="02020603050405020304" pitchFamily="18" charset="0"/>
                <a:cs typeface="Times New Roman" panose="02020603050405020304" pitchFamily="18" charset="0"/>
              </a:rPr>
              <a:t>Hackers create a fake Wi-Fi hotspot network that looks like one a user is trying to connect to. When the user connects to this network, they can be redirected to fake websites containing browser exploits that redirect any file they try to download.</a:t>
            </a:r>
          </a:p>
          <a:p>
            <a:endParaRPr lang="en-IN" dirty="0"/>
          </a:p>
        </p:txBody>
      </p:sp>
      <p:sp>
        <p:nvSpPr>
          <p:cNvPr id="3" name="Title 2">
            <a:extLst>
              <a:ext uri="{FF2B5EF4-FFF2-40B4-BE49-F238E27FC236}">
                <a16:creationId xmlns:a16="http://schemas.microsoft.com/office/drawing/2014/main" id="{29465D59-19AA-4A74-9105-C76EEF21BC89}"/>
              </a:ext>
            </a:extLst>
          </p:cNvPr>
          <p:cNvSpPr>
            <a:spLocks noGrp="1"/>
          </p:cNvSpPr>
          <p:nvPr>
            <p:ph type="title"/>
          </p:nvPr>
        </p:nvSpPr>
        <p:spPr>
          <a:xfrm>
            <a:off x="145774" y="253514"/>
            <a:ext cx="7082122" cy="427523"/>
          </a:xfrm>
        </p:spPr>
        <p:txBody>
          <a:bodyPr>
            <a:normAutofit fontScale="90000"/>
          </a:bodyPr>
          <a:lstStyle/>
          <a:p>
            <a:br>
              <a:rPr lang="en-IN" sz="2400" b="1" dirty="0">
                <a:effectLst/>
                <a:latin typeface="Times New Roman" panose="02020603050405020304" pitchFamily="18" charset="0"/>
                <a:cs typeface="Times New Roman" panose="02020603050405020304" pitchFamily="18" charset="0"/>
              </a:rPr>
            </a:br>
            <a:r>
              <a:rPr lang="en-IN" sz="3100" b="1" dirty="0">
                <a:effectLst/>
                <a:latin typeface="Times New Roman" panose="02020603050405020304" pitchFamily="18" charset="0"/>
                <a:cs typeface="Times New Roman" panose="02020603050405020304" pitchFamily="18" charset="0"/>
              </a:rPr>
              <a:t>Trojan Horse</a:t>
            </a:r>
            <a:r>
              <a:rPr lang="en-US" sz="3100" b="1" dirty="0">
                <a:latin typeface="Times New Roman" panose="02020603050405020304" pitchFamily="18" charset="0"/>
                <a:cs typeface="Times New Roman" panose="02020603050405020304" pitchFamily="18" charset="0"/>
              </a:rPr>
              <a:t>:</a:t>
            </a:r>
            <a:br>
              <a:rPr lang="en-US" sz="2400" b="1"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12557328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E984C6-D5AD-489C-A5A9-9C20E8BCEAA1}"/>
              </a:ext>
            </a:extLst>
          </p:cNvPr>
          <p:cNvSpPr>
            <a:spLocks noGrp="1"/>
          </p:cNvSpPr>
          <p:nvPr>
            <p:ph idx="1"/>
          </p:nvPr>
        </p:nvSpPr>
        <p:spPr>
          <a:xfrm>
            <a:off x="453325" y="954157"/>
            <a:ext cx="8237348" cy="5222806"/>
          </a:xfrm>
        </p:spPr>
        <p:txBody>
          <a:bodyPr>
            <a:normAutofit/>
          </a:bodyPr>
          <a:lstStyle/>
          <a:p>
            <a:pPr marL="285750" indent="-285750" algn="just">
              <a:lnSpc>
                <a:spcPct val="100000"/>
              </a:lnSpc>
              <a:spcBef>
                <a:spcPts val="900"/>
              </a:spcBef>
              <a:buFont typeface="Wingdings" panose="05000000000000000000" pitchFamily="2" charset="2"/>
              <a:buChar char="q"/>
            </a:pPr>
            <a:r>
              <a:rPr lang="en-US" sz="1900" b="0" i="0" dirty="0">
                <a:solidFill>
                  <a:srgbClr val="000000"/>
                </a:solidFill>
                <a:effectLst/>
                <a:latin typeface="Times New Roman" panose="02020603050405020304" pitchFamily="18" charset="0"/>
                <a:cs typeface="Times New Roman" panose="02020603050405020304" pitchFamily="18" charset="0"/>
              </a:rPr>
              <a:t>One dangerous opening for Trojan horses is long search paths, and in particular paths which include the current directory ( "." ) as part of the path. If a dangerous program having the same name as a legitimate program ( or a common mis-spelling, such as "</a:t>
            </a:r>
            <a:r>
              <a:rPr lang="en-US" sz="1900" b="0" i="0" dirty="0" err="1">
                <a:solidFill>
                  <a:srgbClr val="000000"/>
                </a:solidFill>
                <a:effectLst/>
                <a:latin typeface="Times New Roman" panose="02020603050405020304" pitchFamily="18" charset="0"/>
                <a:cs typeface="Times New Roman" panose="02020603050405020304" pitchFamily="18" charset="0"/>
              </a:rPr>
              <a:t>sl</a:t>
            </a:r>
            <a:r>
              <a:rPr lang="en-US" sz="1900" b="0" i="0" dirty="0">
                <a:solidFill>
                  <a:srgbClr val="000000"/>
                </a:solidFill>
                <a:effectLst/>
                <a:latin typeface="Times New Roman" panose="02020603050405020304" pitchFamily="18" charset="0"/>
                <a:cs typeface="Times New Roman" panose="02020603050405020304" pitchFamily="18" charset="0"/>
              </a:rPr>
              <a:t>" instead of "ls" ) is placed anywhere on the path, then an unsuspecting user may be fooled into running the wrong program by mistake.</a:t>
            </a:r>
          </a:p>
          <a:p>
            <a:pPr marL="285750" indent="-285750" algn="just">
              <a:lnSpc>
                <a:spcPct val="100000"/>
              </a:lnSpc>
              <a:spcBef>
                <a:spcPts val="900"/>
              </a:spcBef>
              <a:buFont typeface="Wingdings" panose="05000000000000000000" pitchFamily="2" charset="2"/>
              <a:buChar char="q"/>
            </a:pPr>
            <a:r>
              <a:rPr lang="en-US" sz="1900" b="0" i="0" dirty="0">
                <a:solidFill>
                  <a:srgbClr val="000000"/>
                </a:solidFill>
                <a:effectLst/>
                <a:latin typeface="Times New Roman" panose="02020603050405020304" pitchFamily="18" charset="0"/>
                <a:cs typeface="Times New Roman" panose="02020603050405020304" pitchFamily="18" charset="0"/>
              </a:rPr>
              <a:t>Another classic Trojan Horse is a login emulator, which records a users account name and password, issues a "password incorrect" message, and then logs off the system. The user then tries again ( with a proper login prompt ), logs in successfully, and doesn't realize that their information has been stolen.</a:t>
            </a:r>
          </a:p>
          <a:p>
            <a:pPr marL="285750" indent="-285750" algn="just">
              <a:lnSpc>
                <a:spcPct val="100000"/>
              </a:lnSpc>
              <a:spcBef>
                <a:spcPts val="900"/>
              </a:spcBef>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This type of attack can be defeated by having the operating system print a usage</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message at the end of an interactive session or by a non- trappable key sequence,</a:t>
            </a:r>
            <a:r>
              <a:rPr lang="en-US" sz="1900" b="0" i="0" dirty="0">
                <a:solidFill>
                  <a:srgbClr val="000000"/>
                </a:solidFill>
                <a:effectLst/>
                <a:latin typeface="Times New Roman" panose="02020603050405020304" pitchFamily="18" charset="0"/>
                <a:cs typeface="Times New Roman" panose="02020603050405020304" pitchFamily="18" charset="0"/>
              </a:rPr>
              <a:t> </a:t>
            </a:r>
            <a:r>
              <a:rPr lang="en-US" sz="1900" dirty="0">
                <a:effectLst/>
                <a:latin typeface="Times New Roman" panose="02020603050405020304" pitchFamily="18" charset="0"/>
                <a:cs typeface="Times New Roman" panose="02020603050405020304" pitchFamily="18" charset="0"/>
              </a:rPr>
              <a:t>such as the control-alt-delete combination used by all modern Windows  operating systems.</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E034E36-5B31-4ED1-9756-16C15F9587DB}"/>
              </a:ext>
            </a:extLst>
          </p:cNvPr>
          <p:cNvSpPr>
            <a:spLocks noGrp="1"/>
          </p:cNvSpPr>
          <p:nvPr>
            <p:ph type="title"/>
          </p:nvPr>
        </p:nvSpPr>
        <p:spPr>
          <a:xfrm>
            <a:off x="145774" y="253514"/>
            <a:ext cx="7082122" cy="479910"/>
          </a:xfrm>
        </p:spPr>
        <p:txBody>
          <a:bodyPr>
            <a:normAutofit/>
          </a:bodyPr>
          <a:lstStyle/>
          <a:p>
            <a:r>
              <a:rPr lang="en-IN" sz="2800" b="1" dirty="0">
                <a:effectLst/>
                <a:latin typeface="Times New Roman" panose="02020603050405020304" pitchFamily="18" charset="0"/>
                <a:cs typeface="Times New Roman" panose="02020603050405020304" pitchFamily="18" charset="0"/>
              </a:rPr>
              <a:t>Trojan Horse</a:t>
            </a:r>
            <a:r>
              <a:rPr lang="en-US" sz="2800" b="1" dirty="0">
                <a:latin typeface="Times New Roman" panose="02020603050405020304" pitchFamily="18" charset="0"/>
                <a:cs typeface="Times New Roman" panose="02020603050405020304" pitchFamily="18" charset="0"/>
              </a:rPr>
              <a:t>:</a:t>
            </a:r>
            <a:endParaRPr lang="en-IN" sz="2800" dirty="0"/>
          </a:p>
        </p:txBody>
      </p:sp>
    </p:spTree>
    <p:extLst>
      <p:ext uri="{BB962C8B-B14F-4D97-AF65-F5344CB8AC3E}">
        <p14:creationId xmlns:p14="http://schemas.microsoft.com/office/powerpoint/2010/main" val="32803503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311FDD-8DE7-4C91-A34E-34C19CF1B022}"/>
              </a:ext>
            </a:extLst>
          </p:cNvPr>
          <p:cNvSpPr>
            <a:spLocks noGrp="1"/>
          </p:cNvSpPr>
          <p:nvPr>
            <p:ph idx="1"/>
          </p:nvPr>
        </p:nvSpPr>
        <p:spPr>
          <a:xfrm>
            <a:off x="304800" y="733424"/>
            <a:ext cx="8640417" cy="5871062"/>
          </a:xfrm>
        </p:spPr>
        <p:txBody>
          <a:bodyPr>
            <a:noAutofit/>
          </a:bodyPr>
          <a:lstStyle/>
          <a:p>
            <a:pPr algn="just" fontAlgn="base">
              <a:lnSpc>
                <a:spcPct val="100000"/>
              </a:lnSpc>
              <a:spcBef>
                <a:spcPts val="700"/>
              </a:spcBef>
              <a:spcAft>
                <a:spcPts val="700"/>
              </a:spcAft>
            </a:pPr>
            <a:r>
              <a:rPr lang="en-US" b="1" dirty="0">
                <a:effectLst/>
                <a:latin typeface="Times New Roman" panose="02020603050405020304" pitchFamily="18" charset="0"/>
                <a:cs typeface="Times New Roman" panose="02020603050405020304" pitchFamily="18" charset="0"/>
              </a:rPr>
              <a:t>Backdoor : </a:t>
            </a:r>
          </a:p>
          <a:p>
            <a:pPr marL="342900" indent="-342900" algn="just" fontAlgn="base">
              <a:lnSpc>
                <a:spcPct val="100000"/>
              </a:lnSpc>
              <a:spcBef>
                <a:spcPts val="700"/>
              </a:spcBef>
              <a:spcAft>
                <a:spcPts val="700"/>
              </a:spcAft>
              <a:buFont typeface="Wingdings" panose="05000000000000000000" pitchFamily="2" charset="2"/>
              <a:buChar char="q"/>
            </a:pPr>
            <a:r>
              <a:rPr lang="en-US" b="0" dirty="0">
                <a:effectLst/>
                <a:latin typeface="Times New Roman" panose="02020603050405020304" pitchFamily="18" charset="0"/>
                <a:cs typeface="Times New Roman" panose="02020603050405020304" pitchFamily="18" charset="0"/>
              </a:rPr>
              <a:t>A backdoor Trojan gives malicious users remote control over the infected computer. </a:t>
            </a:r>
          </a:p>
          <a:p>
            <a:pPr marL="342900" indent="-342900" algn="just" fontAlgn="base">
              <a:lnSpc>
                <a:spcPct val="100000"/>
              </a:lnSpc>
              <a:spcBef>
                <a:spcPts val="700"/>
              </a:spcBef>
              <a:spcAft>
                <a:spcPts val="700"/>
              </a:spcAft>
              <a:buFont typeface="Wingdings" panose="05000000000000000000" pitchFamily="2" charset="2"/>
              <a:buChar char="q"/>
            </a:pPr>
            <a:r>
              <a:rPr lang="en-US" b="0" dirty="0">
                <a:effectLst/>
                <a:latin typeface="Times New Roman" panose="02020603050405020304" pitchFamily="18" charset="0"/>
                <a:cs typeface="Times New Roman" panose="02020603050405020304" pitchFamily="18" charset="0"/>
              </a:rPr>
              <a:t>They enable the author to do anything they wish on the infected computer – including sending, receiving, launching, and deleting files, displaying data, and rebooting the computer.</a:t>
            </a:r>
          </a:p>
          <a:p>
            <a:pPr marL="342900" indent="-342900" algn="just" fontAlgn="base">
              <a:lnSpc>
                <a:spcPct val="100000"/>
              </a:lnSpc>
              <a:spcBef>
                <a:spcPts val="700"/>
              </a:spcBef>
              <a:spcAft>
                <a:spcPts val="700"/>
              </a:spcAft>
              <a:buFont typeface="Wingdings" panose="05000000000000000000" pitchFamily="2" charset="2"/>
              <a:buChar char="q"/>
            </a:pPr>
            <a:r>
              <a:rPr lang="en-US" b="0" dirty="0">
                <a:effectLst/>
                <a:latin typeface="Times New Roman" panose="02020603050405020304" pitchFamily="18" charset="0"/>
                <a:cs typeface="Times New Roman" panose="02020603050405020304" pitchFamily="18" charset="0"/>
              </a:rPr>
              <a:t> Backdoor Trojans are often used to unit a group of victim computers to form a botnet or zombie network that can be used for criminal purposes.</a:t>
            </a:r>
          </a:p>
          <a:p>
            <a:pPr algn="just" fontAlgn="base">
              <a:lnSpc>
                <a:spcPct val="100000"/>
              </a:lnSpc>
              <a:spcBef>
                <a:spcPts val="700"/>
              </a:spcBef>
              <a:spcAft>
                <a:spcPts val="700"/>
              </a:spcAft>
            </a:pPr>
            <a:r>
              <a:rPr lang="en-US" b="1" dirty="0">
                <a:effectLst/>
                <a:latin typeface="Times New Roman" panose="02020603050405020304" pitchFamily="18" charset="0"/>
                <a:cs typeface="Times New Roman" panose="02020603050405020304" pitchFamily="18" charset="0"/>
              </a:rPr>
              <a:t>Dropper</a:t>
            </a:r>
            <a:r>
              <a:rPr lang="en-US" b="0" dirty="0">
                <a:effectLst/>
                <a:latin typeface="Times New Roman" panose="02020603050405020304" pitchFamily="18" charset="0"/>
                <a:cs typeface="Times New Roman" panose="02020603050405020304" pitchFamily="18" charset="0"/>
              </a:rPr>
              <a:t> </a:t>
            </a:r>
            <a:r>
              <a:rPr lang="en-US" b="1" dirty="0">
                <a:effectLst/>
                <a:latin typeface="Times New Roman" panose="02020603050405020304" pitchFamily="18" charset="0"/>
                <a:cs typeface="Times New Roman" panose="02020603050405020304" pitchFamily="18" charset="0"/>
              </a:rPr>
              <a:t>Trojan : </a:t>
            </a:r>
          </a:p>
          <a:p>
            <a:pPr marL="342900" indent="-342900" algn="just" fontAlgn="base">
              <a:lnSpc>
                <a:spcPct val="100000"/>
              </a:lnSpc>
              <a:spcBef>
                <a:spcPts val="700"/>
              </a:spcBef>
              <a:spcAft>
                <a:spcPts val="700"/>
              </a:spcAft>
              <a:buFont typeface="Wingdings" panose="05000000000000000000" pitchFamily="2" charset="2"/>
              <a:buChar char="q"/>
            </a:pPr>
            <a:r>
              <a:rPr lang="en-US" b="0" dirty="0">
                <a:effectLst/>
                <a:latin typeface="Times New Roman" panose="02020603050405020304" pitchFamily="18" charset="0"/>
                <a:cs typeface="Times New Roman" panose="02020603050405020304" pitchFamily="18" charset="0"/>
              </a:rPr>
              <a:t>These programs are used by hackers to install Trojans or viruses – or to prevent the detection of malicious programs. </a:t>
            </a:r>
          </a:p>
          <a:p>
            <a:pPr marL="342900" indent="-342900" algn="just" fontAlgn="base">
              <a:lnSpc>
                <a:spcPct val="100000"/>
              </a:lnSpc>
              <a:spcBef>
                <a:spcPts val="700"/>
              </a:spcBef>
              <a:spcAft>
                <a:spcPts val="700"/>
              </a:spcAft>
              <a:buFont typeface="Wingdings" panose="05000000000000000000" pitchFamily="2" charset="2"/>
              <a:buChar char="q"/>
            </a:pPr>
            <a:r>
              <a:rPr lang="en-US" b="0" dirty="0">
                <a:effectLst/>
                <a:latin typeface="Times New Roman" panose="02020603050405020304" pitchFamily="18" charset="0"/>
                <a:cs typeface="Times New Roman" panose="02020603050405020304" pitchFamily="18" charset="0"/>
              </a:rPr>
              <a:t>Not all antivirus programs are capable of scanning all of the components inside this type of Trojan.</a:t>
            </a:r>
          </a:p>
          <a:p>
            <a:pPr algn="just" fontAlgn="base">
              <a:lnSpc>
                <a:spcPct val="100000"/>
              </a:lnSpc>
              <a:spcBef>
                <a:spcPts val="700"/>
              </a:spcBef>
              <a:spcAft>
                <a:spcPts val="700"/>
              </a:spcAft>
            </a:pPr>
            <a:r>
              <a:rPr lang="en-US" b="1" dirty="0">
                <a:effectLst/>
                <a:latin typeface="Times New Roman" panose="02020603050405020304" pitchFamily="18" charset="0"/>
                <a:cs typeface="Times New Roman" panose="02020603050405020304" pitchFamily="18" charset="0"/>
              </a:rPr>
              <a:t>Spyware : </a:t>
            </a:r>
          </a:p>
          <a:p>
            <a:pPr marL="342900" indent="-342900" algn="just" fontAlgn="base">
              <a:lnSpc>
                <a:spcPct val="100000"/>
              </a:lnSpc>
              <a:spcBef>
                <a:spcPts val="700"/>
              </a:spcBef>
              <a:spcAft>
                <a:spcPts val="700"/>
              </a:spcAft>
              <a:buFont typeface="Wingdings" panose="05000000000000000000" pitchFamily="2" charset="2"/>
              <a:buChar char="q"/>
            </a:pPr>
            <a:r>
              <a:rPr lang="en-US" b="1" dirty="0">
                <a:effectLst/>
                <a:latin typeface="Times New Roman" panose="02020603050405020304" pitchFamily="18" charset="0"/>
                <a:cs typeface="Times New Roman" panose="02020603050405020304" pitchFamily="18" charset="0"/>
              </a:rPr>
              <a:t>Spyware</a:t>
            </a:r>
            <a:r>
              <a:rPr lang="en-US" b="0" dirty="0">
                <a:effectLst/>
                <a:latin typeface="Times New Roman" panose="02020603050405020304" pitchFamily="18" charset="0"/>
                <a:cs typeface="Times New Roman" panose="02020603050405020304" pitchFamily="18" charset="0"/>
              </a:rPr>
              <a:t> is a version of a Trojan Horse </a:t>
            </a:r>
            <a:r>
              <a:rPr lang="en-US" dirty="0">
                <a:latin typeface="Times New Roman" panose="02020603050405020304" pitchFamily="18" charset="0"/>
                <a:cs typeface="Times New Roman" panose="02020603050405020304" pitchFamily="18" charset="0"/>
              </a:rPr>
              <a:t>and </a:t>
            </a:r>
            <a:r>
              <a:rPr lang="en-US" dirty="0">
                <a:effectLst/>
                <a:latin typeface="Times New Roman" panose="02020603050405020304" pitchFamily="18" charset="0"/>
                <a:cs typeface="Times New Roman" panose="02020603050405020304" pitchFamily="18" charset="0"/>
              </a:rPr>
              <a:t>sometimes accompanies a program that the user has chosen to install. </a:t>
            </a:r>
          </a:p>
          <a:p>
            <a:pPr algn="just" fontAlgn="base">
              <a:lnSpc>
                <a:spcPct val="100000"/>
              </a:lnSpc>
              <a:spcBef>
                <a:spcPts val="700"/>
              </a:spcBef>
              <a:spcAft>
                <a:spcPts val="700"/>
              </a:spcAft>
            </a:pPr>
            <a:endParaRPr lang="en-US" b="1" dirty="0">
              <a:effectLst/>
              <a:latin typeface="Times New Roman" panose="02020603050405020304" pitchFamily="18" charset="0"/>
              <a:cs typeface="Times New Roman" panose="02020603050405020304" pitchFamily="18" charset="0"/>
            </a:endParaRPr>
          </a:p>
          <a:p>
            <a:pPr>
              <a:lnSpc>
                <a:spcPct val="100000"/>
              </a:lnSpc>
            </a:pPr>
            <a:endParaRPr lang="en-IN" dirty="0"/>
          </a:p>
        </p:txBody>
      </p:sp>
      <p:sp>
        <p:nvSpPr>
          <p:cNvPr id="3" name="Title 2">
            <a:extLst>
              <a:ext uri="{FF2B5EF4-FFF2-40B4-BE49-F238E27FC236}">
                <a16:creationId xmlns:a16="http://schemas.microsoft.com/office/drawing/2014/main" id="{D15A049D-8AE9-449B-8B91-8299F9C17F0C}"/>
              </a:ext>
            </a:extLst>
          </p:cNvPr>
          <p:cNvSpPr>
            <a:spLocks noGrp="1"/>
          </p:cNvSpPr>
          <p:nvPr>
            <p:ph type="title"/>
          </p:nvPr>
        </p:nvSpPr>
        <p:spPr>
          <a:xfrm>
            <a:off x="106017" y="253514"/>
            <a:ext cx="7121879" cy="479910"/>
          </a:xfrm>
        </p:spPr>
        <p:txBody>
          <a:bodyPr>
            <a:normAutofit/>
          </a:bodyPr>
          <a:lstStyle/>
          <a:p>
            <a:r>
              <a:rPr lang="en-IN" sz="2800" b="1" dirty="0">
                <a:effectLst/>
                <a:latin typeface="Times New Roman" panose="02020603050405020304" pitchFamily="18" charset="0"/>
                <a:cs typeface="Times New Roman" panose="02020603050405020304" pitchFamily="18" charset="0"/>
              </a:rPr>
              <a:t>Trojan Horse</a:t>
            </a:r>
            <a:r>
              <a:rPr lang="en-US" sz="2800" b="1" dirty="0">
                <a:latin typeface="Times New Roman" panose="02020603050405020304" pitchFamily="18" charset="0"/>
                <a:cs typeface="Times New Roman" panose="02020603050405020304" pitchFamily="18" charset="0"/>
              </a:rPr>
              <a:t>:</a:t>
            </a:r>
            <a:endParaRPr lang="en-IN" sz="2800" dirty="0"/>
          </a:p>
        </p:txBody>
      </p:sp>
    </p:spTree>
    <p:extLst>
      <p:ext uri="{BB962C8B-B14F-4D97-AF65-F5344CB8AC3E}">
        <p14:creationId xmlns:p14="http://schemas.microsoft.com/office/powerpoint/2010/main" val="25661775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1BAC5A-826A-4878-87C2-A1EAFCFEE3B3}"/>
              </a:ext>
            </a:extLst>
          </p:cNvPr>
          <p:cNvSpPr>
            <a:spLocks noGrp="1"/>
          </p:cNvSpPr>
          <p:nvPr>
            <p:ph idx="1"/>
          </p:nvPr>
        </p:nvSpPr>
        <p:spPr>
          <a:xfrm>
            <a:off x="453325" y="940904"/>
            <a:ext cx="8237348" cy="5236059"/>
          </a:xfrm>
        </p:spPr>
        <p:txBody>
          <a:bodyPr/>
          <a:lstStyle/>
          <a:p>
            <a:pPr marL="285750" indent="-285750" algn="just" fontAlgn="base">
              <a:spcBef>
                <a:spcPts val="700"/>
              </a:spcBef>
              <a:spcAft>
                <a:spcPts val="700"/>
              </a:spcAft>
              <a:buFont typeface="Wingdings" panose="05000000000000000000" pitchFamily="2" charset="2"/>
              <a:buChar char="q"/>
            </a:pPr>
            <a:r>
              <a:rPr lang="en-US" sz="1800" dirty="0">
                <a:effectLst/>
                <a:latin typeface="Times New Roman" panose="02020603050405020304" pitchFamily="18" charset="0"/>
                <a:cs typeface="Times New Roman" panose="02020603050405020304" pitchFamily="18" charset="0"/>
              </a:rPr>
              <a:t>The goal of spyware is to download </a:t>
            </a:r>
            <a:r>
              <a:rPr lang="en-US" sz="1800" b="1" dirty="0">
                <a:effectLst/>
                <a:latin typeface="Times New Roman" panose="02020603050405020304" pitchFamily="18" charset="0"/>
                <a:cs typeface="Times New Roman" panose="02020603050405020304" pitchFamily="18" charset="0"/>
              </a:rPr>
              <a:t>ads </a:t>
            </a:r>
            <a:r>
              <a:rPr lang="en-US" sz="1800" dirty="0">
                <a:effectLst/>
                <a:latin typeface="Times New Roman" panose="02020603050405020304" pitchFamily="18" charset="0"/>
                <a:cs typeface="Times New Roman" panose="02020603050405020304" pitchFamily="18" charset="0"/>
              </a:rPr>
              <a:t>to display on the user ’s system, create </a:t>
            </a:r>
            <a:r>
              <a:rPr lang="en-US" sz="1800" b="1" dirty="0">
                <a:effectLst/>
                <a:latin typeface="Times New Roman" panose="02020603050405020304" pitchFamily="18" charset="0"/>
                <a:cs typeface="Times New Roman" panose="02020603050405020304" pitchFamily="18" charset="0"/>
              </a:rPr>
              <a:t>pop-up </a:t>
            </a:r>
            <a:r>
              <a:rPr lang="en-US" sz="1800" dirty="0">
                <a:effectLst/>
                <a:latin typeface="Times New Roman" panose="02020603050405020304" pitchFamily="18" charset="0"/>
                <a:cs typeface="Times New Roman" panose="02020603050405020304" pitchFamily="18" charset="0"/>
              </a:rPr>
              <a:t>browser windows when certain sites are visited, or capture information from the user ’s system and return it to a central site. </a:t>
            </a:r>
          </a:p>
          <a:p>
            <a:pPr marL="285750" indent="-285750" algn="just" fontAlgn="base">
              <a:spcBef>
                <a:spcPts val="700"/>
              </a:spcBef>
              <a:spcAft>
                <a:spcPts val="700"/>
              </a:spcAft>
              <a:buFont typeface="Wingdings" panose="05000000000000000000" pitchFamily="2" charset="2"/>
              <a:buChar char="q"/>
            </a:pPr>
            <a:r>
              <a:rPr lang="en-US" sz="1800" dirty="0">
                <a:effectLst/>
                <a:latin typeface="Times New Roman" panose="02020603050405020304" pitchFamily="18" charset="0"/>
                <a:cs typeface="Times New Roman" panose="02020603050405020304" pitchFamily="18" charset="0"/>
              </a:rPr>
              <a:t>This latter practice is an example of a general category of attacks known as </a:t>
            </a:r>
            <a:r>
              <a:rPr lang="en-US" sz="1800" b="1" dirty="0">
                <a:effectLst/>
                <a:latin typeface="Times New Roman" panose="02020603050405020304" pitchFamily="18" charset="0"/>
                <a:cs typeface="Times New Roman" panose="02020603050405020304" pitchFamily="18" charset="0"/>
              </a:rPr>
              <a:t>covert channels, in which surreptitious communication occurs.</a:t>
            </a:r>
          </a:p>
          <a:p>
            <a:pPr marL="285750" indent="-285750" algn="just" fontAlgn="base">
              <a:spcBef>
                <a:spcPts val="700"/>
              </a:spcBef>
              <a:spcAft>
                <a:spcPts val="700"/>
              </a:spcAft>
              <a:buFont typeface="Wingdings" panose="05000000000000000000" pitchFamily="2" charset="2"/>
              <a:buChar char="q"/>
            </a:pPr>
            <a:r>
              <a:rPr lang="en-US" sz="1800" b="0" i="0" dirty="0">
                <a:solidFill>
                  <a:srgbClr val="000000"/>
                </a:solidFill>
                <a:effectLst/>
                <a:latin typeface="Times New Roman" panose="02020603050405020304" pitchFamily="18" charset="0"/>
              </a:rPr>
              <a:t>Another common task of </a:t>
            </a:r>
            <a:r>
              <a:rPr lang="en-US" sz="1800" b="1" i="0" dirty="0">
                <a:solidFill>
                  <a:srgbClr val="000000"/>
                </a:solidFill>
                <a:effectLst/>
                <a:latin typeface="Times New Roman" panose="02020603050405020304" pitchFamily="18" charset="0"/>
              </a:rPr>
              <a:t>spyware is to send out spam e-mail messages</a:t>
            </a:r>
            <a:r>
              <a:rPr lang="en-US" sz="1800" b="0" i="0" dirty="0">
                <a:solidFill>
                  <a:srgbClr val="000000"/>
                </a:solidFill>
                <a:effectLst/>
                <a:latin typeface="Times New Roman" panose="02020603050405020304" pitchFamily="18" charset="0"/>
              </a:rPr>
              <a:t>, which then purportedly come from the infected user.</a:t>
            </a:r>
            <a:endParaRPr lang="en-US" sz="1800" b="0" i="0" dirty="0">
              <a:effectLst/>
              <a:latin typeface="Times New Roman" panose="02020603050405020304" pitchFamily="18" charset="0"/>
              <a:cs typeface="Times New Roman" panose="02020603050405020304" pitchFamily="18" charset="0"/>
            </a:endParaRPr>
          </a:p>
          <a:p>
            <a:pPr marL="285750" indent="-285750" algn="just" fontAlgn="base">
              <a:spcBef>
                <a:spcPts val="700"/>
              </a:spcBef>
              <a:spcAft>
                <a:spcPts val="700"/>
              </a:spcAft>
              <a:buFont typeface="Wingdings" panose="05000000000000000000" pitchFamily="2" charset="2"/>
              <a:buChar char="q"/>
            </a:pPr>
            <a:r>
              <a:rPr lang="en-US" sz="1800" dirty="0">
                <a:effectLst/>
                <a:latin typeface="Times New Roman" panose="02020603050405020304" pitchFamily="18" charset="0"/>
                <a:cs typeface="Times New Roman" panose="02020603050405020304" pitchFamily="18" charset="0"/>
              </a:rPr>
              <a:t>The spyware could contact a central site, be given a message and a list of recipient addresses, and deliver a spam message to those users from the Windows machine.</a:t>
            </a:r>
          </a:p>
          <a:p>
            <a:pPr marL="285750" indent="-285750" algn="just" fontAlgn="base">
              <a:spcBef>
                <a:spcPts val="700"/>
              </a:spcBef>
              <a:spcAft>
                <a:spcPts val="700"/>
              </a:spcAft>
              <a:buFont typeface="Wingdings" panose="05000000000000000000" pitchFamily="2" charset="2"/>
              <a:buChar char="q"/>
            </a:pPr>
            <a:r>
              <a:rPr lang="en-US" sz="1800" dirty="0">
                <a:effectLst/>
                <a:latin typeface="Times New Roman" panose="02020603050405020304" pitchFamily="18" charset="0"/>
                <a:cs typeface="Times New Roman" panose="02020603050405020304" pitchFamily="18" charset="0"/>
              </a:rPr>
              <a:t> In 2010, it was estimated that 90 percent of spam was being delivered by this method. </a:t>
            </a:r>
          </a:p>
          <a:p>
            <a:endParaRPr lang="en-IN" dirty="0"/>
          </a:p>
        </p:txBody>
      </p:sp>
      <p:sp>
        <p:nvSpPr>
          <p:cNvPr id="3" name="Title 2">
            <a:extLst>
              <a:ext uri="{FF2B5EF4-FFF2-40B4-BE49-F238E27FC236}">
                <a16:creationId xmlns:a16="http://schemas.microsoft.com/office/drawing/2014/main" id="{D2DB1474-8ABE-4645-9530-8C6022EAD484}"/>
              </a:ext>
            </a:extLst>
          </p:cNvPr>
          <p:cNvSpPr>
            <a:spLocks noGrp="1"/>
          </p:cNvSpPr>
          <p:nvPr>
            <p:ph type="title"/>
          </p:nvPr>
        </p:nvSpPr>
        <p:spPr>
          <a:xfrm>
            <a:off x="172278" y="253514"/>
            <a:ext cx="7055618" cy="479910"/>
          </a:xfrm>
        </p:spPr>
        <p:txBody>
          <a:bodyPr/>
          <a:lstStyle/>
          <a:p>
            <a:r>
              <a:rPr lang="en-IN" sz="2400" b="1" dirty="0">
                <a:effectLst/>
                <a:latin typeface="Times New Roman" panose="02020603050405020304" pitchFamily="18" charset="0"/>
                <a:cs typeface="Times New Roman" panose="02020603050405020304" pitchFamily="18" charset="0"/>
              </a:rPr>
              <a:t>Trojan Horse</a:t>
            </a:r>
            <a:r>
              <a:rPr lang="en-US" sz="2400" b="1" dirty="0">
                <a:latin typeface="Times New Roman" panose="02020603050405020304" pitchFamily="18" charset="0"/>
                <a:cs typeface="Times New Roman" panose="02020603050405020304" pitchFamily="18" charset="0"/>
              </a:rPr>
              <a:t>:</a:t>
            </a:r>
            <a:endParaRPr lang="en-IN" dirty="0"/>
          </a:p>
        </p:txBody>
      </p:sp>
    </p:spTree>
    <p:extLst>
      <p:ext uri="{BB962C8B-B14F-4D97-AF65-F5344CB8AC3E}">
        <p14:creationId xmlns:p14="http://schemas.microsoft.com/office/powerpoint/2010/main" val="14938368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ACBB14-F5CA-46C5-A60C-5CF6A6038B4C}"/>
              </a:ext>
            </a:extLst>
          </p:cNvPr>
          <p:cNvSpPr>
            <a:spLocks noGrp="1"/>
          </p:cNvSpPr>
          <p:nvPr>
            <p:ph idx="1"/>
          </p:nvPr>
        </p:nvSpPr>
        <p:spPr>
          <a:xfrm>
            <a:off x="453325" y="887896"/>
            <a:ext cx="8237348" cy="5289067"/>
          </a:xfrm>
        </p:spPr>
        <p:txBody>
          <a:bodyPr>
            <a:noAutofit/>
          </a:bodyPr>
          <a:lstStyle/>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The designer of a program or system might leave a hole in the software that only she is capable of using. </a:t>
            </a:r>
          </a:p>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This type of security breach (or trap door) was shown in the movie War Games.</a:t>
            </a:r>
          </a:p>
          <a:p>
            <a:pPr algn="just">
              <a:lnSpc>
                <a:spcPct val="100000"/>
              </a:lnSpc>
              <a:spcBef>
                <a:spcPts val="700"/>
              </a:spcBef>
              <a:spcAft>
                <a:spcPts val="700"/>
              </a:spcAft>
              <a:buNone/>
            </a:pPr>
            <a:r>
              <a:rPr lang="en-US" dirty="0">
                <a:latin typeface="Times New Roman" panose="02020603050405020304" pitchFamily="18" charset="0"/>
                <a:cs typeface="Times New Roman" panose="02020603050405020304" pitchFamily="18" charset="0"/>
              </a:rPr>
              <a:t>Ex: B</a:t>
            </a:r>
            <a:r>
              <a:rPr lang="en-US" b="1" dirty="0">
                <a:latin typeface="Times New Roman" panose="02020603050405020304" pitchFamily="18" charset="0"/>
                <a:cs typeface="Times New Roman" panose="02020603050405020304" pitchFamily="18" charset="0"/>
              </a:rPr>
              <a:t>aking Website Application</a:t>
            </a:r>
          </a:p>
          <a:p>
            <a:pPr marL="285750" indent="-285750" algn="just">
              <a:lnSpc>
                <a:spcPct val="100000"/>
              </a:lnSpc>
              <a:spcBef>
                <a:spcPts val="700"/>
              </a:spcBef>
              <a:spcAft>
                <a:spcPts val="700"/>
              </a:spcAft>
              <a:buFont typeface="Wingdings" panose="05000000000000000000" pitchFamily="2" charset="2"/>
              <a:buChar char="q"/>
            </a:pPr>
            <a:r>
              <a:rPr lang="en-US" b="0" i="0" dirty="0">
                <a:solidFill>
                  <a:srgbClr val="000000"/>
                </a:solidFill>
                <a:effectLst/>
                <a:latin typeface="Times New Roman" panose="02020603050405020304" pitchFamily="18" charset="0"/>
              </a:rPr>
              <a:t>Because of the possibility of trap doors, once a system has been in an untrustworthy state, that system can never be trusted again. Even the backup tapes may contain a copy of some cleverly hidden back door.</a:t>
            </a:r>
          </a:p>
          <a:p>
            <a:pPr marL="285750" indent="-285750" algn="just">
              <a:lnSpc>
                <a:spcPct val="100000"/>
              </a:lnSpc>
              <a:spcBef>
                <a:spcPts val="700"/>
              </a:spcBef>
              <a:spcAft>
                <a:spcPts val="700"/>
              </a:spcAft>
              <a:buFont typeface="Wingdings" panose="05000000000000000000" pitchFamily="2" charset="2"/>
              <a:buChar char="q"/>
            </a:pPr>
            <a:r>
              <a:rPr lang="en-US" b="0" i="0" dirty="0">
                <a:solidFill>
                  <a:srgbClr val="000000"/>
                </a:solidFill>
                <a:effectLst/>
                <a:latin typeface="Times New Roman" panose="02020603050405020304" pitchFamily="18" charset="0"/>
              </a:rPr>
              <a:t>A clever trap door could be inserted into a compiler, so that any programs compiled with that compiler would contain a security hole. This is especially dangerous, because inspection of the code being compiled would not reveal any problems. </a:t>
            </a:r>
          </a:p>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Trap doors pose a difficult problem because, to detect them, we have to</a:t>
            </a:r>
            <a:br>
              <a:rPr lang="en-US" dirty="0">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analyze all the source code for all components of a system.</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Designer Only Know where the loop hole is there .The Code may  check 2 or 3 years once.</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CD600616-C59A-490B-85A9-E03376FF9572}"/>
              </a:ext>
            </a:extLst>
          </p:cNvPr>
          <p:cNvSpPr>
            <a:spLocks noGrp="1"/>
          </p:cNvSpPr>
          <p:nvPr>
            <p:ph type="title"/>
          </p:nvPr>
        </p:nvSpPr>
        <p:spPr>
          <a:xfrm>
            <a:off x="0" y="253514"/>
            <a:ext cx="7227896" cy="479910"/>
          </a:xfrm>
        </p:spPr>
        <p:txBody>
          <a:bodyPr>
            <a:normAutofit/>
          </a:bodyPr>
          <a:lstStyle/>
          <a:p>
            <a:r>
              <a:rPr lang="en-US" sz="2800" dirty="0">
                <a:latin typeface="Times New Roman" panose="02020603050405020304" pitchFamily="18" charset="0"/>
                <a:cs typeface="Times New Roman" panose="02020603050405020304" pitchFamily="18" charset="0"/>
              </a:rPr>
              <a:t>Trap Door:</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2828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F43436-EB21-4ED5-8728-E0C2958EBC74}"/>
              </a:ext>
            </a:extLst>
          </p:cNvPr>
          <p:cNvSpPr>
            <a:spLocks noGrp="1"/>
          </p:cNvSpPr>
          <p:nvPr>
            <p:ph idx="1"/>
          </p:nvPr>
        </p:nvSpPr>
        <p:spPr>
          <a:xfrm>
            <a:off x="453325" y="967409"/>
            <a:ext cx="8237348" cy="5209554"/>
          </a:xfrm>
        </p:spPr>
        <p:txBody>
          <a:bodyPr>
            <a:normAutofit/>
          </a:bodyPr>
          <a:lstStyle/>
          <a:p>
            <a:pPr algn="just">
              <a:lnSpc>
                <a:spcPct val="100000"/>
              </a:lnSpc>
              <a:buNone/>
            </a:pPr>
            <a:r>
              <a:rPr lang="en-IN" sz="1900" b="1" u="sng" dirty="0">
                <a:effectLst/>
                <a:latin typeface="Times New Roman" panose="02020603050405020304" pitchFamily="18" charset="0"/>
                <a:cs typeface="Times New Roman" panose="02020603050405020304" pitchFamily="18" charset="0"/>
              </a:rPr>
              <a:t>Logic Bomb :</a:t>
            </a:r>
            <a:endParaRPr lang="en-US" sz="1900" b="1" u="sng" dirty="0">
              <a:effectLst/>
              <a:latin typeface="Times New Roman" panose="02020603050405020304" pitchFamily="18" charset="0"/>
              <a:cs typeface="Times New Roman" panose="02020603050405020304" pitchFamily="18" charset="0"/>
            </a:endParaRPr>
          </a:p>
          <a:p>
            <a:pPr marL="285750" indent="-285750" algn="just">
              <a:lnSpc>
                <a:spcPct val="100000"/>
              </a:lnSpc>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Consider a program that initiates a security incident only under certain circumstances. </a:t>
            </a:r>
          </a:p>
          <a:p>
            <a:pPr marL="285750" indent="-285750" algn="just">
              <a:lnSpc>
                <a:spcPct val="100000"/>
              </a:lnSpc>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It would be hard to detect because under normal operations, there would be no security hole. </a:t>
            </a:r>
          </a:p>
          <a:p>
            <a:pPr marL="285750" indent="-285750" algn="just">
              <a:lnSpc>
                <a:spcPct val="100000"/>
              </a:lnSpc>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However, when a predefined set of parameters was met, the security hole would be created. This scenario is known as a </a:t>
            </a:r>
            <a:r>
              <a:rPr lang="en-US" sz="1900" b="1" dirty="0">
                <a:effectLst/>
                <a:latin typeface="Times New Roman" panose="02020603050405020304" pitchFamily="18" charset="0"/>
                <a:cs typeface="Times New Roman" panose="02020603050405020304" pitchFamily="18" charset="0"/>
              </a:rPr>
              <a:t>logic bomb.</a:t>
            </a:r>
          </a:p>
          <a:p>
            <a:pPr marL="285750" indent="-285750" algn="just">
              <a:lnSpc>
                <a:spcPct val="100000"/>
              </a:lnSpc>
              <a:buFont typeface="Wingdings" panose="05000000000000000000" pitchFamily="2" charset="2"/>
              <a:buChar char="q"/>
            </a:pPr>
            <a:r>
              <a:rPr lang="en-US" sz="1900" b="0" dirty="0">
                <a:solidFill>
                  <a:srgbClr val="000000"/>
                </a:solidFill>
                <a:effectLst/>
                <a:latin typeface="Times New Roman" panose="02020603050405020304" pitchFamily="18" charset="0"/>
              </a:rPr>
              <a:t>A</a:t>
            </a:r>
            <a:r>
              <a:rPr lang="en-US" sz="1900" b="1" dirty="0">
                <a:solidFill>
                  <a:srgbClr val="000000"/>
                </a:solidFill>
                <a:effectLst/>
                <a:latin typeface="Times New Roman" panose="02020603050405020304" pitchFamily="18" charset="0"/>
              </a:rPr>
              <a:t> Logic Bomb </a:t>
            </a:r>
            <a:r>
              <a:rPr lang="en-US" sz="1900" b="0" dirty="0">
                <a:solidFill>
                  <a:srgbClr val="000000"/>
                </a:solidFill>
                <a:effectLst/>
                <a:latin typeface="Times New Roman" panose="02020603050405020304" pitchFamily="18" charset="0"/>
              </a:rPr>
              <a:t>is code that is not designed to cause havoc (Damage) all the time, but only when a certain set of circumstances occurs, such as when a particular date or time is reached or some other noticeable event.</a:t>
            </a:r>
          </a:p>
          <a:p>
            <a:pPr marL="285750" indent="-285750" algn="just">
              <a:lnSpc>
                <a:spcPct val="100000"/>
              </a:lnSpc>
              <a:buFont typeface="Wingdings" panose="05000000000000000000" pitchFamily="2" charset="2"/>
              <a:buChar char="q"/>
            </a:pPr>
            <a:endParaRPr lang="en-US" sz="1900" b="1" dirty="0">
              <a:effectLst/>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CF3D980A-134C-47F0-83A7-3385D0CB6D66}"/>
              </a:ext>
            </a:extLst>
          </p:cNvPr>
          <p:cNvSpPr>
            <a:spLocks noGrp="1"/>
          </p:cNvSpPr>
          <p:nvPr>
            <p:ph type="title"/>
          </p:nvPr>
        </p:nvSpPr>
        <p:spPr>
          <a:xfrm>
            <a:off x="0" y="253514"/>
            <a:ext cx="7227896" cy="479910"/>
          </a:xfrm>
        </p:spPr>
        <p:txBody>
          <a:bodyPr>
            <a:normAutofit/>
          </a:bodyPr>
          <a:lstStyle/>
          <a:p>
            <a:r>
              <a:rPr lang="en-IN" sz="2800" dirty="0">
                <a:effectLst/>
                <a:latin typeface="Times New Roman" panose="02020603050405020304" pitchFamily="18" charset="0"/>
                <a:cs typeface="Times New Roman" panose="02020603050405020304" pitchFamily="18" charset="0"/>
              </a:rPr>
              <a:t>Logic Bomb   &amp; Stack and Buffer Overflow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02907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D560B2-4B4C-4C68-BA8F-D2DE82B7D47F}"/>
              </a:ext>
            </a:extLst>
          </p:cNvPr>
          <p:cNvSpPr>
            <a:spLocks noGrp="1"/>
          </p:cNvSpPr>
          <p:nvPr>
            <p:ph idx="1"/>
          </p:nvPr>
        </p:nvSpPr>
        <p:spPr>
          <a:xfrm>
            <a:off x="453325" y="1020417"/>
            <a:ext cx="8237348" cy="5156546"/>
          </a:xfrm>
        </p:spPr>
        <p:txBody>
          <a:bodyPr>
            <a:normAutofit lnSpcReduction="10000"/>
          </a:bodyPr>
          <a:lstStyle/>
          <a:p>
            <a:pPr marL="285750" indent="-285750" algn="just">
              <a:lnSpc>
                <a:spcPct val="100000"/>
              </a:lnSpc>
              <a:buFont typeface="Wingdings" panose="05000000000000000000" pitchFamily="2" charset="2"/>
              <a:buChar char="q"/>
            </a:pPr>
            <a:r>
              <a:rPr lang="en-IN" sz="1900" b="1" u="sng" dirty="0">
                <a:effectLst/>
                <a:latin typeface="Times New Roman" panose="02020603050405020304" pitchFamily="18" charset="0"/>
                <a:cs typeface="Times New Roman" panose="02020603050405020304" pitchFamily="18" charset="0"/>
              </a:rPr>
              <a:t>Stack and Buffer Overflow:</a:t>
            </a:r>
          </a:p>
          <a:p>
            <a:pPr marL="285750" indent="-285750" algn="just">
              <a:lnSpc>
                <a:spcPct val="100000"/>
              </a:lnSpc>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Exploits a bug (Malicious user creates bug ) in a program (overflow either the stack or memory buffers) </a:t>
            </a:r>
          </a:p>
          <a:p>
            <a:pPr marL="285750" indent="-285750" algn="just">
              <a:lnSpc>
                <a:spcPct val="100000"/>
              </a:lnSpc>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Failure to check bounds on inputs, arguments</a:t>
            </a:r>
            <a:endParaRPr lang="en-IN" sz="1900" dirty="0">
              <a:latin typeface="Times New Roman" panose="02020603050405020304" pitchFamily="18" charset="0"/>
              <a:cs typeface="Times New Roman" panose="02020603050405020304" pitchFamily="18" charset="0"/>
            </a:endParaRPr>
          </a:p>
          <a:p>
            <a:pPr marL="285750" indent="-285750" algn="just">
              <a:lnSpc>
                <a:spcPct val="100000"/>
              </a:lnSpc>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Write past arguments on the stack into the return address on stack</a:t>
            </a:r>
          </a:p>
          <a:p>
            <a:pPr marL="285750" indent="-285750" algn="just">
              <a:lnSpc>
                <a:spcPct val="100000"/>
              </a:lnSpc>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When routine returns from call, returns to hacked address </a:t>
            </a:r>
          </a:p>
          <a:p>
            <a:pPr algn="just">
              <a:lnSpc>
                <a:spcPct val="100000"/>
              </a:lnSpc>
              <a:buNone/>
            </a:pPr>
            <a:r>
              <a:rPr lang="en-US" sz="1900" dirty="0">
                <a:latin typeface="Times New Roman" panose="02020603050405020304" pitchFamily="18" charset="0"/>
                <a:cs typeface="Times New Roman" panose="02020603050405020304" pitchFamily="18" charset="0"/>
              </a:rPr>
              <a:t>           →  Pointed to code loaded onto stack that executes malicious code </a:t>
            </a:r>
          </a:p>
          <a:p>
            <a:pPr marL="342900" indent="-342900" algn="just">
              <a:lnSpc>
                <a:spcPct val="100000"/>
              </a:lnSpc>
              <a:buFont typeface="Wingdings" panose="05000000000000000000" pitchFamily="2" charset="2"/>
              <a:buChar char="q"/>
            </a:pPr>
            <a:r>
              <a:rPr lang="en-US" sz="1900" b="0" i="0" dirty="0">
                <a:solidFill>
                  <a:srgbClr val="000000"/>
                </a:solidFill>
                <a:effectLst/>
                <a:latin typeface="Times New Roman" panose="02020603050405020304" pitchFamily="18" charset="0"/>
              </a:rPr>
              <a:t>Consider what happens in the following code, for example, if argv[ 1 ] exceeds 256 characters: The strcpy command will overflow the buffer, overwriting adjacent areas of memory.</a:t>
            </a:r>
          </a:p>
          <a:p>
            <a:pPr marL="342900" indent="-342900" algn="just">
              <a:lnSpc>
                <a:spcPct val="100000"/>
              </a:lnSpc>
              <a:buFont typeface="Wingdings" panose="05000000000000000000" pitchFamily="2" charset="2"/>
              <a:buChar char="q"/>
            </a:pPr>
            <a:r>
              <a:rPr lang="en-US" sz="1900" b="0" i="0" dirty="0">
                <a:solidFill>
                  <a:srgbClr val="000000"/>
                </a:solidFill>
                <a:effectLst/>
                <a:latin typeface="Times New Roman" panose="02020603050405020304" pitchFamily="18" charset="0"/>
              </a:rPr>
              <a:t>The problem could be avoided using str</a:t>
            </a:r>
            <a:r>
              <a:rPr lang="en-US" sz="1900" b="1" i="1" dirty="0">
                <a:solidFill>
                  <a:srgbClr val="000000"/>
                </a:solidFill>
                <a:effectLst/>
                <a:latin typeface="Times New Roman" panose="02020603050405020304" pitchFamily="18" charset="0"/>
              </a:rPr>
              <a:t>n</a:t>
            </a:r>
            <a:r>
              <a:rPr lang="en-US" sz="1900" b="0" i="0" dirty="0">
                <a:solidFill>
                  <a:srgbClr val="000000"/>
                </a:solidFill>
                <a:effectLst/>
                <a:latin typeface="Times New Roman" panose="02020603050405020304" pitchFamily="18" charset="0"/>
              </a:rPr>
              <a:t>cpy, with a limit of 255 characters copied plus room for the null byte</a:t>
            </a:r>
            <a:endParaRPr lang="en-US" sz="1900" dirty="0">
              <a:latin typeface="Times New Roman" panose="02020603050405020304" pitchFamily="18" charset="0"/>
              <a:cs typeface="Times New Roman" panose="02020603050405020304" pitchFamily="18" charset="0"/>
            </a:endParaRPr>
          </a:p>
          <a:p>
            <a:pPr marL="285750" indent="-285750" algn="just">
              <a:lnSpc>
                <a:spcPct val="100000"/>
              </a:lnSpc>
              <a:buFont typeface="Wingdings" panose="05000000000000000000" pitchFamily="2" charset="2"/>
              <a:buChar char="q"/>
            </a:pP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8D494E9-E0F5-41CF-A573-3E5CA11DD04F}"/>
              </a:ext>
            </a:extLst>
          </p:cNvPr>
          <p:cNvSpPr>
            <a:spLocks noGrp="1"/>
          </p:cNvSpPr>
          <p:nvPr>
            <p:ph type="title"/>
          </p:nvPr>
        </p:nvSpPr>
        <p:spPr>
          <a:xfrm>
            <a:off x="132522" y="253514"/>
            <a:ext cx="7095374" cy="479910"/>
          </a:xfrm>
        </p:spPr>
        <p:txBody>
          <a:bodyPr>
            <a:normAutofit fontScale="90000"/>
          </a:bodyPr>
          <a:lstStyle/>
          <a:p>
            <a:br>
              <a:rPr lang="en-IN" sz="3100" b="1" dirty="0">
                <a:effectLst/>
                <a:latin typeface="Times New Roman" panose="02020603050405020304" pitchFamily="18" charset="0"/>
                <a:cs typeface="Times New Roman" panose="02020603050405020304" pitchFamily="18" charset="0"/>
              </a:rPr>
            </a:br>
            <a:r>
              <a:rPr lang="en-IN" sz="3100" b="1" dirty="0">
                <a:effectLst/>
                <a:latin typeface="Times New Roman" panose="02020603050405020304" pitchFamily="18" charset="0"/>
                <a:cs typeface="Times New Roman" panose="02020603050405020304" pitchFamily="18" charset="0"/>
              </a:rPr>
              <a:t>Stack and Buffer Overflow:</a:t>
            </a:r>
            <a:br>
              <a:rPr lang="en-IN" sz="2400" b="1" u="sng" dirty="0">
                <a:effectLst/>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25565386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CB1CF7-63A2-4844-B9C4-46158FCBAEF0}"/>
              </a:ext>
            </a:extLst>
          </p:cNvPr>
          <p:cNvPicPr>
            <a:picLocks noGrp="1" noChangeAspect="1"/>
          </p:cNvPicPr>
          <p:nvPr>
            <p:ph idx="1"/>
          </p:nvPr>
        </p:nvPicPr>
        <p:blipFill>
          <a:blip r:embed="rId2"/>
          <a:stretch>
            <a:fillRect/>
          </a:stretch>
        </p:blipFill>
        <p:spPr>
          <a:xfrm>
            <a:off x="1086678" y="3578233"/>
            <a:ext cx="6612835" cy="2862323"/>
          </a:xfrm>
        </p:spPr>
      </p:pic>
      <p:sp>
        <p:nvSpPr>
          <p:cNvPr id="3" name="Title 2">
            <a:extLst>
              <a:ext uri="{FF2B5EF4-FFF2-40B4-BE49-F238E27FC236}">
                <a16:creationId xmlns:a16="http://schemas.microsoft.com/office/drawing/2014/main" id="{B9927B73-8462-410E-8447-44EE3DEA1672}"/>
              </a:ext>
            </a:extLst>
          </p:cNvPr>
          <p:cNvSpPr>
            <a:spLocks noGrp="1"/>
          </p:cNvSpPr>
          <p:nvPr>
            <p:ph type="title"/>
          </p:nvPr>
        </p:nvSpPr>
        <p:spPr>
          <a:xfrm>
            <a:off x="159026" y="253514"/>
            <a:ext cx="7068870" cy="427523"/>
          </a:xfrm>
        </p:spPr>
        <p:txBody>
          <a:bodyPr>
            <a:noAutofit/>
          </a:bodyPr>
          <a:lstStyle/>
          <a:p>
            <a:r>
              <a:rPr lang="en-US" sz="2800" dirty="0">
                <a:latin typeface="Times New Roman" panose="02020603050405020304" pitchFamily="18" charset="0"/>
                <a:cs typeface="Times New Roman" panose="02020603050405020304" pitchFamily="18" charset="0"/>
              </a:rPr>
              <a:t>C Program with Buffer-overflow Condition :</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1A9D21C-A185-4B13-B2C6-24243BBFDF8F}"/>
              </a:ext>
            </a:extLst>
          </p:cNvPr>
          <p:cNvSpPr txBox="1"/>
          <p:nvPr/>
        </p:nvSpPr>
        <p:spPr>
          <a:xfrm>
            <a:off x="331303" y="927652"/>
            <a:ext cx="8574157" cy="2308324"/>
          </a:xfrm>
          <a:prstGeom prst="rect">
            <a:avLst/>
          </a:prstGeom>
          <a:noFill/>
        </p:spPr>
        <p:txBody>
          <a:bodyPr wrap="square">
            <a:spAutoFit/>
          </a:bodyPr>
          <a:lstStyle/>
          <a:p>
            <a:pPr marL="285750" indent="-285750" algn="just">
              <a:lnSpc>
                <a:spcPct val="100000"/>
              </a:lnSpc>
              <a:buFont typeface="Wingdings" panose="05000000000000000000" pitchFamily="2" charset="2"/>
              <a:buChar char="§"/>
            </a:pPr>
            <a:r>
              <a:rPr lang="en-US" dirty="0">
                <a:effectLst/>
                <a:latin typeface="Times New Roman" panose="02020603050405020304" pitchFamily="18" charset="0"/>
                <a:cs typeface="Times New Roman" panose="02020603050405020304" pitchFamily="18" charset="0"/>
              </a:rPr>
              <a:t>Note that a careful programmer could have performed bounds checking</a:t>
            </a:r>
            <a:br>
              <a:rPr lang="en-US" dirty="0">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on the size of argv[1] by using the strncpy() function rather than strcpy(),</a:t>
            </a:r>
            <a:br>
              <a:rPr lang="en-US" dirty="0">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replacing the line “strcpy(buffer, argv[1]);”with “strncpy(buffer,</a:t>
            </a:r>
            <a:br>
              <a:rPr lang="en-US" dirty="0">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argv[1], sizeof(buffer)-1);”.</a:t>
            </a:r>
            <a:endParaRPr lang="en-US" sz="1800" b="0" i="0" dirty="0">
              <a:solidFill>
                <a:srgbClr val="000000"/>
              </a:solidFill>
              <a:effectLst/>
              <a:latin typeface="Times New Roman" panose="02020603050405020304" pitchFamily="18" charset="0"/>
              <a:cs typeface="Times New Roman" panose="02020603050405020304" pitchFamily="18" charset="0"/>
            </a:endParaRPr>
          </a:p>
          <a:p>
            <a:pPr algn="just">
              <a:lnSpc>
                <a:spcPct val="100000"/>
              </a:lnSpc>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 buffer overflow is the result of stuffing more data into a buffer than it can handle</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285750" indent="-285750" algn="just">
              <a:lnSpc>
                <a:spcPct val="100000"/>
              </a:lnSpc>
              <a:buFont typeface="Wingdings" panose="05000000000000000000" pitchFamily="2" charset="2"/>
              <a:buChar char="§"/>
            </a:pPr>
            <a:endParaRPr lang="en-US" sz="1800"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37183959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CE1E2B3-E3AA-4046-80F6-DA59F8FE9CB8}"/>
              </a:ext>
            </a:extLst>
          </p:cNvPr>
          <p:cNvPicPr>
            <a:picLocks noGrp="1" noChangeAspect="1"/>
          </p:cNvPicPr>
          <p:nvPr>
            <p:ph idx="1"/>
          </p:nvPr>
        </p:nvPicPr>
        <p:blipFill>
          <a:blip r:embed="rId2"/>
          <a:stretch>
            <a:fillRect/>
          </a:stretch>
        </p:blipFill>
        <p:spPr>
          <a:xfrm>
            <a:off x="5936974" y="1219200"/>
            <a:ext cx="3030852" cy="5009321"/>
          </a:xfrm>
        </p:spPr>
      </p:pic>
      <p:sp>
        <p:nvSpPr>
          <p:cNvPr id="3" name="Title 2">
            <a:extLst>
              <a:ext uri="{FF2B5EF4-FFF2-40B4-BE49-F238E27FC236}">
                <a16:creationId xmlns:a16="http://schemas.microsoft.com/office/drawing/2014/main" id="{15B377C0-944E-428E-A2FE-6F1A430D424A}"/>
              </a:ext>
            </a:extLst>
          </p:cNvPr>
          <p:cNvSpPr>
            <a:spLocks noGrp="1"/>
          </p:cNvSpPr>
          <p:nvPr>
            <p:ph type="title"/>
          </p:nvPr>
        </p:nvSpPr>
        <p:spPr>
          <a:xfrm>
            <a:off x="212035" y="253514"/>
            <a:ext cx="7015861" cy="427523"/>
          </a:xfrm>
        </p:spPr>
        <p:txBody>
          <a:bodyPr>
            <a:noAutofit/>
          </a:bodyPr>
          <a:lstStyle/>
          <a:p>
            <a:r>
              <a:rPr lang="en-US" sz="2800" dirty="0">
                <a:latin typeface="Times New Roman" panose="02020603050405020304" pitchFamily="18" charset="0"/>
                <a:cs typeface="Times New Roman" panose="02020603050405020304" pitchFamily="18" charset="0"/>
              </a:rPr>
              <a:t>Layout of Typical Stack Frame :</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AEC77E1-AE5E-4500-9FD3-E1EBACC9A0E6}"/>
              </a:ext>
            </a:extLst>
          </p:cNvPr>
          <p:cNvSpPr txBox="1"/>
          <p:nvPr/>
        </p:nvSpPr>
        <p:spPr>
          <a:xfrm>
            <a:off x="212035" y="681038"/>
            <a:ext cx="5618922" cy="5975995"/>
          </a:xfrm>
          <a:prstGeom prst="rect">
            <a:avLst/>
          </a:prstGeom>
          <a:noFill/>
        </p:spPr>
        <p:txBody>
          <a:bodyPr wrap="square">
            <a:spAutoFit/>
          </a:bodyPr>
          <a:lstStyle/>
          <a:p>
            <a:pPr marL="285750" indent="-285750" algn="just">
              <a:spcBef>
                <a:spcPts val="700"/>
              </a:spcBef>
              <a:spcAft>
                <a:spcPts val="700"/>
              </a:spcAft>
              <a:buFont typeface="Wingdings" panose="05000000000000000000" pitchFamily="2" charset="2"/>
              <a:buChar char="§"/>
            </a:pPr>
            <a:r>
              <a:rPr lang="en-US" dirty="0">
                <a:effectLst/>
                <a:latin typeface="Times New Roman" panose="02020603050405020304" pitchFamily="18" charset="0"/>
              </a:rPr>
              <a:t>When a function is invoked in a typical computer architecture, the variables defined locally to the function (sometimes known as automatic variables), the parameters passed to the function, and the address to which control returns once the function exits are stored in a </a:t>
            </a:r>
            <a:r>
              <a:rPr lang="en-US" b="1" dirty="0">
                <a:effectLst/>
                <a:latin typeface="Times New Roman" panose="02020603050405020304" pitchFamily="18" charset="0"/>
              </a:rPr>
              <a:t>stack frame.</a:t>
            </a:r>
            <a:endParaRPr lang="en-US" b="1" dirty="0">
              <a:effectLst/>
              <a:latin typeface="Times New Roman" panose="02020603050405020304" pitchFamily="18" charset="0"/>
              <a:cs typeface="Times New Roman" panose="02020603050405020304" pitchFamily="18" charset="0"/>
            </a:endParaRPr>
          </a:p>
          <a:p>
            <a:pPr marL="285750" indent="-285750" algn="just">
              <a:spcBef>
                <a:spcPts val="700"/>
              </a:spcBef>
              <a:spcAft>
                <a:spcPts val="700"/>
              </a:spcAft>
              <a:buFont typeface="Wingdings" panose="05000000000000000000" pitchFamily="2" charset="2"/>
              <a:buChar char="§"/>
            </a:pPr>
            <a:r>
              <a:rPr lang="en-US" dirty="0">
                <a:effectLst/>
                <a:latin typeface="Times New Roman" panose="02020603050405020304" pitchFamily="18" charset="0"/>
                <a:cs typeface="Times New Roman" panose="02020603050405020304" pitchFamily="18" charset="0"/>
              </a:rPr>
              <a:t>The stack frame from top to bottom, we first see the parameters passed to the function, followed by any automatic variables declared in the function. </a:t>
            </a:r>
          </a:p>
          <a:p>
            <a:pPr marL="285750" indent="-285750" algn="just">
              <a:spcBef>
                <a:spcPts val="700"/>
              </a:spcBef>
              <a:spcAft>
                <a:spcPts val="700"/>
              </a:spcAft>
              <a:buFont typeface="Wingdings" panose="05000000000000000000" pitchFamily="2" charset="2"/>
              <a:buChar char="§"/>
            </a:pPr>
            <a:r>
              <a:rPr lang="en-US" dirty="0">
                <a:effectLst/>
                <a:latin typeface="Times New Roman" panose="02020603050405020304" pitchFamily="18" charset="0"/>
                <a:cs typeface="Times New Roman" panose="02020603050405020304" pitchFamily="18" charset="0"/>
              </a:rPr>
              <a:t>The frame pointer, which is</a:t>
            </a:r>
            <a:r>
              <a:rPr lang="en-US" dirty="0">
                <a:latin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cs typeface="Times New Roman" panose="02020603050405020304" pitchFamily="18" charset="0"/>
              </a:rPr>
              <a:t>the address of the beginning of the stack frame. </a:t>
            </a:r>
          </a:p>
          <a:p>
            <a:pPr marL="285750" indent="-285750" algn="just">
              <a:spcBef>
                <a:spcPts val="700"/>
              </a:spcBef>
              <a:spcAft>
                <a:spcPts val="700"/>
              </a:spcAft>
              <a:buFont typeface="Wingdings" panose="05000000000000000000" pitchFamily="2" charset="2"/>
              <a:buChar char="§"/>
            </a:pPr>
            <a:r>
              <a:rPr lang="en-US" dirty="0">
                <a:effectLst/>
                <a:latin typeface="Times New Roman" panose="02020603050405020304" pitchFamily="18" charset="0"/>
                <a:cs typeface="Times New Roman" panose="02020603050405020304" pitchFamily="18" charset="0"/>
              </a:rPr>
              <a:t>Finally, we have the return address, which specifies where to return control once the function exits.</a:t>
            </a:r>
          </a:p>
          <a:p>
            <a:pPr marL="285750" indent="-285750" algn="just">
              <a:spcBef>
                <a:spcPts val="700"/>
              </a:spcBef>
              <a:spcAft>
                <a:spcPts val="700"/>
              </a:spcAft>
              <a:buFont typeface="Wingdings" panose="05000000000000000000" pitchFamily="2" charset="2"/>
              <a:buChar char="§"/>
            </a:pPr>
            <a:r>
              <a:rPr lang="en-US" dirty="0">
                <a:effectLst/>
                <a:latin typeface="Times New Roman" panose="02020603050405020304" pitchFamily="18" charset="0"/>
                <a:cs typeface="Times New Roman" panose="02020603050405020304" pitchFamily="18" charset="0"/>
              </a:rPr>
              <a:t> The frame pointer must be saved on the stack, as the value of the stack pointer can vary during the function call. </a:t>
            </a:r>
          </a:p>
          <a:p>
            <a:pPr marL="285750" indent="-285750" algn="just">
              <a:spcBef>
                <a:spcPts val="700"/>
              </a:spcBef>
              <a:spcAft>
                <a:spcPts val="700"/>
              </a:spcAft>
              <a:buFont typeface="Wingdings" panose="05000000000000000000" pitchFamily="2" charset="2"/>
              <a:buChar char="§"/>
            </a:pPr>
            <a:r>
              <a:rPr lang="en-US" dirty="0">
                <a:effectLst/>
                <a:latin typeface="Times New Roman" panose="02020603050405020304" pitchFamily="18" charset="0"/>
                <a:cs typeface="Times New Roman" panose="02020603050405020304" pitchFamily="18" charset="0"/>
              </a:rPr>
              <a:t>The saved frame pointer allows relative access to parameters and automatic variables.</a:t>
            </a:r>
            <a:endParaRPr lang="en-US"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02542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257B31-44A4-480F-8D67-833B0C343C2A}"/>
              </a:ext>
            </a:extLst>
          </p:cNvPr>
          <p:cNvPicPr>
            <a:picLocks noGrp="1" noChangeAspect="1"/>
          </p:cNvPicPr>
          <p:nvPr>
            <p:ph idx="1"/>
          </p:nvPr>
        </p:nvPicPr>
        <p:blipFill>
          <a:blip r:embed="rId2"/>
          <a:stretch>
            <a:fillRect/>
          </a:stretch>
        </p:blipFill>
        <p:spPr>
          <a:xfrm>
            <a:off x="410818" y="4744278"/>
            <a:ext cx="8415130" cy="1987826"/>
          </a:xfrm>
        </p:spPr>
      </p:pic>
      <p:sp>
        <p:nvSpPr>
          <p:cNvPr id="3" name="Title 2">
            <a:extLst>
              <a:ext uri="{FF2B5EF4-FFF2-40B4-BE49-F238E27FC236}">
                <a16:creationId xmlns:a16="http://schemas.microsoft.com/office/drawing/2014/main" id="{8B0FB7EF-CA94-499D-AB21-C740884469DA}"/>
              </a:ext>
            </a:extLst>
          </p:cNvPr>
          <p:cNvSpPr>
            <a:spLocks noGrp="1"/>
          </p:cNvSpPr>
          <p:nvPr>
            <p:ph type="title"/>
          </p:nvPr>
        </p:nvSpPr>
        <p:spPr>
          <a:xfrm>
            <a:off x="225287" y="253514"/>
            <a:ext cx="7002609" cy="427523"/>
          </a:xfrm>
        </p:spPr>
        <p:txBody>
          <a:bodyPr>
            <a:noAutofit/>
          </a:bodyPr>
          <a:lstStyle/>
          <a:p>
            <a:r>
              <a:rPr lang="en-IN" sz="2800" dirty="0">
                <a:latin typeface="Times New Roman" panose="02020603050405020304" pitchFamily="18" charset="0"/>
                <a:cs typeface="Times New Roman" panose="02020603050405020304" pitchFamily="18" charset="0"/>
              </a:rPr>
              <a:t>Modified Shell Code :</a:t>
            </a:r>
          </a:p>
        </p:txBody>
      </p:sp>
      <p:sp>
        <p:nvSpPr>
          <p:cNvPr id="6" name="TextBox 5">
            <a:extLst>
              <a:ext uri="{FF2B5EF4-FFF2-40B4-BE49-F238E27FC236}">
                <a16:creationId xmlns:a16="http://schemas.microsoft.com/office/drawing/2014/main" id="{47F10EC9-B907-41E8-9D4B-F65EDC63EAB5}"/>
              </a:ext>
            </a:extLst>
          </p:cNvPr>
          <p:cNvSpPr txBox="1"/>
          <p:nvPr/>
        </p:nvSpPr>
        <p:spPr>
          <a:xfrm>
            <a:off x="272833" y="927653"/>
            <a:ext cx="8553115" cy="3375283"/>
          </a:xfrm>
          <a:prstGeom prst="rect">
            <a:avLst/>
          </a:prstGeom>
          <a:noFill/>
        </p:spPr>
        <p:txBody>
          <a:bodyPr wrap="square">
            <a:spAutoFit/>
          </a:bodyPr>
          <a:lstStyle/>
          <a:p>
            <a:pPr marL="285750" indent="-285750" algn="just">
              <a:spcBef>
                <a:spcPts val="700"/>
              </a:spcBef>
              <a:spcAft>
                <a:spcPts val="700"/>
              </a:spcAft>
              <a:buFont typeface="Wingdings" panose="05000000000000000000" pitchFamily="2" charset="2"/>
              <a:buChar char="§"/>
            </a:pPr>
            <a:r>
              <a:rPr lang="en-US" sz="1900" b="0" i="0" dirty="0">
                <a:solidFill>
                  <a:srgbClr val="000000"/>
                </a:solidFill>
                <a:effectLst/>
                <a:latin typeface="Times New Roman" panose="02020603050405020304" pitchFamily="18" charset="0"/>
              </a:rPr>
              <a:t>One of the simplest and most obvious approaches is to insert the code for "exec( /bin/</a:t>
            </a:r>
            <a:r>
              <a:rPr lang="en-US" sz="1900" b="0" i="0" dirty="0" err="1">
                <a:solidFill>
                  <a:srgbClr val="000000"/>
                </a:solidFill>
                <a:effectLst/>
                <a:latin typeface="Times New Roman" panose="02020603050405020304" pitchFamily="18" charset="0"/>
              </a:rPr>
              <a:t>sh</a:t>
            </a:r>
            <a:r>
              <a:rPr lang="en-US" sz="1900" b="0" i="0" dirty="0">
                <a:solidFill>
                  <a:srgbClr val="000000"/>
                </a:solidFill>
                <a:effectLst/>
                <a:latin typeface="Times New Roman" panose="02020603050405020304" pitchFamily="18" charset="0"/>
              </a:rPr>
              <a:t> )". To do this requires compiling a program that contains this instruction, and then using an assembler or debugging tool to extract the minimum extent that includes the necessary instructions.</a:t>
            </a:r>
          </a:p>
          <a:p>
            <a:pPr marL="285750" indent="-285750" algn="just">
              <a:spcBef>
                <a:spcPts val="700"/>
              </a:spcBef>
              <a:spcAft>
                <a:spcPts val="700"/>
              </a:spcAft>
              <a:buFont typeface="Wingdings" panose="05000000000000000000" pitchFamily="2" charset="2"/>
              <a:buChar char="§"/>
            </a:pPr>
            <a:r>
              <a:rPr lang="en-US" sz="1900" b="0" i="0" dirty="0">
                <a:solidFill>
                  <a:srgbClr val="000000"/>
                </a:solidFill>
                <a:effectLst/>
                <a:latin typeface="Times New Roman" panose="02020603050405020304" pitchFamily="18" charset="0"/>
              </a:rPr>
              <a:t>The bad code is then padded with as many extra bytes as are needed to overflow the buffer to the correct extent, and the address of the buffer inserted into the return address location. </a:t>
            </a:r>
          </a:p>
          <a:p>
            <a:pPr marL="285750" indent="-285750" algn="just">
              <a:spcBef>
                <a:spcPts val="700"/>
              </a:spcBef>
              <a:spcAft>
                <a:spcPts val="700"/>
              </a:spcAft>
              <a:buFont typeface="Wingdings" panose="05000000000000000000" pitchFamily="2" charset="2"/>
              <a:buChar char="§"/>
            </a:pPr>
            <a:r>
              <a:rPr lang="en-US" sz="1900" b="0" i="0" dirty="0">
                <a:solidFill>
                  <a:srgbClr val="000000"/>
                </a:solidFill>
                <a:effectLst/>
                <a:latin typeface="Times New Roman" panose="02020603050405020304" pitchFamily="18" charset="0"/>
              </a:rPr>
              <a:t>The resulting block of information is provided as "input", copied into the buffer by the original program, and then the return statement causes control to jump to the location of the buffer and start executing the code to launch a shell.</a:t>
            </a:r>
          </a:p>
        </p:txBody>
      </p:sp>
    </p:spTree>
    <p:extLst>
      <p:ext uri="{BB962C8B-B14F-4D97-AF65-F5344CB8AC3E}">
        <p14:creationId xmlns:p14="http://schemas.microsoft.com/office/powerpoint/2010/main" val="25429893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D1ABE3-6DC5-4B53-A7D5-14B3571D1ECF}"/>
              </a:ext>
            </a:extLst>
          </p:cNvPr>
          <p:cNvPicPr>
            <a:picLocks noGrp="1" noChangeAspect="1"/>
          </p:cNvPicPr>
          <p:nvPr>
            <p:ph idx="1"/>
          </p:nvPr>
        </p:nvPicPr>
        <p:blipFill>
          <a:blip r:embed="rId2"/>
          <a:stretch>
            <a:fillRect/>
          </a:stretch>
        </p:blipFill>
        <p:spPr>
          <a:xfrm>
            <a:off x="821636" y="1099930"/>
            <a:ext cx="7082122" cy="4982818"/>
          </a:xfrm>
        </p:spPr>
      </p:pic>
      <p:sp>
        <p:nvSpPr>
          <p:cNvPr id="3" name="Title 2">
            <a:extLst>
              <a:ext uri="{FF2B5EF4-FFF2-40B4-BE49-F238E27FC236}">
                <a16:creationId xmlns:a16="http://schemas.microsoft.com/office/drawing/2014/main" id="{230D87EC-AC62-4A83-913E-D2BDEE91CE56}"/>
              </a:ext>
            </a:extLst>
          </p:cNvPr>
          <p:cNvSpPr>
            <a:spLocks noGrp="1"/>
          </p:cNvSpPr>
          <p:nvPr>
            <p:ph type="title"/>
          </p:nvPr>
        </p:nvSpPr>
        <p:spPr>
          <a:xfrm>
            <a:off x="145774" y="253514"/>
            <a:ext cx="7082122" cy="427523"/>
          </a:xfrm>
        </p:spPr>
        <p:txBody>
          <a:bodyPr>
            <a:noAutofit/>
          </a:bodyPr>
          <a:lstStyle/>
          <a:p>
            <a:r>
              <a:rPr lang="en-IN" sz="2800" dirty="0">
                <a:latin typeface="Times New Roman" panose="02020603050405020304" pitchFamily="18" charset="0"/>
                <a:cs typeface="Times New Roman" panose="02020603050405020304" pitchFamily="18" charset="0"/>
              </a:rPr>
              <a:t>Hypothetical Stack Frame :</a:t>
            </a:r>
          </a:p>
        </p:txBody>
      </p:sp>
    </p:spTree>
    <p:extLst>
      <p:ext uri="{BB962C8B-B14F-4D97-AF65-F5344CB8AC3E}">
        <p14:creationId xmlns:p14="http://schemas.microsoft.com/office/powerpoint/2010/main" val="32303114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04AD4A-BDCE-4B97-B735-0DC13DA5DC8F}"/>
              </a:ext>
            </a:extLst>
          </p:cNvPr>
          <p:cNvSpPr>
            <a:spLocks noGrp="1"/>
          </p:cNvSpPr>
          <p:nvPr>
            <p:ph idx="1"/>
          </p:nvPr>
        </p:nvSpPr>
        <p:spPr>
          <a:xfrm>
            <a:off x="453325" y="887896"/>
            <a:ext cx="8237348" cy="5289067"/>
          </a:xfrm>
        </p:spPr>
        <p:txBody>
          <a:bodyPr>
            <a:normAutofit fontScale="92500" lnSpcReduction="20000"/>
          </a:bodyPr>
          <a:lstStyle/>
          <a:p>
            <a:pPr marL="285750" indent="-285750" algn="just">
              <a:lnSpc>
                <a:spcPct val="100000"/>
              </a:lnSpc>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For the first step of determining the bug, and second step of writing exploit code, yes</a:t>
            </a:r>
          </a:p>
          <a:p>
            <a:pPr marL="285750" indent="-285750" algn="just">
              <a:lnSpc>
                <a:spcPct val="100000"/>
              </a:lnSpc>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Script kiddies can run pre-written exploit code to attack a given system</a:t>
            </a:r>
          </a:p>
          <a:p>
            <a:pPr marL="285750" indent="-285750" algn="just">
              <a:lnSpc>
                <a:spcPct val="100000"/>
              </a:lnSpc>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Attack code can get a shell with the processes’ owner ’ s permissions </a:t>
            </a:r>
          </a:p>
          <a:p>
            <a:pPr algn="just">
              <a:lnSpc>
                <a:spcPct val="100000"/>
              </a:lnSpc>
              <a:buNone/>
            </a:pPr>
            <a:r>
              <a:rPr lang="en-US" sz="1900" dirty="0">
                <a:latin typeface="Times New Roman" panose="02020603050405020304" pitchFamily="18" charset="0"/>
                <a:cs typeface="Times New Roman" panose="02020603050405020304" pitchFamily="18" charset="0"/>
              </a:rPr>
              <a:t>                 →  Or open a network port, delete files, download a program, </a:t>
            </a:r>
            <a:r>
              <a:rPr lang="en-US" sz="1900" dirty="0" err="1">
                <a:latin typeface="Times New Roman" panose="02020603050405020304" pitchFamily="18" charset="0"/>
                <a:cs typeface="Times New Roman" panose="02020603050405020304" pitchFamily="18" charset="0"/>
              </a:rPr>
              <a:t>etc</a:t>
            </a:r>
            <a:endParaRPr lang="en-US" sz="1900" dirty="0">
              <a:latin typeface="Times New Roman" panose="02020603050405020304" pitchFamily="18" charset="0"/>
              <a:cs typeface="Times New Roman" panose="02020603050405020304" pitchFamily="18" charset="0"/>
            </a:endParaRPr>
          </a:p>
          <a:p>
            <a:pPr marL="285750" indent="-285750" algn="just">
              <a:lnSpc>
                <a:spcPct val="100000"/>
              </a:lnSpc>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Depending on bug, attack can be executed across a network using allowed connections, bypassing firewalls</a:t>
            </a:r>
          </a:p>
          <a:p>
            <a:pPr marL="285750" indent="-285750" algn="just">
              <a:lnSpc>
                <a:spcPct val="100000"/>
              </a:lnSpc>
              <a:buFont typeface="Wingdings" panose="05000000000000000000" pitchFamily="2" charset="2"/>
              <a:buChar char="q"/>
            </a:pPr>
            <a:r>
              <a:rPr lang="en-US" sz="2000" b="0" i="0" dirty="0">
                <a:effectLst/>
                <a:latin typeface="Times New Roman" panose="02020603050405020304" pitchFamily="18" charset="0"/>
              </a:rPr>
              <a:t>Fortunately modern hardware now includes a bit in the page tables to mark certain pages as non-executable. </a:t>
            </a:r>
          </a:p>
          <a:p>
            <a:pPr marL="285750" indent="-285750" algn="just">
              <a:lnSpc>
                <a:spcPct val="100000"/>
              </a:lnSpc>
              <a:buFont typeface="Wingdings" panose="05000000000000000000" pitchFamily="2" charset="2"/>
              <a:buChar char="q"/>
            </a:pPr>
            <a:r>
              <a:rPr lang="en-US" sz="2000" b="0" i="0" dirty="0">
                <a:effectLst/>
                <a:latin typeface="Times New Roman" panose="02020603050405020304" pitchFamily="18" charset="0"/>
              </a:rPr>
              <a:t>In this case the buffer-overflow attack would work up to a point, but as soon as it "returns" to an address in the data space and tries executing statements there, an exception would be thrown crashing the program.</a:t>
            </a:r>
          </a:p>
          <a:p>
            <a:pPr marL="285750" indent="-285750" algn="just">
              <a:lnSpc>
                <a:spcPct val="100000"/>
              </a:lnSpc>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Available in SPARC and x86 </a:t>
            </a:r>
          </a:p>
          <a:p>
            <a:pPr marL="285750" indent="-285750" algn="just">
              <a:lnSpc>
                <a:spcPct val="100000"/>
              </a:lnSpc>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But still have security exploits</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D2B4E01-D5A1-43A9-9940-9491AA765B4B}"/>
              </a:ext>
            </a:extLst>
          </p:cNvPr>
          <p:cNvSpPr>
            <a:spLocks noGrp="1"/>
          </p:cNvSpPr>
          <p:nvPr>
            <p:ph type="title"/>
          </p:nvPr>
        </p:nvSpPr>
        <p:spPr>
          <a:xfrm>
            <a:off x="106017" y="253514"/>
            <a:ext cx="7121879" cy="479910"/>
          </a:xfrm>
        </p:spPr>
        <p:txBody>
          <a:bodyPr>
            <a:normAutofit/>
          </a:bodyPr>
          <a:lstStyle/>
          <a:p>
            <a:r>
              <a:rPr lang="en-IN" sz="2800" dirty="0">
                <a:latin typeface="Times New Roman" panose="02020603050405020304" pitchFamily="18" charset="0"/>
                <a:cs typeface="Times New Roman" panose="02020603050405020304" pitchFamily="18" charset="0"/>
              </a:rPr>
              <a:t>Great Programming Required? : </a:t>
            </a:r>
          </a:p>
        </p:txBody>
      </p:sp>
    </p:spTree>
    <p:extLst>
      <p:ext uri="{BB962C8B-B14F-4D97-AF65-F5344CB8AC3E}">
        <p14:creationId xmlns:p14="http://schemas.microsoft.com/office/powerpoint/2010/main" val="16911036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C7B631-B0F2-4A6B-85EF-1EB7DE998D07}"/>
              </a:ext>
            </a:extLst>
          </p:cNvPr>
          <p:cNvSpPr>
            <a:spLocks noGrp="1"/>
          </p:cNvSpPr>
          <p:nvPr>
            <p:ph idx="1"/>
          </p:nvPr>
        </p:nvSpPr>
        <p:spPr>
          <a:xfrm>
            <a:off x="453325" y="901148"/>
            <a:ext cx="8237348" cy="5275815"/>
          </a:xfrm>
        </p:spPr>
        <p:txBody>
          <a:bodyPr>
            <a:noAutofit/>
          </a:bodyPr>
          <a:lstStyle/>
          <a:p>
            <a:pPr marL="285750" indent="-285750" algn="just">
              <a:lnSpc>
                <a:spcPct val="100000"/>
              </a:lnSpc>
              <a:spcBef>
                <a:spcPts val="700"/>
              </a:spcBef>
              <a:spcAft>
                <a:spcPts val="700"/>
              </a:spcAft>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Code fragment(Small peace of code) embedded in legitimate program.</a:t>
            </a:r>
          </a:p>
          <a:p>
            <a:pPr marL="285750" indent="-285750" algn="just">
              <a:lnSpc>
                <a:spcPct val="100000"/>
              </a:lnSpc>
              <a:spcBef>
                <a:spcPts val="700"/>
              </a:spcBef>
              <a:spcAft>
                <a:spcPts val="700"/>
              </a:spcAft>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Self-replicating (Duplication), designed to infect other computers. </a:t>
            </a:r>
          </a:p>
          <a:p>
            <a:pPr marL="285750" indent="-285750" algn="just">
              <a:lnSpc>
                <a:spcPct val="100000"/>
              </a:lnSpc>
              <a:spcBef>
                <a:spcPts val="700"/>
              </a:spcBef>
              <a:spcAft>
                <a:spcPts val="700"/>
              </a:spcAft>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Ex : Memory Size of 1 TB – It Duplicate the file – Memory is killed. So replace the OS or Update the OS. In order to protect the System install Anti Virus.</a:t>
            </a:r>
          </a:p>
          <a:p>
            <a:pPr marL="285750" indent="-285750" algn="just">
              <a:lnSpc>
                <a:spcPct val="100000"/>
              </a:lnSpc>
              <a:spcBef>
                <a:spcPts val="700"/>
              </a:spcBef>
              <a:spcAft>
                <a:spcPts val="700"/>
              </a:spcAft>
              <a:buFont typeface="Wingdings" panose="05000000000000000000" pitchFamily="2" charset="2"/>
              <a:buChar char="q"/>
            </a:pPr>
            <a:r>
              <a:rPr lang="en-US" b="0" i="0" dirty="0">
                <a:solidFill>
                  <a:srgbClr val="000000"/>
                </a:solidFill>
                <a:effectLst/>
                <a:latin typeface="Times New Roman" panose="02020603050405020304" pitchFamily="18" charset="0"/>
              </a:rPr>
              <a:t>Viruses are more likely to infect PCs than UNIX or other multi-user systems, because programs in the latter systems have limited authority to modify other programs or to access critical system structures </a:t>
            </a:r>
          </a:p>
          <a:p>
            <a:pPr marL="285750" indent="-285750" algn="just">
              <a:lnSpc>
                <a:spcPct val="100000"/>
              </a:lnSpc>
              <a:spcBef>
                <a:spcPts val="700"/>
              </a:spcBef>
              <a:spcAft>
                <a:spcPts val="700"/>
              </a:spcAft>
              <a:buFont typeface="Wingdings" panose="05000000000000000000" pitchFamily="2" charset="2"/>
              <a:buChar char="q"/>
            </a:pPr>
            <a:r>
              <a:rPr lang="en-US" b="0" i="0" dirty="0">
                <a:solidFill>
                  <a:srgbClr val="000000"/>
                </a:solidFill>
                <a:effectLst/>
                <a:latin typeface="Times New Roman" panose="02020603050405020304" pitchFamily="18" charset="0"/>
              </a:rPr>
              <a:t>Viruses are delivered to systems in a </a:t>
            </a:r>
            <a:r>
              <a:rPr lang="en-US" b="1" i="1" dirty="0">
                <a:solidFill>
                  <a:srgbClr val="000000"/>
                </a:solidFill>
                <a:effectLst/>
                <a:latin typeface="Times New Roman" panose="02020603050405020304" pitchFamily="18" charset="0"/>
              </a:rPr>
              <a:t>virus dropper, </a:t>
            </a:r>
            <a:r>
              <a:rPr lang="en-US" b="0" i="0" dirty="0">
                <a:solidFill>
                  <a:srgbClr val="000000"/>
                </a:solidFill>
                <a:effectLst/>
                <a:latin typeface="Times New Roman" panose="02020603050405020304" pitchFamily="18" charset="0"/>
              </a:rPr>
              <a:t>usually some form of a Trojan Horse, and usually via e-mail or unsafe downloads.</a:t>
            </a:r>
          </a:p>
          <a:p>
            <a:pPr marL="285750" indent="-285750" algn="just">
              <a:lnSpc>
                <a:spcPct val="100000"/>
              </a:lnSpc>
              <a:spcBef>
                <a:spcPts val="700"/>
              </a:spcBef>
              <a:spcAft>
                <a:spcPts val="700"/>
              </a:spcAft>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Usually borne via email or as a macro.</a:t>
            </a:r>
          </a:p>
          <a:p>
            <a:pPr marL="285750" indent="-285750" algn="just">
              <a:lnSpc>
                <a:spcPct val="100000"/>
              </a:lnSpc>
              <a:spcBef>
                <a:spcPts val="700"/>
              </a:spcBef>
              <a:spcAft>
                <a:spcPts val="700"/>
              </a:spcAft>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Visual Basic Macro to reformat hard drive</a:t>
            </a:r>
          </a:p>
          <a:p>
            <a:pPr>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          Sub AutoOpen() </a:t>
            </a:r>
          </a:p>
          <a:p>
            <a:pPr>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          Dim oFS </a:t>
            </a:r>
          </a:p>
          <a:p>
            <a:pPr>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          Set oFS = Create Object(’’Scripting.FileSystemObject’’) </a:t>
            </a:r>
          </a:p>
          <a:p>
            <a:pPr>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          vs = Shell(’’c:command.com /k format c:’’,vbHide)</a:t>
            </a:r>
          </a:p>
          <a:p>
            <a:pPr>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          End Sub</a:t>
            </a:r>
          </a:p>
        </p:txBody>
      </p:sp>
      <p:sp>
        <p:nvSpPr>
          <p:cNvPr id="3" name="Title 2">
            <a:extLst>
              <a:ext uri="{FF2B5EF4-FFF2-40B4-BE49-F238E27FC236}">
                <a16:creationId xmlns:a16="http://schemas.microsoft.com/office/drawing/2014/main" id="{25F41EEB-16A1-4BE0-9856-8123DDD7B232}"/>
              </a:ext>
            </a:extLst>
          </p:cNvPr>
          <p:cNvSpPr>
            <a:spLocks noGrp="1"/>
          </p:cNvSpPr>
          <p:nvPr>
            <p:ph type="title"/>
          </p:nvPr>
        </p:nvSpPr>
        <p:spPr>
          <a:xfrm>
            <a:off x="159026" y="253514"/>
            <a:ext cx="7068870" cy="479910"/>
          </a:xfrm>
        </p:spPr>
        <p:txBody>
          <a:bodyPr>
            <a:normAutofit fontScale="90000"/>
          </a:bodyPr>
          <a:lstStyle/>
          <a:p>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Program Threats : </a:t>
            </a:r>
            <a:r>
              <a:rPr lang="en-IN" sz="3100" dirty="0">
                <a:latin typeface="Times New Roman" panose="02020603050405020304" pitchFamily="18" charset="0"/>
                <a:cs typeface="Times New Roman" panose="02020603050405020304" pitchFamily="18" charset="0"/>
              </a:rPr>
              <a:t>Viruses </a:t>
            </a:r>
            <a:br>
              <a:rPr lang="en-IN" sz="2000" b="1" u="sng"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84816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78C18C-D4F9-4BC8-AD82-4E18E9170E57}"/>
              </a:ext>
            </a:extLst>
          </p:cNvPr>
          <p:cNvSpPr>
            <a:spLocks noGrp="1"/>
          </p:cNvSpPr>
          <p:nvPr>
            <p:ph idx="1"/>
          </p:nvPr>
        </p:nvSpPr>
        <p:spPr>
          <a:xfrm>
            <a:off x="453325" y="733424"/>
            <a:ext cx="8237348" cy="5871062"/>
          </a:xfrm>
        </p:spPr>
        <p:txBody>
          <a:bodyPr>
            <a:noAutofit/>
          </a:bodyPr>
          <a:lstStyle/>
          <a:p>
            <a:pPr marL="285750" indent="-285750" algn="just">
              <a:lnSpc>
                <a:spcPct val="100000"/>
              </a:lnSpc>
              <a:spcBef>
                <a:spcPts val="700"/>
              </a:spcBef>
              <a:spcAft>
                <a:spcPts val="700"/>
              </a:spcAft>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Virus dropper inserts virus onto the system</a:t>
            </a:r>
          </a:p>
          <a:p>
            <a:pPr algn="just">
              <a:lnSpc>
                <a:spcPct val="100000"/>
              </a:lnSpc>
              <a:spcBef>
                <a:spcPts val="700"/>
              </a:spcBef>
              <a:spcAft>
                <a:spcPts val="700"/>
              </a:spcAft>
              <a:buNone/>
            </a:pPr>
            <a:r>
              <a:rPr lang="en-IN" b="1" dirty="0">
                <a:latin typeface="Times New Roman" panose="02020603050405020304" pitchFamily="18" charset="0"/>
                <a:cs typeface="Times New Roman" panose="02020603050405020304" pitchFamily="18" charset="0"/>
              </a:rPr>
              <a:t>Many categories of viruses, literally many thousands of viruses</a:t>
            </a:r>
          </a:p>
          <a:p>
            <a:pPr marL="285750" indent="-285750" algn="just">
              <a:lnSpc>
                <a:spcPct val="100000"/>
              </a:lnSpc>
              <a:spcBef>
                <a:spcPts val="700"/>
              </a:spcBef>
              <a:spcAft>
                <a:spcPts val="700"/>
              </a:spcAft>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File : </a:t>
            </a:r>
            <a:r>
              <a:rPr lang="en-US" dirty="0">
                <a:effectLst/>
                <a:latin typeface="Times New Roman" panose="02020603050405020304" pitchFamily="18" charset="0"/>
                <a:cs typeface="Times New Roman" panose="02020603050405020304" pitchFamily="18" charset="0"/>
              </a:rPr>
              <a:t>A standard file virus infects a system by appending itself to a file. File viruses are sometimes known as parasitic viruses, as they leave no full files behind and leave the host program still functional.</a:t>
            </a:r>
            <a:endParaRPr lang="en-IN"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Boot/Memory  : </a:t>
            </a:r>
            <a:r>
              <a:rPr lang="en-US" dirty="0">
                <a:effectLst/>
                <a:latin typeface="Times New Roman" panose="02020603050405020304" pitchFamily="18" charset="0"/>
                <a:cs typeface="Times New Roman" panose="02020603050405020304" pitchFamily="18" charset="0"/>
              </a:rPr>
              <a:t>A boot virus infects the boot sector of the system, executing every time the system is booted and before the operating system is loaded. </a:t>
            </a:r>
            <a:endParaRPr lang="en-IN"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Macro :</a:t>
            </a:r>
            <a:r>
              <a:rPr lang="en-US" b="1" dirty="0">
                <a:effectLst/>
                <a:latin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cs typeface="Times New Roman" panose="02020603050405020304" pitchFamily="18" charset="0"/>
              </a:rPr>
              <a:t>Macro viruses are written in a high-level language, such as Visual</a:t>
            </a:r>
            <a:br>
              <a:rPr lang="en-US" dirty="0">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Basic. These viruses are triggered when a program capable of executing</a:t>
            </a:r>
            <a:br>
              <a:rPr lang="en-US" dirty="0">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the macro is run. For example Microsoft office-(Microsoft word, Excel, PPT) It may destroy or steal the data depends upon the virus. </a:t>
            </a:r>
          </a:p>
          <a:p>
            <a:pPr marL="285750" indent="-285750" algn="just">
              <a:lnSpc>
                <a:spcPct val="100000"/>
              </a:lnSpc>
              <a:spcBef>
                <a:spcPts val="700"/>
              </a:spcBef>
              <a:spcAft>
                <a:spcPts val="700"/>
              </a:spcAft>
              <a:buFont typeface="Wingdings" panose="05000000000000000000" pitchFamily="2" charset="2"/>
              <a:buChar char="q"/>
            </a:pPr>
            <a:r>
              <a:rPr lang="en-US" b="1" dirty="0">
                <a:effectLst/>
                <a:latin typeface="Times New Roman" panose="02020603050405020304" pitchFamily="18" charset="0"/>
                <a:cs typeface="Times New Roman" panose="02020603050405020304" pitchFamily="18" charset="0"/>
              </a:rPr>
              <a:t>Source code: </a:t>
            </a:r>
            <a:r>
              <a:rPr lang="en-US" dirty="0">
                <a:effectLst/>
                <a:latin typeface="Times New Roman" panose="02020603050405020304" pitchFamily="18" charset="0"/>
                <a:cs typeface="Times New Roman" panose="02020603050405020304" pitchFamily="18" charset="0"/>
              </a:rPr>
              <a:t>A source code virus looks for source code and modifies it to</a:t>
            </a:r>
            <a:br>
              <a:rPr lang="en-US" dirty="0">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include the virus and to help spread the virus.</a:t>
            </a:r>
          </a:p>
          <a:p>
            <a:pPr marL="285750" indent="-285750" algn="just">
              <a:lnSpc>
                <a:spcPct val="100000"/>
              </a:lnSpc>
              <a:spcBef>
                <a:spcPts val="700"/>
              </a:spcBef>
              <a:spcAft>
                <a:spcPts val="700"/>
              </a:spcAft>
              <a:buFont typeface="Wingdings" panose="05000000000000000000" pitchFamily="2" charset="2"/>
              <a:buChar char="q"/>
            </a:pPr>
            <a:r>
              <a:rPr lang="en-US" b="1" dirty="0">
                <a:effectLst/>
                <a:latin typeface="Times New Roman" panose="02020603050405020304" pitchFamily="18" charset="0"/>
              </a:rPr>
              <a:t>Polymorphic : </a:t>
            </a:r>
            <a:r>
              <a:rPr lang="en-US" dirty="0">
                <a:effectLst/>
                <a:latin typeface="Times New Roman" panose="02020603050405020304" pitchFamily="18" charset="0"/>
              </a:rPr>
              <a:t>A polymorphic virus changes each time it is installed to avoid detection by antivirus software. </a:t>
            </a:r>
          </a:p>
          <a:p>
            <a:pPr marL="285750" indent="-285750" algn="just">
              <a:lnSpc>
                <a:spcPct val="100000"/>
              </a:lnSpc>
              <a:spcBef>
                <a:spcPts val="700"/>
              </a:spcBef>
              <a:spcAft>
                <a:spcPts val="700"/>
              </a:spcAft>
              <a:buFont typeface="Wingdings" panose="05000000000000000000" pitchFamily="2" charset="2"/>
              <a:buChar char="q"/>
            </a:pPr>
            <a:endParaRPr lang="en-US" dirty="0">
              <a:effectLst/>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FD39ED76-CFFF-45F7-8BD0-E5E686C46A77}"/>
              </a:ext>
            </a:extLst>
          </p:cNvPr>
          <p:cNvSpPr>
            <a:spLocks noGrp="1"/>
          </p:cNvSpPr>
          <p:nvPr>
            <p:ph type="title"/>
          </p:nvPr>
        </p:nvSpPr>
        <p:spPr>
          <a:xfrm>
            <a:off x="238539" y="253514"/>
            <a:ext cx="6989357" cy="479910"/>
          </a:xfrm>
        </p:spPr>
        <p:txBody>
          <a:bodyPr>
            <a:normAutofit/>
          </a:bodyPr>
          <a:lstStyle/>
          <a:p>
            <a:r>
              <a:rPr lang="en-IN" sz="2800" dirty="0">
                <a:latin typeface="Times New Roman" panose="02020603050405020304" pitchFamily="18" charset="0"/>
                <a:cs typeface="Times New Roman" panose="02020603050405020304" pitchFamily="18" charset="0"/>
              </a:rPr>
              <a:t>Program Threats :</a:t>
            </a:r>
          </a:p>
        </p:txBody>
      </p:sp>
    </p:spTree>
    <p:extLst>
      <p:ext uri="{BB962C8B-B14F-4D97-AF65-F5344CB8AC3E}">
        <p14:creationId xmlns:p14="http://schemas.microsoft.com/office/powerpoint/2010/main" val="23828054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2C9EE8-6177-49F7-9587-9B33F252659D}"/>
              </a:ext>
            </a:extLst>
          </p:cNvPr>
          <p:cNvSpPr>
            <a:spLocks noGrp="1"/>
          </p:cNvSpPr>
          <p:nvPr>
            <p:ph idx="1"/>
          </p:nvPr>
        </p:nvSpPr>
        <p:spPr>
          <a:xfrm>
            <a:off x="453325" y="861391"/>
            <a:ext cx="8237348" cy="5315572"/>
          </a:xfrm>
        </p:spPr>
        <p:txBody>
          <a:bodyPr>
            <a:normAutofit lnSpcReduction="10000"/>
          </a:bodyPr>
          <a:lstStyle/>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rPr>
              <a:t>The changes do not affect the virus’s functionality but rather change the virus’s signature. </a:t>
            </a:r>
          </a:p>
          <a:p>
            <a:pPr marL="285750" indent="-285750" algn="just">
              <a:lnSpc>
                <a:spcPct val="100000"/>
              </a:lnSpc>
              <a:spcBef>
                <a:spcPts val="700"/>
              </a:spcBef>
              <a:spcAft>
                <a:spcPts val="700"/>
              </a:spcAft>
              <a:buFont typeface="Wingdings" panose="05000000000000000000" pitchFamily="2" charset="2"/>
              <a:buChar char="q"/>
            </a:pPr>
            <a:r>
              <a:rPr lang="en-US" dirty="0">
                <a:effectLst/>
                <a:latin typeface="Times New Roman" panose="02020603050405020304" pitchFamily="18" charset="0"/>
              </a:rPr>
              <a:t>A virus signature is a pattern that can be used to identify a virus, typically a series of bytes that make up the virus code.</a:t>
            </a:r>
          </a:p>
          <a:p>
            <a:pPr marL="285750" indent="-285750" algn="just">
              <a:lnSpc>
                <a:spcPct val="100000"/>
              </a:lnSpc>
              <a:spcBef>
                <a:spcPts val="700"/>
              </a:spcBef>
              <a:spcAft>
                <a:spcPts val="700"/>
              </a:spcAft>
              <a:buFont typeface="Wingdings" panose="05000000000000000000" pitchFamily="2" charset="2"/>
              <a:buChar char="q"/>
            </a:pPr>
            <a:r>
              <a:rPr lang="en-US" b="1" dirty="0">
                <a:effectLst/>
                <a:latin typeface="Times New Roman" panose="02020603050405020304" pitchFamily="18" charset="0"/>
              </a:rPr>
              <a:t>Encrypted : </a:t>
            </a:r>
            <a:r>
              <a:rPr lang="en-US" dirty="0">
                <a:effectLst/>
                <a:latin typeface="Times New Roman" panose="02020603050405020304" pitchFamily="18" charset="0"/>
              </a:rPr>
              <a:t>An encrypted virus includes decryption code along with the encrypted virus, again to avoid detection. The virus first decrypts and then executes.</a:t>
            </a:r>
          </a:p>
          <a:p>
            <a:pPr marL="285750" indent="-285750" algn="just">
              <a:lnSpc>
                <a:spcPct val="100000"/>
              </a:lnSpc>
              <a:spcBef>
                <a:spcPts val="700"/>
              </a:spcBef>
              <a:spcAft>
                <a:spcPts val="700"/>
              </a:spcAft>
              <a:buFont typeface="Wingdings" panose="05000000000000000000" pitchFamily="2" charset="2"/>
              <a:buChar char="q"/>
            </a:pPr>
            <a:r>
              <a:rPr lang="en-US" b="1" dirty="0">
                <a:effectLst/>
                <a:latin typeface="Times New Roman" panose="02020603050405020304" pitchFamily="18" charset="0"/>
              </a:rPr>
              <a:t>Stealth:</a:t>
            </a:r>
            <a:r>
              <a:rPr lang="en-US" dirty="0">
                <a:effectLst/>
                <a:latin typeface="Times New Roman" panose="02020603050405020304" pitchFamily="18" charset="0"/>
              </a:rPr>
              <a:t> This tricky virus attempts to avoid detection by modifying parts of the system that could be used to detect it. </a:t>
            </a:r>
          </a:p>
          <a:p>
            <a:pPr marL="285750" indent="-285750" algn="just">
              <a:lnSpc>
                <a:spcPct val="100000"/>
              </a:lnSpc>
              <a:spcBef>
                <a:spcPts val="700"/>
              </a:spcBef>
              <a:spcAft>
                <a:spcPts val="700"/>
              </a:spcAft>
              <a:buFont typeface="Wingdings" panose="05000000000000000000" pitchFamily="2" charset="2"/>
              <a:buChar char="q"/>
            </a:pPr>
            <a:r>
              <a:rPr lang="en-US" b="1" dirty="0">
                <a:effectLst/>
                <a:latin typeface="Times New Roman" panose="02020603050405020304" pitchFamily="18" charset="0"/>
              </a:rPr>
              <a:t>Tunneling:</a:t>
            </a:r>
            <a:r>
              <a:rPr lang="en-US" dirty="0">
                <a:effectLst/>
                <a:latin typeface="Times New Roman" panose="02020603050405020304" pitchFamily="18" charset="0"/>
              </a:rPr>
              <a:t> This virus attempts to bypass detection by an antivirus scanner by installing itself in the interrupt-handler chain. Similar viruses install themselves in device drivers.</a:t>
            </a:r>
          </a:p>
          <a:p>
            <a:pPr marL="285750" indent="-285750" algn="just">
              <a:lnSpc>
                <a:spcPct val="100000"/>
              </a:lnSpc>
              <a:spcBef>
                <a:spcPts val="700"/>
              </a:spcBef>
              <a:spcAft>
                <a:spcPts val="700"/>
              </a:spcAft>
              <a:buFont typeface="Wingdings" panose="05000000000000000000" pitchFamily="2" charset="2"/>
              <a:buChar char="q"/>
            </a:pPr>
            <a:r>
              <a:rPr lang="en-US" b="1" dirty="0">
                <a:effectLst/>
                <a:latin typeface="Times New Roman" panose="02020603050405020304" pitchFamily="18" charset="0"/>
              </a:rPr>
              <a:t>Multipartite:</a:t>
            </a:r>
            <a:r>
              <a:rPr lang="en-US" dirty="0">
                <a:effectLst/>
                <a:latin typeface="Times New Roman" panose="02020603050405020304" pitchFamily="18" charset="0"/>
              </a:rPr>
              <a:t> A virus of this type is able to infect multiple parts of a system, including boot sectors, memory, and files. This makes it difficult to detect and contain.</a:t>
            </a:r>
          </a:p>
          <a:p>
            <a:pPr marL="285750" indent="-285750" algn="just">
              <a:lnSpc>
                <a:spcPct val="100000"/>
              </a:lnSpc>
              <a:spcBef>
                <a:spcPts val="700"/>
              </a:spcBef>
              <a:spcAft>
                <a:spcPts val="700"/>
              </a:spcAft>
              <a:buFont typeface="Wingdings" panose="05000000000000000000" pitchFamily="2" charset="2"/>
              <a:buChar char="q"/>
            </a:pPr>
            <a:r>
              <a:rPr lang="en-US" b="1" dirty="0">
                <a:effectLst/>
                <a:latin typeface="Times New Roman" panose="02020603050405020304" pitchFamily="18" charset="0"/>
              </a:rPr>
              <a:t>Armored</a:t>
            </a:r>
            <a:r>
              <a:rPr lang="en-US" b="1" dirty="0">
                <a:latin typeface="Times New Roman" panose="02020603050405020304" pitchFamily="18" charset="0"/>
              </a:rPr>
              <a:t>:</a:t>
            </a:r>
            <a:r>
              <a:rPr lang="en-US" dirty="0">
                <a:effectLst/>
                <a:latin typeface="Times New Roman" panose="02020603050405020304" pitchFamily="18" charset="0"/>
              </a:rPr>
              <a:t> An armored virus is coded to make it hard for antivirus researchers to unravel and understand. </a:t>
            </a:r>
            <a:endParaRPr lang="en-IN" dirty="0">
              <a:latin typeface="Times New Roman" panose="02020603050405020304" pitchFamily="18" charset="0"/>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68EC9D19-D52C-4BBC-8686-347FC6928F11}"/>
              </a:ext>
            </a:extLst>
          </p:cNvPr>
          <p:cNvSpPr>
            <a:spLocks noGrp="1"/>
          </p:cNvSpPr>
          <p:nvPr>
            <p:ph type="title"/>
          </p:nvPr>
        </p:nvSpPr>
        <p:spPr>
          <a:xfrm>
            <a:off x="119270" y="253514"/>
            <a:ext cx="7108626" cy="479910"/>
          </a:xfrm>
        </p:spPr>
        <p:txBody>
          <a:bodyPr>
            <a:normAutofit/>
          </a:bodyPr>
          <a:lstStyle/>
          <a:p>
            <a:r>
              <a:rPr lang="en-IN" sz="2800" dirty="0">
                <a:latin typeface="Times New Roman" panose="02020603050405020304" pitchFamily="18" charset="0"/>
                <a:cs typeface="Times New Roman" panose="02020603050405020304" pitchFamily="18" charset="0"/>
              </a:rPr>
              <a:t>Program Threats :</a:t>
            </a:r>
            <a:endParaRPr lang="en-IN" sz="2800" dirty="0"/>
          </a:p>
        </p:txBody>
      </p:sp>
    </p:spTree>
    <p:extLst>
      <p:ext uri="{BB962C8B-B14F-4D97-AF65-F5344CB8AC3E}">
        <p14:creationId xmlns:p14="http://schemas.microsoft.com/office/powerpoint/2010/main" val="1232772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D1B4686-19F0-4CEC-8D8F-7D0A4DE1A8C1}"/>
              </a:ext>
            </a:extLst>
          </p:cNvPr>
          <p:cNvPicPr>
            <a:picLocks noGrp="1" noChangeAspect="1"/>
          </p:cNvPicPr>
          <p:nvPr>
            <p:ph idx="1"/>
          </p:nvPr>
        </p:nvPicPr>
        <p:blipFill>
          <a:blip r:embed="rId2"/>
          <a:stretch>
            <a:fillRect/>
          </a:stretch>
        </p:blipFill>
        <p:spPr>
          <a:xfrm>
            <a:off x="861391" y="887413"/>
            <a:ext cx="7381461" cy="5619404"/>
          </a:xfrm>
        </p:spPr>
      </p:pic>
      <p:sp>
        <p:nvSpPr>
          <p:cNvPr id="3" name="Title 2">
            <a:extLst>
              <a:ext uri="{FF2B5EF4-FFF2-40B4-BE49-F238E27FC236}">
                <a16:creationId xmlns:a16="http://schemas.microsoft.com/office/drawing/2014/main" id="{6032CB31-B1C6-46E8-8FF2-7088C33CD204}"/>
              </a:ext>
            </a:extLst>
          </p:cNvPr>
          <p:cNvSpPr>
            <a:spLocks noGrp="1"/>
          </p:cNvSpPr>
          <p:nvPr>
            <p:ph type="title"/>
          </p:nvPr>
        </p:nvSpPr>
        <p:spPr>
          <a:xfrm>
            <a:off x="357809" y="253514"/>
            <a:ext cx="6870087" cy="427523"/>
          </a:xfrm>
        </p:spPr>
        <p:txBody>
          <a:bodyPr>
            <a:noAutofit/>
          </a:bodyPr>
          <a:lstStyle/>
          <a:p>
            <a:r>
              <a:rPr lang="en-IN" sz="2800" dirty="0">
                <a:latin typeface="Times New Roman" panose="02020603050405020304" pitchFamily="18" charset="0"/>
                <a:cs typeface="Times New Roman" panose="02020603050405020304" pitchFamily="18" charset="0"/>
              </a:rPr>
              <a:t>A Boot-sector Computer Virus :</a:t>
            </a:r>
          </a:p>
        </p:txBody>
      </p:sp>
    </p:spTree>
    <p:extLst>
      <p:ext uri="{BB962C8B-B14F-4D97-AF65-F5344CB8AC3E}">
        <p14:creationId xmlns:p14="http://schemas.microsoft.com/office/powerpoint/2010/main" val="10089668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BEF004-72A1-4303-B006-D23EF4F981A8}"/>
              </a:ext>
            </a:extLst>
          </p:cNvPr>
          <p:cNvSpPr>
            <a:spLocks noGrp="1"/>
          </p:cNvSpPr>
          <p:nvPr>
            <p:ph idx="1"/>
          </p:nvPr>
        </p:nvSpPr>
        <p:spPr>
          <a:xfrm>
            <a:off x="453325" y="874643"/>
            <a:ext cx="8237348" cy="5302320"/>
          </a:xfrm>
        </p:spPr>
        <p:txBody>
          <a:bodyPr>
            <a:normAutofit/>
          </a:bodyPr>
          <a:lstStyle/>
          <a:p>
            <a:pPr marL="285750" indent="-285750">
              <a:lnSpc>
                <a:spcPct val="100000"/>
              </a:lnSpc>
              <a:spcBef>
                <a:spcPts val="900"/>
              </a:spcBef>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Attacks still common, still occurring</a:t>
            </a:r>
          </a:p>
          <a:p>
            <a:pPr marL="285750" indent="-285750">
              <a:lnSpc>
                <a:spcPct val="100000"/>
              </a:lnSpc>
              <a:spcBef>
                <a:spcPts val="900"/>
              </a:spcBef>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Attacks moved over time from science experiments to tools of organized crime</a:t>
            </a:r>
          </a:p>
          <a:p>
            <a:pPr>
              <a:lnSpc>
                <a:spcPct val="100000"/>
              </a:lnSpc>
              <a:spcBef>
                <a:spcPts val="900"/>
              </a:spcBef>
              <a:buNone/>
            </a:pPr>
            <a:r>
              <a:rPr lang="en-US" sz="1900" dirty="0">
                <a:latin typeface="Times New Roman" panose="02020603050405020304" pitchFamily="18" charset="0"/>
                <a:cs typeface="Times New Roman" panose="02020603050405020304" pitchFamily="18" charset="0"/>
              </a:rPr>
              <a:t>              →   Targeting specific companies </a:t>
            </a:r>
          </a:p>
          <a:p>
            <a:pPr>
              <a:lnSpc>
                <a:spcPct val="100000"/>
              </a:lnSpc>
              <a:spcBef>
                <a:spcPts val="900"/>
              </a:spcBef>
              <a:buNone/>
            </a:pPr>
            <a:r>
              <a:rPr lang="en-US" sz="1900" dirty="0">
                <a:latin typeface="Times New Roman" panose="02020603050405020304" pitchFamily="18" charset="0"/>
                <a:cs typeface="Times New Roman" panose="02020603050405020304" pitchFamily="18" charset="0"/>
              </a:rPr>
              <a:t>              →   Creating botnets to use as tool for spam and DDOS delivery</a:t>
            </a:r>
          </a:p>
          <a:p>
            <a:pPr>
              <a:lnSpc>
                <a:spcPct val="100000"/>
              </a:lnSpc>
              <a:spcBef>
                <a:spcPts val="900"/>
              </a:spcBef>
              <a:buNone/>
            </a:pPr>
            <a:r>
              <a:rPr lang="en-US" sz="1900" dirty="0">
                <a:latin typeface="Times New Roman" panose="02020603050405020304" pitchFamily="18" charset="0"/>
                <a:cs typeface="Times New Roman" panose="02020603050405020304" pitchFamily="18" charset="0"/>
              </a:rPr>
              <a:t>               →   Keystroke logger to grab passwords, credit card numbers </a:t>
            </a:r>
          </a:p>
          <a:p>
            <a:pPr marL="285750" indent="-285750">
              <a:lnSpc>
                <a:spcPct val="100000"/>
              </a:lnSpc>
              <a:spcBef>
                <a:spcPts val="900"/>
              </a:spcBef>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Why is Windows the target for most attacks?</a:t>
            </a:r>
          </a:p>
          <a:p>
            <a:pPr>
              <a:lnSpc>
                <a:spcPct val="100000"/>
              </a:lnSpc>
              <a:spcBef>
                <a:spcPts val="900"/>
              </a:spcBef>
              <a:buNone/>
            </a:pPr>
            <a:r>
              <a:rPr lang="en-US" sz="1900" dirty="0">
                <a:latin typeface="Times New Roman" panose="02020603050405020304" pitchFamily="18" charset="0"/>
                <a:cs typeface="Times New Roman" panose="02020603050405020304" pitchFamily="18" charset="0"/>
              </a:rPr>
              <a:t>              →   Most common</a:t>
            </a:r>
          </a:p>
          <a:p>
            <a:pPr>
              <a:lnSpc>
                <a:spcPct val="100000"/>
              </a:lnSpc>
              <a:spcBef>
                <a:spcPts val="900"/>
              </a:spcBef>
              <a:buNone/>
            </a:pPr>
            <a:r>
              <a:rPr lang="en-US" sz="1900" dirty="0">
                <a:latin typeface="Times New Roman" panose="02020603050405020304" pitchFamily="18" charset="0"/>
                <a:cs typeface="Times New Roman" panose="02020603050405020304" pitchFamily="18" charset="0"/>
              </a:rPr>
              <a:t>              →   Everyone is an administrator </a:t>
            </a:r>
          </a:p>
          <a:p>
            <a:pPr>
              <a:lnSpc>
                <a:spcPct val="100000"/>
              </a:lnSpc>
              <a:spcBef>
                <a:spcPts val="900"/>
              </a:spcBef>
              <a:buNone/>
            </a:pPr>
            <a:r>
              <a:rPr lang="en-US" sz="1900" dirty="0">
                <a:latin typeface="Times New Roman" panose="02020603050405020304" pitchFamily="18" charset="0"/>
                <a:cs typeface="Times New Roman" panose="02020603050405020304" pitchFamily="18" charset="0"/>
              </a:rPr>
              <a:t>                                 →   Licensing required? </a:t>
            </a:r>
          </a:p>
          <a:p>
            <a:pPr>
              <a:lnSpc>
                <a:spcPct val="100000"/>
              </a:lnSpc>
              <a:spcBef>
                <a:spcPts val="900"/>
              </a:spcBef>
              <a:buNone/>
            </a:pPr>
            <a:r>
              <a:rPr lang="en-US" sz="1900" dirty="0">
                <a:latin typeface="Times New Roman" panose="02020603050405020304" pitchFamily="18" charset="0"/>
                <a:cs typeface="Times New Roman" panose="02020603050405020304" pitchFamily="18" charset="0"/>
              </a:rPr>
              <a:t>             → Monoculture considered harmful</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24739D83-9FCB-4DA9-887B-185E879E84FD}"/>
              </a:ext>
            </a:extLst>
          </p:cNvPr>
          <p:cNvSpPr>
            <a:spLocks noGrp="1"/>
          </p:cNvSpPr>
          <p:nvPr>
            <p:ph type="title"/>
          </p:nvPr>
        </p:nvSpPr>
        <p:spPr>
          <a:xfrm>
            <a:off x="198783" y="253514"/>
            <a:ext cx="7029113" cy="479910"/>
          </a:xfrm>
        </p:spPr>
        <p:txBody>
          <a:bodyPr>
            <a:normAutofit/>
          </a:bodyPr>
          <a:lstStyle/>
          <a:p>
            <a:r>
              <a:rPr lang="en-IN" sz="2800" dirty="0">
                <a:latin typeface="Times New Roman" panose="02020603050405020304" pitchFamily="18" charset="0"/>
                <a:cs typeface="Times New Roman" panose="02020603050405020304" pitchFamily="18" charset="0"/>
              </a:rPr>
              <a:t>The Threat Continues :</a:t>
            </a:r>
          </a:p>
        </p:txBody>
      </p:sp>
    </p:spTree>
    <p:extLst>
      <p:ext uri="{BB962C8B-B14F-4D97-AF65-F5344CB8AC3E}">
        <p14:creationId xmlns:p14="http://schemas.microsoft.com/office/powerpoint/2010/main" val="42388348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B4897C-65DD-4119-AE28-59478261C7BD}"/>
              </a:ext>
            </a:extLst>
          </p:cNvPr>
          <p:cNvSpPr>
            <a:spLocks noGrp="1"/>
          </p:cNvSpPr>
          <p:nvPr>
            <p:ph idx="1"/>
          </p:nvPr>
        </p:nvSpPr>
        <p:spPr>
          <a:xfrm>
            <a:off x="318052" y="927652"/>
            <a:ext cx="8521147" cy="5499652"/>
          </a:xfrm>
        </p:spPr>
        <p:txBody>
          <a:bodyPr>
            <a:normAutofit fontScale="55000" lnSpcReduction="20000"/>
          </a:bodyPr>
          <a:lstStyle/>
          <a:p>
            <a:pPr marL="285750" indent="-285750" algn="just">
              <a:spcBef>
                <a:spcPts val="700"/>
              </a:spcBef>
              <a:spcAft>
                <a:spcPts val="700"/>
              </a:spcAft>
              <a:buFont typeface="Wingdings" panose="05000000000000000000" pitchFamily="2" charset="2"/>
              <a:buChar char="q"/>
            </a:pPr>
            <a:r>
              <a:rPr lang="en-US" sz="3300" dirty="0">
                <a:effectLst/>
                <a:latin typeface="Times New Roman" panose="02020603050405020304" pitchFamily="18" charset="0"/>
              </a:rPr>
              <a:t>Program threats typically use a breakdown in the protection mechanisms of a system to attack programs. In contrast, system and network threats involve the abuse of services and network connections. System and network threats create a situation in which operating-system resources and user files are misused. Sometimes, a system and network attack is used to launch a program attack, and vice versa.</a:t>
            </a:r>
            <a:endParaRPr lang="en-US" sz="3300" dirty="0">
              <a:latin typeface="Times New Roman" panose="02020603050405020304" pitchFamily="18" charset="0"/>
              <a:cs typeface="Times New Roman" panose="02020603050405020304" pitchFamily="18" charset="0"/>
            </a:endParaRPr>
          </a:p>
          <a:p>
            <a:pPr marL="285750" indent="-285750" algn="just">
              <a:spcBef>
                <a:spcPts val="300"/>
              </a:spcBef>
              <a:spcAft>
                <a:spcPts val="300"/>
              </a:spcAft>
              <a:buFont typeface="Wingdings" panose="05000000000000000000" pitchFamily="2" charset="2"/>
              <a:buChar char="q"/>
            </a:pPr>
            <a:r>
              <a:rPr lang="en-US" sz="3300" dirty="0">
                <a:latin typeface="Times New Roman" panose="02020603050405020304" pitchFamily="18" charset="0"/>
                <a:cs typeface="Times New Roman" panose="02020603050405020304" pitchFamily="18" charset="0"/>
              </a:rPr>
              <a:t>Some systems “ open ” rather than secure by default </a:t>
            </a:r>
          </a:p>
          <a:p>
            <a:pPr algn="just">
              <a:spcBef>
                <a:spcPts val="300"/>
              </a:spcBef>
              <a:spcAft>
                <a:spcPts val="300"/>
              </a:spcAft>
              <a:buNone/>
            </a:pPr>
            <a:r>
              <a:rPr lang="en-US" sz="3300" dirty="0">
                <a:latin typeface="Times New Roman" panose="02020603050405020304" pitchFamily="18" charset="0"/>
                <a:cs typeface="Times New Roman" panose="02020603050405020304" pitchFamily="18" charset="0"/>
              </a:rPr>
              <a:t>             a.  Reduce attack surface </a:t>
            </a:r>
          </a:p>
          <a:p>
            <a:pPr algn="just">
              <a:spcBef>
                <a:spcPts val="300"/>
              </a:spcBef>
              <a:spcAft>
                <a:spcPts val="300"/>
              </a:spcAft>
              <a:buNone/>
            </a:pPr>
            <a:r>
              <a:rPr lang="en-US" sz="3300" dirty="0">
                <a:latin typeface="Times New Roman" panose="02020603050405020304" pitchFamily="18" charset="0"/>
                <a:cs typeface="Times New Roman" panose="02020603050405020304" pitchFamily="18" charset="0"/>
              </a:rPr>
              <a:t>             b.  But harder to use, more knowledge needed to administer</a:t>
            </a:r>
          </a:p>
          <a:p>
            <a:pPr marL="285750" indent="-285750" algn="just">
              <a:spcBef>
                <a:spcPts val="300"/>
              </a:spcBef>
              <a:spcAft>
                <a:spcPts val="300"/>
              </a:spcAft>
              <a:buFont typeface="Wingdings" panose="05000000000000000000" pitchFamily="2" charset="2"/>
              <a:buChar char="q"/>
            </a:pPr>
            <a:r>
              <a:rPr lang="en-US" sz="3300" dirty="0">
                <a:latin typeface="Times New Roman" panose="02020603050405020304" pitchFamily="18" charset="0"/>
                <a:cs typeface="Times New Roman" panose="02020603050405020304" pitchFamily="18" charset="0"/>
              </a:rPr>
              <a:t>Network threats harder to detect, prevent</a:t>
            </a:r>
          </a:p>
          <a:p>
            <a:pPr algn="just">
              <a:spcBef>
                <a:spcPts val="300"/>
              </a:spcBef>
              <a:spcAft>
                <a:spcPts val="300"/>
              </a:spcAft>
              <a:buNone/>
            </a:pPr>
            <a:r>
              <a:rPr lang="en-US" sz="3300" dirty="0">
                <a:latin typeface="Times New Roman" panose="02020603050405020304" pitchFamily="18" charset="0"/>
                <a:cs typeface="Times New Roman" panose="02020603050405020304" pitchFamily="18" charset="0"/>
              </a:rPr>
              <a:t>             a.  Protection systems weaker</a:t>
            </a:r>
          </a:p>
          <a:p>
            <a:pPr algn="just">
              <a:spcBef>
                <a:spcPts val="300"/>
              </a:spcBef>
              <a:spcAft>
                <a:spcPts val="300"/>
              </a:spcAft>
              <a:buNone/>
            </a:pPr>
            <a:r>
              <a:rPr lang="en-US" sz="3300" dirty="0">
                <a:latin typeface="Times New Roman" panose="02020603050405020304" pitchFamily="18" charset="0"/>
                <a:cs typeface="Times New Roman" panose="02020603050405020304" pitchFamily="18" charset="0"/>
              </a:rPr>
              <a:t>             b.  More difficult to have a shared secret on which to base access</a:t>
            </a:r>
          </a:p>
          <a:p>
            <a:pPr algn="just">
              <a:spcBef>
                <a:spcPts val="300"/>
              </a:spcBef>
              <a:spcAft>
                <a:spcPts val="300"/>
              </a:spcAft>
              <a:buNone/>
            </a:pPr>
            <a:r>
              <a:rPr lang="en-US" sz="3300" dirty="0">
                <a:latin typeface="Times New Roman" panose="02020603050405020304" pitchFamily="18" charset="0"/>
                <a:cs typeface="Times New Roman" panose="02020603050405020304" pitchFamily="18" charset="0"/>
              </a:rPr>
              <a:t>             c.  No physical limits once system attached to internet</a:t>
            </a:r>
          </a:p>
          <a:p>
            <a:pPr algn="just">
              <a:spcBef>
                <a:spcPts val="300"/>
              </a:spcBef>
              <a:spcAft>
                <a:spcPts val="300"/>
              </a:spcAft>
              <a:buNone/>
            </a:pPr>
            <a:r>
              <a:rPr lang="en-US" sz="3300" dirty="0">
                <a:latin typeface="Times New Roman" panose="02020603050405020304" pitchFamily="18" charset="0"/>
                <a:cs typeface="Times New Roman" panose="02020603050405020304" pitchFamily="18" charset="0"/>
              </a:rPr>
              <a:t>                         ---   Or on network with system attached to internet</a:t>
            </a:r>
          </a:p>
          <a:p>
            <a:pPr algn="just">
              <a:spcBef>
                <a:spcPts val="300"/>
              </a:spcBef>
              <a:spcAft>
                <a:spcPts val="300"/>
              </a:spcAft>
              <a:buNone/>
            </a:pPr>
            <a:r>
              <a:rPr lang="en-US" sz="3300" dirty="0">
                <a:latin typeface="Times New Roman" panose="02020603050405020304" pitchFamily="18" charset="0"/>
                <a:cs typeface="Times New Roman" panose="02020603050405020304" pitchFamily="18" charset="0"/>
              </a:rPr>
              <a:t>            d.  Even determining location of connecting system difficult </a:t>
            </a:r>
          </a:p>
          <a:p>
            <a:pPr algn="just">
              <a:spcBef>
                <a:spcPts val="300"/>
              </a:spcBef>
              <a:spcAft>
                <a:spcPts val="300"/>
              </a:spcAft>
              <a:buNone/>
            </a:pPr>
            <a:r>
              <a:rPr lang="en-US" sz="3300" dirty="0">
                <a:latin typeface="Times New Roman" panose="02020603050405020304" pitchFamily="18" charset="0"/>
                <a:cs typeface="Times New Roman" panose="02020603050405020304" pitchFamily="18" charset="0"/>
              </a:rPr>
              <a:t>                        ---   IP address is only knowledge</a:t>
            </a:r>
          </a:p>
          <a:p>
            <a:pPr marL="285750" indent="-285750">
              <a:lnSpc>
                <a:spcPct val="100000"/>
              </a:lnSpc>
              <a:spcBef>
                <a:spcPts val="700"/>
              </a:spcBef>
              <a:spcAft>
                <a:spcPts val="700"/>
              </a:spcAft>
              <a:buFont typeface="Wingdings" panose="05000000000000000000" pitchFamily="2" charset="2"/>
              <a:buChar char="q"/>
            </a:pP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FD64E578-6667-4716-B255-AE6F518429EA}"/>
              </a:ext>
            </a:extLst>
          </p:cNvPr>
          <p:cNvSpPr>
            <a:spLocks noGrp="1"/>
          </p:cNvSpPr>
          <p:nvPr>
            <p:ph type="title"/>
          </p:nvPr>
        </p:nvSpPr>
        <p:spPr>
          <a:xfrm>
            <a:off x="92765" y="253514"/>
            <a:ext cx="7135131" cy="479910"/>
          </a:xfrm>
        </p:spPr>
        <p:txBody>
          <a:bodyPr>
            <a:normAutofit/>
          </a:bodyPr>
          <a:lstStyle/>
          <a:p>
            <a:r>
              <a:rPr lang="en-IN" sz="2800" dirty="0">
                <a:effectLst/>
                <a:latin typeface="Times New Roman" panose="02020603050405020304" pitchFamily="18" charset="0"/>
                <a:cs typeface="Times New Roman" panose="02020603050405020304" pitchFamily="18" charset="0"/>
              </a:rPr>
              <a:t>System and Network Threats :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54288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7BC11C-BC94-44FE-AC92-8F014A9FBEA0}"/>
              </a:ext>
            </a:extLst>
          </p:cNvPr>
          <p:cNvSpPr>
            <a:spLocks noGrp="1"/>
          </p:cNvSpPr>
          <p:nvPr>
            <p:ph idx="1"/>
          </p:nvPr>
        </p:nvSpPr>
        <p:spPr>
          <a:xfrm>
            <a:off x="453325" y="681037"/>
            <a:ext cx="8237348" cy="5495926"/>
          </a:xfrm>
        </p:spPr>
        <p:txBody>
          <a:bodyPr>
            <a:noAutofit/>
          </a:bodyPr>
          <a:lstStyle/>
          <a:p>
            <a:pPr algn="just">
              <a:lnSpc>
                <a:spcPct val="100000"/>
              </a:lnSpc>
              <a:spcBef>
                <a:spcPts val="700"/>
              </a:spcBef>
              <a:spcAft>
                <a:spcPts val="700"/>
              </a:spcAft>
              <a:buNone/>
            </a:pPr>
            <a:r>
              <a:rPr lang="en-US" sz="1900" b="1" u="sng" dirty="0">
                <a:effectLst/>
                <a:latin typeface="Times New Roman" panose="02020603050405020304" pitchFamily="18" charset="0"/>
                <a:cs typeface="Times New Roman" panose="02020603050405020304" pitchFamily="18" charset="0"/>
              </a:rPr>
              <a:t>Worm :</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A worm is a process that uses the spawn mechanism to duplicate itself.</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 The worm spawns copies of itself, using up system resources and perhaps locking out all other processes.</a:t>
            </a:r>
            <a:r>
              <a:rPr lang="en-US" sz="1900" dirty="0">
                <a:latin typeface="Times New Roman" panose="02020603050405020304" pitchFamily="18" charset="0"/>
                <a:cs typeface="Times New Roman" panose="02020603050405020304" pitchFamily="18" charset="0"/>
              </a:rPr>
              <a:t>; standalone program</a:t>
            </a:r>
          </a:p>
          <a:p>
            <a:pPr algn="just">
              <a:lnSpc>
                <a:spcPct val="100000"/>
              </a:lnSpc>
              <a:spcBef>
                <a:spcPts val="700"/>
              </a:spcBef>
              <a:spcAft>
                <a:spcPts val="700"/>
              </a:spcAft>
              <a:buNone/>
            </a:pPr>
            <a:r>
              <a:rPr lang="en-US" sz="1900" b="1" u="sng" dirty="0">
                <a:latin typeface="Times New Roman" panose="02020603050405020304" pitchFamily="18" charset="0"/>
                <a:cs typeface="Times New Roman" panose="02020603050405020304" pitchFamily="18" charset="0"/>
              </a:rPr>
              <a:t>Internet worm :</a:t>
            </a:r>
          </a:p>
          <a:p>
            <a:pPr marL="285750" indent="-285750" algn="just">
              <a:lnSpc>
                <a:spcPct val="100000"/>
              </a:lnSpc>
              <a:spcBef>
                <a:spcPts val="700"/>
              </a:spcBef>
              <a:spcAft>
                <a:spcPts val="7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 Exploited UNIX networking features (remote access) and bugs in finger and send mail programs</a:t>
            </a:r>
          </a:p>
          <a:p>
            <a:pPr marL="285750" indent="-285750" algn="just">
              <a:lnSpc>
                <a:spcPct val="100000"/>
              </a:lnSpc>
              <a:spcBef>
                <a:spcPts val="700"/>
              </a:spcBef>
              <a:spcAft>
                <a:spcPts val="7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Exploited trust-relationship mechanism used by rsh to access friendly systems without use of password</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worm was made up of two programs, a grappling hook (also called</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a bootstrap or vector) program and the main program. </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grappling hook consisted of 99 lines of C code compiled and run on each</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machine it accessed. </a:t>
            </a:r>
            <a:endParaRPr lang="en-US"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AFEB857C-1CC0-482B-B737-3FCCEBBA9A99}"/>
              </a:ext>
            </a:extLst>
          </p:cNvPr>
          <p:cNvSpPr>
            <a:spLocks noGrp="1"/>
          </p:cNvSpPr>
          <p:nvPr>
            <p:ph type="title"/>
          </p:nvPr>
        </p:nvSpPr>
        <p:spPr>
          <a:xfrm>
            <a:off x="172278" y="253514"/>
            <a:ext cx="7055618" cy="427523"/>
          </a:xfrm>
        </p:spPr>
        <p:txBody>
          <a:bodyPr>
            <a:noAutofit/>
          </a:bodyPr>
          <a:lstStyle/>
          <a:p>
            <a:r>
              <a:rPr lang="en-IN" sz="2800" dirty="0">
                <a:effectLst/>
                <a:latin typeface="Times New Roman" panose="02020603050405020304" pitchFamily="18" charset="0"/>
                <a:cs typeface="Times New Roman" panose="02020603050405020304" pitchFamily="18" charset="0"/>
              </a:rPr>
              <a:t>System and Network Threats : </a:t>
            </a:r>
            <a:endParaRPr lang="en-IN" sz="2800" dirty="0"/>
          </a:p>
        </p:txBody>
      </p:sp>
    </p:spTree>
    <p:extLst>
      <p:ext uri="{BB962C8B-B14F-4D97-AF65-F5344CB8AC3E}">
        <p14:creationId xmlns:p14="http://schemas.microsoft.com/office/powerpoint/2010/main" val="36511640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9B903D-3F1A-44ED-B406-3FBB11A549F0}"/>
              </a:ext>
            </a:extLst>
          </p:cNvPr>
          <p:cNvSpPr>
            <a:spLocks noGrp="1"/>
          </p:cNvSpPr>
          <p:nvPr>
            <p:ph idx="1"/>
          </p:nvPr>
        </p:nvSpPr>
        <p:spPr>
          <a:xfrm>
            <a:off x="453325" y="927652"/>
            <a:ext cx="8237348" cy="5249311"/>
          </a:xfrm>
        </p:spPr>
        <p:txBody>
          <a:bodyPr>
            <a:noAutofit/>
          </a:bodyPr>
          <a:lstStyle/>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Once established on the computer system under attack, the grappling hook connected to the machine where it originated and uploaded a copy of the main worm onto the hooked system .</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main program proceeded to search for other machines to which the newly infected system could connect easily. </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In these actions, Morris exploited the </a:t>
            </a:r>
            <a:r>
              <a:rPr lang="en-US" sz="1900" b="1" dirty="0">
                <a:effectLst/>
                <a:latin typeface="Times New Roman" panose="02020603050405020304" pitchFamily="18" charset="0"/>
                <a:cs typeface="Times New Roman" panose="02020603050405020304" pitchFamily="18" charset="0"/>
              </a:rPr>
              <a:t>UNIX networking utility rsh </a:t>
            </a:r>
            <a:r>
              <a:rPr lang="en-US" sz="1900" dirty="0">
                <a:effectLst/>
                <a:latin typeface="Times New Roman" panose="02020603050405020304" pitchFamily="18" charset="0"/>
                <a:cs typeface="Times New Roman" panose="02020603050405020304" pitchFamily="18" charset="0"/>
              </a:rPr>
              <a:t>for easy remote task execution.</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 The worm searched these special files for site names that would allow remote execution with out a password.</a:t>
            </a: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Where remote shells were established, the worm program was uploaded and</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began executing anew.</a:t>
            </a:r>
          </a:p>
          <a:p>
            <a:pPr marL="285750" indent="-285750" algn="just">
              <a:lnSpc>
                <a:spcPct val="100000"/>
              </a:lnSpc>
              <a:spcBef>
                <a:spcPts val="700"/>
              </a:spcBef>
              <a:spcAft>
                <a:spcPts val="700"/>
              </a:spcAft>
              <a:buFont typeface="Wingdings" panose="05000000000000000000" pitchFamily="2" charset="2"/>
              <a:buChar char="q"/>
            </a:pPr>
            <a:r>
              <a:rPr lang="en-US" sz="2000" dirty="0">
                <a:effectLst/>
                <a:latin typeface="Times New Roman" panose="02020603050405020304" pitchFamily="18" charset="0"/>
              </a:rPr>
              <a:t>The attack via remote access was one of three infection methods built into</a:t>
            </a:r>
            <a:br>
              <a:rPr lang="en-US" sz="2000" dirty="0"/>
            </a:br>
            <a:r>
              <a:rPr lang="en-US" sz="2000" dirty="0">
                <a:effectLst/>
                <a:latin typeface="Times New Roman" panose="02020603050405020304" pitchFamily="18" charset="0"/>
              </a:rPr>
              <a:t>the worm.</a:t>
            </a:r>
            <a:endParaRPr lang="en-US" sz="1900" dirty="0">
              <a:effectLst/>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3D4F921-AF70-403D-A9AB-7868C0F54569}"/>
              </a:ext>
            </a:extLst>
          </p:cNvPr>
          <p:cNvSpPr>
            <a:spLocks noGrp="1"/>
          </p:cNvSpPr>
          <p:nvPr>
            <p:ph type="title"/>
          </p:nvPr>
        </p:nvSpPr>
        <p:spPr>
          <a:xfrm>
            <a:off x="106017" y="253514"/>
            <a:ext cx="7121879" cy="479910"/>
          </a:xfrm>
        </p:spPr>
        <p:txBody>
          <a:bodyPr/>
          <a:lstStyle/>
          <a:p>
            <a:r>
              <a:rPr lang="en-IN" sz="2400" dirty="0">
                <a:effectLst/>
                <a:latin typeface="Times New Roman" panose="02020603050405020304" pitchFamily="18" charset="0"/>
                <a:cs typeface="Times New Roman" panose="02020603050405020304" pitchFamily="18" charset="0"/>
              </a:rPr>
              <a:t>System and Network Threats : </a:t>
            </a:r>
            <a:endParaRPr lang="en-IN" dirty="0"/>
          </a:p>
        </p:txBody>
      </p:sp>
    </p:spTree>
    <p:extLst>
      <p:ext uri="{BB962C8B-B14F-4D97-AF65-F5344CB8AC3E}">
        <p14:creationId xmlns:p14="http://schemas.microsoft.com/office/powerpoint/2010/main" val="28485988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9ABE1B-7BB6-4FC1-892E-B09D1D065816}"/>
              </a:ext>
            </a:extLst>
          </p:cNvPr>
          <p:cNvSpPr>
            <a:spLocks noGrp="1"/>
          </p:cNvSpPr>
          <p:nvPr>
            <p:ph idx="1"/>
          </p:nvPr>
        </p:nvSpPr>
        <p:spPr>
          <a:xfrm>
            <a:off x="453325" y="861391"/>
            <a:ext cx="8237348" cy="5315572"/>
          </a:xfrm>
        </p:spPr>
        <p:txBody>
          <a:bodyPr>
            <a:normAutofit/>
          </a:bodyPr>
          <a:lstStyle/>
          <a:p>
            <a:pPr marL="285750" indent="-285750" algn="just">
              <a:lnSpc>
                <a:spcPct val="100000"/>
              </a:lnSpc>
              <a:spcBef>
                <a:spcPts val="900"/>
              </a:spcBef>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other two methods involved operating-system bugs in the UNIX</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finger and send mail programs.</a:t>
            </a:r>
          </a:p>
          <a:p>
            <a:pPr marL="285750" indent="-285750" algn="just">
              <a:lnSpc>
                <a:spcPct val="100000"/>
              </a:lnSpc>
              <a:spcBef>
                <a:spcPts val="900"/>
              </a:spcBef>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finger utility functions as an electronic telephone directory. The command</a:t>
            </a:r>
            <a:br>
              <a:rPr lang="en-US" sz="1900" dirty="0">
                <a:latin typeface="Times New Roman" panose="02020603050405020304" pitchFamily="18" charset="0"/>
                <a:cs typeface="Times New Roman" panose="02020603050405020304" pitchFamily="18" charset="0"/>
              </a:rPr>
            </a:br>
            <a:r>
              <a:rPr lang="en-US" sz="1900" b="1" dirty="0">
                <a:effectLst/>
                <a:latin typeface="Times New Roman" panose="02020603050405020304" pitchFamily="18" charset="0"/>
                <a:cs typeface="Times New Roman" panose="02020603050405020304" pitchFamily="18" charset="0"/>
              </a:rPr>
              <a:t>finger user-name@hostname  </a:t>
            </a:r>
            <a:r>
              <a:rPr lang="en-US" sz="1900" dirty="0">
                <a:effectLst/>
                <a:latin typeface="Times New Roman" panose="02020603050405020304" pitchFamily="18" charset="0"/>
                <a:cs typeface="Times New Roman" panose="02020603050405020304" pitchFamily="18" charset="0"/>
              </a:rPr>
              <a:t>returns a person’s real and login names along with other information that the user may have provided, such as office and home address and telephone number, research plan, or clever quotation.</a:t>
            </a:r>
          </a:p>
          <a:p>
            <a:pPr marL="285750" indent="-285750" algn="just">
              <a:lnSpc>
                <a:spcPct val="100000"/>
              </a:lnSpc>
              <a:spcBef>
                <a:spcPts val="900"/>
              </a:spcBef>
              <a:buFont typeface="Wingdings" panose="05000000000000000000" pitchFamily="2" charset="2"/>
              <a:buChar char="q"/>
            </a:pPr>
            <a:r>
              <a:rPr lang="en-US" sz="1900" dirty="0">
                <a:effectLst/>
                <a:latin typeface="Times New Roman" panose="02020603050405020304" pitchFamily="18" charset="0"/>
                <a:cs typeface="Times New Roman" panose="02020603050405020304" pitchFamily="18" charset="0"/>
              </a:rPr>
              <a:t>The bug exploited in send-mail also involved using a daemon process</a:t>
            </a:r>
            <a:br>
              <a:rPr lang="en-US" sz="1900" dirty="0">
                <a:latin typeface="Times New Roman" panose="02020603050405020304" pitchFamily="18" charset="0"/>
                <a:cs typeface="Times New Roman" panose="02020603050405020304" pitchFamily="18" charset="0"/>
              </a:rPr>
            </a:br>
            <a:r>
              <a:rPr lang="en-US" sz="1900" dirty="0">
                <a:effectLst/>
                <a:latin typeface="Times New Roman" panose="02020603050405020304" pitchFamily="18" charset="0"/>
                <a:cs typeface="Times New Roman" panose="02020603050405020304" pitchFamily="18" charset="0"/>
              </a:rPr>
              <a:t>for malicious entry. Send-mail sends, receives, and routes electronic mail.</a:t>
            </a:r>
            <a:endParaRPr lang="en-US" sz="1900"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endParaRPr lang="en-IN" sz="1900" dirty="0"/>
          </a:p>
        </p:txBody>
      </p:sp>
      <p:sp>
        <p:nvSpPr>
          <p:cNvPr id="3" name="Title 2">
            <a:extLst>
              <a:ext uri="{FF2B5EF4-FFF2-40B4-BE49-F238E27FC236}">
                <a16:creationId xmlns:a16="http://schemas.microsoft.com/office/drawing/2014/main" id="{686F9ADB-60F1-4CA5-8311-6838D9C5C9C6}"/>
              </a:ext>
            </a:extLst>
          </p:cNvPr>
          <p:cNvSpPr>
            <a:spLocks noGrp="1"/>
          </p:cNvSpPr>
          <p:nvPr>
            <p:ph type="title"/>
          </p:nvPr>
        </p:nvSpPr>
        <p:spPr>
          <a:xfrm>
            <a:off x="212035" y="253514"/>
            <a:ext cx="7015861" cy="479910"/>
          </a:xfrm>
        </p:spPr>
        <p:txBody>
          <a:bodyPr>
            <a:normAutofit/>
          </a:bodyPr>
          <a:lstStyle/>
          <a:p>
            <a:r>
              <a:rPr lang="en-IN" sz="2800" dirty="0">
                <a:effectLst/>
                <a:latin typeface="Times New Roman" panose="02020603050405020304" pitchFamily="18" charset="0"/>
                <a:cs typeface="Times New Roman" panose="02020603050405020304" pitchFamily="18" charset="0"/>
              </a:rPr>
              <a:t>System and Network Threats : </a:t>
            </a:r>
            <a:endParaRPr lang="en-IN" sz="2800" dirty="0"/>
          </a:p>
        </p:txBody>
      </p:sp>
    </p:spTree>
    <p:extLst>
      <p:ext uri="{BB962C8B-B14F-4D97-AF65-F5344CB8AC3E}">
        <p14:creationId xmlns:p14="http://schemas.microsoft.com/office/powerpoint/2010/main" val="19788769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56D6E3E-D89F-417A-8012-88A45FAA812E}"/>
              </a:ext>
            </a:extLst>
          </p:cNvPr>
          <p:cNvPicPr>
            <a:picLocks noGrp="1" noChangeAspect="1"/>
          </p:cNvPicPr>
          <p:nvPr>
            <p:ph idx="1"/>
          </p:nvPr>
        </p:nvPicPr>
        <p:blipFill>
          <a:blip r:embed="rId2"/>
          <a:stretch>
            <a:fillRect/>
          </a:stretch>
        </p:blipFill>
        <p:spPr>
          <a:xfrm>
            <a:off x="463827" y="1060174"/>
            <a:ext cx="8163338" cy="5234609"/>
          </a:xfrm>
        </p:spPr>
      </p:pic>
      <p:sp>
        <p:nvSpPr>
          <p:cNvPr id="3" name="Title 2">
            <a:extLst>
              <a:ext uri="{FF2B5EF4-FFF2-40B4-BE49-F238E27FC236}">
                <a16:creationId xmlns:a16="http://schemas.microsoft.com/office/drawing/2014/main" id="{B215B1B3-AFE1-4FC3-B25E-0FBB08B5DA6A}"/>
              </a:ext>
            </a:extLst>
          </p:cNvPr>
          <p:cNvSpPr>
            <a:spLocks noGrp="1"/>
          </p:cNvSpPr>
          <p:nvPr>
            <p:ph type="title"/>
          </p:nvPr>
        </p:nvSpPr>
        <p:spPr>
          <a:xfrm>
            <a:off x="106017" y="253514"/>
            <a:ext cx="7121879" cy="479910"/>
          </a:xfrm>
        </p:spPr>
        <p:txBody>
          <a:bodyPr/>
          <a:lstStyle/>
          <a:p>
            <a:r>
              <a:rPr lang="en-IN" dirty="0">
                <a:effectLst/>
                <a:latin typeface="Arial" panose="020B0604020202020204" pitchFamily="34" charset="0"/>
              </a:rPr>
              <a:t>The Morris Internet worm :</a:t>
            </a:r>
            <a:endParaRPr lang="en-IN" dirty="0"/>
          </a:p>
        </p:txBody>
      </p:sp>
    </p:spTree>
    <p:extLst>
      <p:ext uri="{BB962C8B-B14F-4D97-AF65-F5344CB8AC3E}">
        <p14:creationId xmlns:p14="http://schemas.microsoft.com/office/powerpoint/2010/main" val="31448753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849968-E7F7-4C57-958C-4AE6AAC97B19}"/>
              </a:ext>
            </a:extLst>
          </p:cNvPr>
          <p:cNvSpPr>
            <a:spLocks noGrp="1"/>
          </p:cNvSpPr>
          <p:nvPr>
            <p:ph idx="1"/>
          </p:nvPr>
        </p:nvSpPr>
        <p:spPr>
          <a:xfrm>
            <a:off x="453325" y="733424"/>
            <a:ext cx="8237348" cy="5443539"/>
          </a:xfrm>
        </p:spPr>
        <p:txBody>
          <a:bodyPr>
            <a:normAutofit/>
          </a:bodyPr>
          <a:lstStyle/>
          <a:p>
            <a:pPr algn="just">
              <a:lnSpc>
                <a:spcPct val="100000"/>
              </a:lnSpc>
              <a:spcBef>
                <a:spcPts val="900"/>
              </a:spcBef>
            </a:pPr>
            <a:r>
              <a:rPr lang="en-US" sz="1900" b="1" u="sng" dirty="0">
                <a:latin typeface="Times New Roman" panose="02020603050405020304" pitchFamily="18" charset="0"/>
                <a:cs typeface="Times New Roman" panose="02020603050405020304" pitchFamily="18" charset="0"/>
              </a:rPr>
              <a:t>Port scanning :</a:t>
            </a:r>
          </a:p>
          <a:p>
            <a:pPr marL="285750" indent="-285750" algn="just">
              <a:lnSpc>
                <a:spcPct val="100000"/>
              </a:lnSpc>
              <a:spcBef>
                <a:spcPts val="900"/>
              </a:spcBef>
              <a:buFont typeface="Wingdings" panose="05000000000000000000" pitchFamily="2" charset="2"/>
              <a:buChar char="q"/>
            </a:pPr>
            <a:r>
              <a:rPr lang="en-US" sz="1900" b="1" dirty="0">
                <a:solidFill>
                  <a:srgbClr val="000000"/>
                </a:solidFill>
                <a:effectLst/>
                <a:latin typeface="Times New Roman" panose="02020603050405020304" pitchFamily="18" charset="0"/>
                <a:cs typeface="Times New Roman" panose="02020603050405020304" pitchFamily="18" charset="0"/>
              </a:rPr>
              <a:t>Port Scanning</a:t>
            </a:r>
            <a:r>
              <a:rPr lang="en-US" sz="1900" b="0" dirty="0">
                <a:solidFill>
                  <a:srgbClr val="000000"/>
                </a:solidFill>
                <a:effectLst/>
                <a:latin typeface="Times New Roman" panose="02020603050405020304" pitchFamily="18" charset="0"/>
                <a:cs typeface="Times New Roman" panose="02020603050405020304" pitchFamily="18" charset="0"/>
              </a:rPr>
              <a:t> is technically not an attack, but rather a search for vulnerabilities to attack.</a:t>
            </a:r>
          </a:p>
          <a:p>
            <a:pPr marL="285750" indent="-285750" algn="just">
              <a:lnSpc>
                <a:spcPct val="100000"/>
              </a:lnSpc>
              <a:spcBef>
                <a:spcPts val="900"/>
              </a:spcBef>
              <a:buFont typeface="Wingdings" panose="05000000000000000000" pitchFamily="2" charset="2"/>
              <a:buChar char="q"/>
            </a:pPr>
            <a:r>
              <a:rPr lang="en-US" sz="1900" b="0" dirty="0">
                <a:solidFill>
                  <a:srgbClr val="000000"/>
                </a:solidFill>
                <a:effectLst/>
                <a:latin typeface="Times New Roman" panose="02020603050405020304" pitchFamily="18" charset="0"/>
                <a:cs typeface="Times New Roman" panose="02020603050405020304" pitchFamily="18" charset="0"/>
              </a:rPr>
              <a:t> The basic idea is to systematically attempt to connect to every known ( or common or possible ) network port on some remote machine, and to attempt to make contact. </a:t>
            </a:r>
          </a:p>
          <a:p>
            <a:pPr marL="285750" indent="-285750" algn="just">
              <a:lnSpc>
                <a:spcPct val="100000"/>
              </a:lnSpc>
              <a:spcBef>
                <a:spcPts val="900"/>
              </a:spcBef>
              <a:buFont typeface="Wingdings" panose="05000000000000000000" pitchFamily="2" charset="2"/>
              <a:buChar char="q"/>
            </a:pPr>
            <a:r>
              <a:rPr lang="en-US" sz="1900" b="0" dirty="0">
                <a:solidFill>
                  <a:srgbClr val="000000"/>
                </a:solidFill>
                <a:effectLst/>
                <a:latin typeface="Times New Roman" panose="02020603050405020304" pitchFamily="18" charset="0"/>
                <a:cs typeface="Times New Roman" panose="02020603050405020304" pitchFamily="18" charset="0"/>
              </a:rPr>
              <a:t>Once it is determined that a particular computer is listening to a particular port, then the next step is to determine what daemon is listening, and whether or not it is a version containing a known security flaw that can be exploited.</a:t>
            </a:r>
          </a:p>
          <a:p>
            <a:pPr marL="285750" indent="-285750" algn="just">
              <a:lnSpc>
                <a:spcPct val="100000"/>
              </a:lnSpc>
              <a:spcBef>
                <a:spcPts val="900"/>
              </a:spcBef>
              <a:buFont typeface="Wingdings" panose="05000000000000000000" pitchFamily="2" charset="2"/>
              <a:buChar char="q"/>
            </a:pPr>
            <a:r>
              <a:rPr lang="en-US" sz="1900" b="0" dirty="0">
                <a:solidFill>
                  <a:srgbClr val="000000"/>
                </a:solidFill>
                <a:effectLst/>
                <a:latin typeface="Times New Roman" panose="02020603050405020304" pitchFamily="18" charset="0"/>
                <a:cs typeface="Times New Roman" panose="02020603050405020304" pitchFamily="18" charset="0"/>
              </a:rPr>
              <a:t>Because port scanning is easily detected and traced, it is usually launched from </a:t>
            </a:r>
            <a:r>
              <a:rPr lang="en-US" sz="1900" b="1" dirty="0">
                <a:solidFill>
                  <a:srgbClr val="000000"/>
                </a:solidFill>
                <a:effectLst/>
                <a:latin typeface="Times New Roman" panose="02020603050405020304" pitchFamily="18" charset="0"/>
                <a:cs typeface="Times New Roman" panose="02020603050405020304" pitchFamily="18" charset="0"/>
              </a:rPr>
              <a:t>zombie systems, </a:t>
            </a:r>
            <a:r>
              <a:rPr lang="en-US" sz="1900" b="0" dirty="0">
                <a:solidFill>
                  <a:srgbClr val="000000"/>
                </a:solidFill>
                <a:effectLst/>
                <a:latin typeface="Times New Roman" panose="02020603050405020304" pitchFamily="18" charset="0"/>
                <a:cs typeface="Times New Roman" panose="02020603050405020304" pitchFamily="18" charset="0"/>
              </a:rPr>
              <a:t>i.e. previously hacked systems that are being used without the knowledge or permission of their rightful owner. </a:t>
            </a:r>
          </a:p>
          <a:p>
            <a:pPr marL="285750" indent="-285750" algn="just">
              <a:lnSpc>
                <a:spcPct val="100000"/>
              </a:lnSpc>
              <a:spcBef>
                <a:spcPts val="900"/>
              </a:spcBef>
              <a:buFont typeface="Wingdings" panose="05000000000000000000" pitchFamily="2" charset="2"/>
              <a:buChar char="q"/>
            </a:pPr>
            <a:r>
              <a:rPr lang="en-US" sz="1900" b="0" dirty="0">
                <a:solidFill>
                  <a:srgbClr val="000000"/>
                </a:solidFill>
                <a:effectLst/>
                <a:latin typeface="Times New Roman" panose="02020603050405020304" pitchFamily="18" charset="0"/>
                <a:cs typeface="Times New Roman" panose="02020603050405020304" pitchFamily="18" charset="0"/>
              </a:rPr>
              <a:t>For this reason it is important to protect "innocuous" systems and accounts as well as those that contain sensitive information or special privileges.</a:t>
            </a:r>
          </a:p>
        </p:txBody>
      </p:sp>
      <p:sp>
        <p:nvSpPr>
          <p:cNvPr id="3" name="Title 2">
            <a:extLst>
              <a:ext uri="{FF2B5EF4-FFF2-40B4-BE49-F238E27FC236}">
                <a16:creationId xmlns:a16="http://schemas.microsoft.com/office/drawing/2014/main" id="{ED363754-C525-46C7-8014-8779FF5A37EB}"/>
              </a:ext>
            </a:extLst>
          </p:cNvPr>
          <p:cNvSpPr>
            <a:spLocks noGrp="1"/>
          </p:cNvSpPr>
          <p:nvPr>
            <p:ph type="title"/>
          </p:nvPr>
        </p:nvSpPr>
        <p:spPr>
          <a:xfrm>
            <a:off x="119270" y="253514"/>
            <a:ext cx="7108626" cy="479910"/>
          </a:xfrm>
        </p:spPr>
        <p:txBody>
          <a:bodyPr>
            <a:normAutofit/>
          </a:bodyPr>
          <a:lstStyle/>
          <a:p>
            <a:r>
              <a:rPr lang="en-IN" sz="2800" dirty="0">
                <a:latin typeface="Times New Roman" panose="02020603050405020304" pitchFamily="18" charset="0"/>
                <a:cs typeface="Times New Roman" panose="02020603050405020304" pitchFamily="18" charset="0"/>
              </a:rPr>
              <a:t>System and Network Threats :</a:t>
            </a:r>
          </a:p>
        </p:txBody>
      </p:sp>
    </p:spTree>
    <p:extLst>
      <p:ext uri="{BB962C8B-B14F-4D97-AF65-F5344CB8AC3E}">
        <p14:creationId xmlns:p14="http://schemas.microsoft.com/office/powerpoint/2010/main" val="2565860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3FD604-5385-4AA0-8035-AA08C9FE466E}"/>
              </a:ext>
            </a:extLst>
          </p:cNvPr>
          <p:cNvSpPr>
            <a:spLocks noGrp="1"/>
          </p:cNvSpPr>
          <p:nvPr>
            <p:ph idx="1"/>
          </p:nvPr>
        </p:nvSpPr>
        <p:spPr>
          <a:xfrm>
            <a:off x="453325" y="733424"/>
            <a:ext cx="8237348" cy="5443539"/>
          </a:xfrm>
        </p:spPr>
        <p:txBody>
          <a:bodyPr>
            <a:normAutofit/>
          </a:bodyPr>
          <a:lstStyle/>
          <a:p>
            <a:pPr marL="285750" indent="-285750" algn="just">
              <a:lnSpc>
                <a:spcPct val="100000"/>
              </a:lnSpc>
              <a:spcBef>
                <a:spcPts val="900"/>
              </a:spcBef>
              <a:buFont typeface="Wingdings" panose="05000000000000000000" pitchFamily="2" charset="2"/>
              <a:buChar char="q"/>
            </a:pPr>
            <a:r>
              <a:rPr lang="en-US" b="0" dirty="0">
                <a:solidFill>
                  <a:srgbClr val="000000"/>
                </a:solidFill>
                <a:effectLst/>
                <a:latin typeface="Times New Roman" panose="02020603050405020304" pitchFamily="18" charset="0"/>
                <a:cs typeface="Times New Roman" panose="02020603050405020304" pitchFamily="18" charset="0"/>
              </a:rPr>
              <a:t>There are also port scanners available that administrators can use to check their own systems, which report any weaknesses found but which do not exploit the weaknesses or cause any problems. </a:t>
            </a:r>
          </a:p>
          <a:p>
            <a:pPr marL="285750" indent="-285750" algn="just">
              <a:lnSpc>
                <a:spcPct val="100000"/>
              </a:lnSpc>
              <a:spcBef>
                <a:spcPts val="900"/>
              </a:spcBef>
              <a:buFont typeface="Wingdings" panose="05000000000000000000" pitchFamily="2" charset="2"/>
              <a:buChar char="q"/>
            </a:pPr>
            <a:r>
              <a:rPr lang="en-US" b="0" dirty="0">
                <a:solidFill>
                  <a:srgbClr val="000000"/>
                </a:solidFill>
                <a:effectLst/>
                <a:latin typeface="Times New Roman" panose="02020603050405020304" pitchFamily="18" charset="0"/>
                <a:cs typeface="Times New Roman" panose="02020603050405020304" pitchFamily="18" charset="0"/>
              </a:rPr>
              <a:t>Two such systems are </a:t>
            </a:r>
            <a:r>
              <a:rPr lang="en-US" b="1" dirty="0" err="1">
                <a:solidFill>
                  <a:srgbClr val="000000"/>
                </a:solidFill>
                <a:effectLst/>
                <a:latin typeface="Times New Roman" panose="02020603050405020304" pitchFamily="18" charset="0"/>
                <a:cs typeface="Times New Roman" panose="02020603050405020304" pitchFamily="18" charset="0"/>
              </a:rPr>
              <a:t>nmap</a:t>
            </a:r>
            <a:r>
              <a:rPr lang="en-US" b="1" dirty="0">
                <a:solidFill>
                  <a:srgbClr val="000000"/>
                </a:solidFill>
                <a:effectLst/>
                <a:latin typeface="Times New Roman" panose="02020603050405020304" pitchFamily="18" charset="0"/>
                <a:cs typeface="Times New Roman" panose="02020603050405020304" pitchFamily="18" charset="0"/>
              </a:rPr>
              <a:t> </a:t>
            </a:r>
            <a:r>
              <a:rPr lang="en-US" b="0" dirty="0">
                <a:solidFill>
                  <a:srgbClr val="000000"/>
                </a:solidFill>
                <a:effectLst/>
                <a:latin typeface="Times New Roman" panose="02020603050405020304" pitchFamily="18" charset="0"/>
                <a:cs typeface="Times New Roman" panose="02020603050405020304" pitchFamily="18" charset="0"/>
              </a:rPr>
              <a:t>and </a:t>
            </a:r>
            <a:r>
              <a:rPr lang="en-US" b="1" dirty="0" err="1">
                <a:solidFill>
                  <a:srgbClr val="000000"/>
                </a:solidFill>
                <a:effectLst/>
                <a:latin typeface="Times New Roman" panose="02020603050405020304" pitchFamily="18" charset="0"/>
                <a:cs typeface="Times New Roman" panose="02020603050405020304" pitchFamily="18" charset="0"/>
              </a:rPr>
              <a:t>nessus</a:t>
            </a:r>
            <a:r>
              <a:rPr lang="en-US" b="0" dirty="0">
                <a:solidFill>
                  <a:srgbClr val="000000"/>
                </a:solidFill>
                <a:effectLst/>
                <a:latin typeface="Times New Roman" panose="02020603050405020304" pitchFamily="18" charset="0"/>
                <a:cs typeface="Times New Roman" panose="02020603050405020304" pitchFamily="18" charset="0"/>
              </a:rPr>
              <a:t> .(Nmap ("Network Mapper") is a free and open source utility for network discovery and security auditing. )</a:t>
            </a:r>
          </a:p>
          <a:p>
            <a:pPr marL="285750" indent="-285750" algn="just">
              <a:lnSpc>
                <a:spcPct val="100000"/>
              </a:lnSpc>
              <a:spcBef>
                <a:spcPts val="900"/>
              </a:spcBef>
              <a:buFont typeface="Wingdings" panose="05000000000000000000" pitchFamily="2" charset="2"/>
              <a:buChar char="q"/>
            </a:pPr>
            <a:r>
              <a:rPr lang="en-US" b="0" dirty="0">
                <a:solidFill>
                  <a:srgbClr val="000000"/>
                </a:solidFill>
                <a:effectLst/>
                <a:latin typeface="Times New Roman" panose="02020603050405020304" pitchFamily="18" charset="0"/>
                <a:cs typeface="Times New Roman" panose="02020603050405020304" pitchFamily="18" charset="0"/>
              </a:rPr>
              <a:t>The former identifies what OS is found, what firewalls are in place, and what services are listening to what ports. The latter also contains a database of known security holes, and identifies any that it finds.</a:t>
            </a:r>
          </a:p>
          <a:p>
            <a:pPr marL="285750" indent="-285750" algn="just">
              <a:lnSpc>
                <a:spcPct val="100000"/>
              </a:lnSpc>
              <a:spcBef>
                <a:spcPts val="900"/>
              </a:spcBef>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Denial of Service :</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Overload the targeted computer preventing it from doing any useful work</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Distributed denial-of-service (DDOS) come from multiple sites at once.</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21244B3E-1EBB-48A4-969F-6C0B3404D69C}"/>
              </a:ext>
            </a:extLst>
          </p:cNvPr>
          <p:cNvSpPr>
            <a:spLocks noGrp="1"/>
          </p:cNvSpPr>
          <p:nvPr>
            <p:ph type="title"/>
          </p:nvPr>
        </p:nvSpPr>
        <p:spPr>
          <a:xfrm>
            <a:off x="159026" y="253514"/>
            <a:ext cx="7068870" cy="479910"/>
          </a:xfrm>
        </p:spPr>
        <p:txBody>
          <a:bodyPr>
            <a:normAutofit/>
          </a:bodyPr>
          <a:lstStyle/>
          <a:p>
            <a:r>
              <a:rPr lang="en-IN" sz="2800" dirty="0">
                <a:latin typeface="Times New Roman" panose="02020603050405020304" pitchFamily="18" charset="0"/>
                <a:cs typeface="Times New Roman" panose="02020603050405020304" pitchFamily="18" charset="0"/>
              </a:rPr>
              <a:t>System and Network Threats :</a:t>
            </a:r>
            <a:endParaRPr lang="en-IN" sz="2800" dirty="0"/>
          </a:p>
        </p:txBody>
      </p:sp>
    </p:spTree>
    <p:extLst>
      <p:ext uri="{BB962C8B-B14F-4D97-AF65-F5344CB8AC3E}">
        <p14:creationId xmlns:p14="http://schemas.microsoft.com/office/powerpoint/2010/main" val="11047156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FF550F-8616-4A92-BCC4-CA3157A415FF}"/>
              </a:ext>
            </a:extLst>
          </p:cNvPr>
          <p:cNvSpPr>
            <a:spLocks noGrp="1"/>
          </p:cNvSpPr>
          <p:nvPr>
            <p:ph idx="1"/>
          </p:nvPr>
        </p:nvSpPr>
        <p:spPr>
          <a:xfrm>
            <a:off x="453325" y="914400"/>
            <a:ext cx="8237348" cy="5262563"/>
          </a:xfrm>
        </p:spPr>
        <p:txBody>
          <a:bodyPr/>
          <a:lstStyle/>
          <a:p>
            <a:pPr marL="285750" indent="-285750" algn="just">
              <a:lnSpc>
                <a:spcPct val="100000"/>
              </a:lnSpc>
              <a:spcBef>
                <a:spcPts val="900"/>
              </a:spcBef>
              <a:buFont typeface="Wingdings" panose="05000000000000000000" pitchFamily="2" charset="2"/>
              <a:buChar char="q"/>
            </a:pPr>
            <a:r>
              <a:rPr lang="en-US" dirty="0"/>
              <a:t> </a:t>
            </a:r>
            <a:r>
              <a:rPr lang="en-US" dirty="0">
                <a:latin typeface="Times New Roman" panose="02020603050405020304" pitchFamily="18" charset="0"/>
                <a:cs typeface="Times New Roman" panose="02020603050405020304" pitchFamily="18" charset="0"/>
              </a:rPr>
              <a:t>Consider the start of the IP-connection handshake (SYN) </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How many started-connections can the OS handle? </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Consider traffic to a web site </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How can you tell the difference between being a target and being really popular?  Accidental – CS students writing bad fork() code</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Purposeful – extortion, punishment</a:t>
            </a:r>
            <a:endParaRPr lang="en-US" b="0" i="0" dirty="0">
              <a:solidFill>
                <a:srgbClr val="000000"/>
              </a:solidFill>
              <a:effectLst/>
              <a:latin typeface="Times New Roman" panose="02020603050405020304" pitchFamily="18" charset="0"/>
              <a:cs typeface="Times New Roman" panose="02020603050405020304" pitchFamily="18" charset="0"/>
            </a:endParaRPr>
          </a:p>
          <a:p>
            <a:pPr marL="285750" indent="-285750" algn="just">
              <a:lnSpc>
                <a:spcPct val="100000"/>
              </a:lnSpc>
              <a:spcBef>
                <a:spcPts val="900"/>
              </a:spcBef>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A zombie is a computer connected to the Internet that has been compromised by a hacker, computer virus, computer worm, or trojan horse program .</a:t>
            </a:r>
          </a:p>
          <a:p>
            <a:pPr marL="285750" indent="-285750" algn="just">
              <a:lnSpc>
                <a:spcPct val="100000"/>
              </a:lnSpc>
              <a:spcBef>
                <a:spcPts val="900"/>
              </a:spcBef>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A zombie virus </a:t>
            </a:r>
            <a:r>
              <a:rPr lang="en-US" b="1" i="0" dirty="0">
                <a:effectLst/>
                <a:latin typeface="Times New Roman" panose="02020603050405020304" pitchFamily="18" charset="0"/>
                <a:cs typeface="Times New Roman" panose="02020603050405020304" pitchFamily="18" charset="0"/>
              </a:rPr>
              <a:t>gains access to a computer or smartphone system through the Internet and takes control of its resources</a:t>
            </a:r>
            <a:r>
              <a:rPr lang="en-US" b="0" i="0" dirty="0">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FCC90716-CC6C-44C6-917F-2B87F5CAD3BC}"/>
              </a:ext>
            </a:extLst>
          </p:cNvPr>
          <p:cNvSpPr>
            <a:spLocks noGrp="1"/>
          </p:cNvSpPr>
          <p:nvPr>
            <p:ph type="title"/>
          </p:nvPr>
        </p:nvSpPr>
        <p:spPr/>
        <p:txBody>
          <a:bodyPr/>
          <a:lstStyle/>
          <a:p>
            <a:r>
              <a:rPr lang="en-IN" sz="2400" dirty="0">
                <a:latin typeface="Times New Roman" panose="02020603050405020304" pitchFamily="18" charset="0"/>
                <a:cs typeface="Times New Roman" panose="02020603050405020304" pitchFamily="18" charset="0"/>
              </a:rPr>
              <a:t>System and Network Threats :</a:t>
            </a:r>
            <a:endParaRPr lang="en-IN" dirty="0"/>
          </a:p>
        </p:txBody>
      </p:sp>
    </p:spTree>
    <p:extLst>
      <p:ext uri="{BB962C8B-B14F-4D97-AF65-F5344CB8AC3E}">
        <p14:creationId xmlns:p14="http://schemas.microsoft.com/office/powerpoint/2010/main" val="7064153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B82A99-25F3-4304-9D3C-62AB75F28138}"/>
              </a:ext>
            </a:extLst>
          </p:cNvPr>
          <p:cNvSpPr>
            <a:spLocks noGrp="1"/>
          </p:cNvSpPr>
          <p:nvPr>
            <p:ph type="title"/>
          </p:nvPr>
        </p:nvSpPr>
        <p:spPr>
          <a:xfrm>
            <a:off x="106017" y="253514"/>
            <a:ext cx="7121879" cy="479910"/>
          </a:xfrm>
        </p:spPr>
        <p:txBody>
          <a:bodyPr/>
          <a:lstStyle/>
          <a:p>
            <a:r>
              <a:rPr lang="en-US" sz="2400" dirty="0">
                <a:latin typeface="Times New Roman" panose="02020603050405020304" pitchFamily="18" charset="0"/>
                <a:cs typeface="Times New Roman" panose="02020603050405020304" pitchFamily="18" charset="0"/>
              </a:rPr>
              <a:t>Cryptography as a Security Tool :</a:t>
            </a:r>
            <a:endParaRPr lang="en-IN" dirty="0"/>
          </a:p>
        </p:txBody>
      </p:sp>
      <p:sp>
        <p:nvSpPr>
          <p:cNvPr id="4" name="Content Placeholder 3">
            <a:extLst>
              <a:ext uri="{FF2B5EF4-FFF2-40B4-BE49-F238E27FC236}">
                <a16:creationId xmlns:a16="http://schemas.microsoft.com/office/drawing/2014/main" id="{2F12D933-A9BF-4141-8FCB-AF90217F326D}"/>
              </a:ext>
            </a:extLst>
          </p:cNvPr>
          <p:cNvSpPr>
            <a:spLocks noGrp="1"/>
          </p:cNvSpPr>
          <p:nvPr>
            <p:ph idx="1"/>
          </p:nvPr>
        </p:nvSpPr>
        <p:spPr>
          <a:xfrm>
            <a:off x="453325" y="874643"/>
            <a:ext cx="8237348" cy="5302320"/>
          </a:xfrm>
        </p:spPr>
        <p:txBody>
          <a:bodyPr/>
          <a:lstStyle/>
          <a:p>
            <a:pPr marL="285750" indent="-285750" algn="just">
              <a:lnSpc>
                <a:spcPct val="100000"/>
              </a:lnSpc>
              <a:spcBef>
                <a:spcPts val="700"/>
              </a:spcBef>
              <a:spcAft>
                <a:spcPts val="700"/>
              </a:spcAft>
              <a:buFont typeface="Wingdings" panose="05000000000000000000" pitchFamily="2" charset="2"/>
              <a:buChar char="q"/>
            </a:pPr>
            <a:r>
              <a:rPr lang="en-US" sz="1900" b="0" i="0" dirty="0">
                <a:effectLst/>
                <a:latin typeface="Times New Roman" panose="02020603050405020304" pitchFamily="18" charset="0"/>
                <a:cs typeface="Times New Roman" panose="02020603050405020304" pitchFamily="18" charset="0"/>
              </a:rPr>
              <a:t>Cryptography is </a:t>
            </a:r>
            <a:r>
              <a:rPr lang="en-US" sz="1900" b="1" i="0" dirty="0">
                <a:effectLst/>
                <a:latin typeface="Times New Roman" panose="02020603050405020304" pitchFamily="18" charset="0"/>
                <a:cs typeface="Times New Roman" panose="02020603050405020304" pitchFamily="18" charset="0"/>
              </a:rPr>
              <a:t>the study of secure communications techniques that allow only the sender and intended recipient of a message to view its contents</a:t>
            </a:r>
            <a:r>
              <a:rPr lang="en-US" sz="1900" b="0" i="0" dirty="0">
                <a:effectLst/>
                <a:latin typeface="Times New Roman" panose="02020603050405020304" pitchFamily="18" charset="0"/>
                <a:cs typeface="Times New Roman" panose="02020603050405020304" pitchFamily="18" charset="0"/>
              </a:rPr>
              <a:t>. </a:t>
            </a:r>
          </a:p>
          <a:p>
            <a:pPr marL="285750" indent="-285750" algn="just">
              <a:lnSpc>
                <a:spcPct val="100000"/>
              </a:lnSpc>
              <a:spcBef>
                <a:spcPts val="700"/>
              </a:spcBef>
              <a:spcAft>
                <a:spcPts val="700"/>
              </a:spcAft>
              <a:buFont typeface="Wingdings" panose="05000000000000000000" pitchFamily="2" charset="2"/>
              <a:buChar char="q"/>
            </a:pPr>
            <a:r>
              <a:rPr lang="en-US" sz="1900" b="0" i="0" dirty="0">
                <a:effectLst/>
                <a:latin typeface="Times New Roman" panose="02020603050405020304" pitchFamily="18" charset="0"/>
                <a:cs typeface="Times New Roman" panose="02020603050405020304" pitchFamily="18" charset="0"/>
              </a:rPr>
              <a:t>When transmitting electronic data, the most common use of cryptography is to encrypt and decrypt email and other plain-text messages.</a:t>
            </a:r>
          </a:p>
          <a:p>
            <a:pPr marL="285750" indent="-285750" algn="just">
              <a:lnSpc>
                <a:spcPct val="100000"/>
              </a:lnSpc>
              <a:spcBef>
                <a:spcPts val="700"/>
              </a:spcBef>
              <a:spcAft>
                <a:spcPts val="700"/>
              </a:spcAft>
              <a:buFont typeface="Wingdings" panose="05000000000000000000" pitchFamily="2" charset="2"/>
              <a:buChar char="q"/>
            </a:pPr>
            <a:endParaRPr lang="en-US" sz="1900"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endParaRPr lang="en-US" sz="1900"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endParaRPr lang="en-US" sz="1900"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endParaRPr lang="en-US" sz="1900"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endParaRPr lang="en-US" sz="1900"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rPr>
              <a:t>Cryptography enables a recipient of a message to verify that the message was created by some computer possessing a certain key. Similarly, a sender can encode its message so that only a computer with a certain key can decode the message.</a:t>
            </a:r>
            <a:endParaRPr lang="en-IN" sz="1900"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endParaRPr lang="en-US" sz="1900" dirty="0">
              <a:latin typeface="Times New Roman" panose="02020603050405020304" pitchFamily="18" charset="0"/>
              <a:cs typeface="Times New Roman" panose="02020603050405020304" pitchFamily="18" charset="0"/>
            </a:endParaRPr>
          </a:p>
          <a:p>
            <a:endParaRPr lang="en-IN" dirty="0"/>
          </a:p>
        </p:txBody>
      </p:sp>
      <p:pic>
        <p:nvPicPr>
          <p:cNvPr id="6" name="Picture 5">
            <a:extLst>
              <a:ext uri="{FF2B5EF4-FFF2-40B4-BE49-F238E27FC236}">
                <a16:creationId xmlns:a16="http://schemas.microsoft.com/office/drawing/2014/main" id="{D56B6236-C90C-415E-B63E-C5D8EA92FD6E}"/>
              </a:ext>
            </a:extLst>
          </p:cNvPr>
          <p:cNvPicPr>
            <a:picLocks noChangeAspect="1"/>
          </p:cNvPicPr>
          <p:nvPr/>
        </p:nvPicPr>
        <p:blipFill>
          <a:blip r:embed="rId2"/>
          <a:stretch>
            <a:fillRect/>
          </a:stretch>
        </p:blipFill>
        <p:spPr>
          <a:xfrm>
            <a:off x="440073" y="2385392"/>
            <a:ext cx="8120832" cy="2080591"/>
          </a:xfrm>
          <a:prstGeom prst="rect">
            <a:avLst/>
          </a:prstGeom>
        </p:spPr>
      </p:pic>
    </p:spTree>
    <p:extLst>
      <p:ext uri="{BB962C8B-B14F-4D97-AF65-F5344CB8AC3E}">
        <p14:creationId xmlns:p14="http://schemas.microsoft.com/office/powerpoint/2010/main" val="27132814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300A73-C3EE-4F0E-810D-56F6037410A7}"/>
              </a:ext>
            </a:extLst>
          </p:cNvPr>
          <p:cNvSpPr>
            <a:spLocks noGrp="1"/>
          </p:cNvSpPr>
          <p:nvPr>
            <p:ph idx="1"/>
          </p:nvPr>
        </p:nvSpPr>
        <p:spPr>
          <a:xfrm>
            <a:off x="453325" y="861391"/>
            <a:ext cx="8237348" cy="5315572"/>
          </a:xfrm>
        </p:spPr>
        <p:txBody>
          <a:bodyPr>
            <a:noAutofit/>
          </a:bodyPr>
          <a:lstStyle/>
          <a:p>
            <a:pPr algn="just">
              <a:lnSpc>
                <a:spcPct val="100000"/>
              </a:lnSpc>
              <a:spcBef>
                <a:spcPts val="500"/>
              </a:spcBef>
              <a:spcAft>
                <a:spcPts val="500"/>
              </a:spcAft>
              <a:buNone/>
            </a:pPr>
            <a:r>
              <a:rPr lang="en-US" sz="1900" b="1" dirty="0">
                <a:latin typeface="Times New Roman" panose="02020603050405020304" pitchFamily="18" charset="0"/>
                <a:cs typeface="Times New Roman" panose="02020603050405020304" pitchFamily="18" charset="0"/>
              </a:rPr>
              <a:t>1.  Broadest security tool available</a:t>
            </a:r>
          </a:p>
          <a:p>
            <a:pPr marL="285750" indent="-285750" algn="just">
              <a:lnSpc>
                <a:spcPct val="100000"/>
              </a:lnSpc>
              <a:spcBef>
                <a:spcPts val="500"/>
              </a:spcBef>
              <a:spcAft>
                <a:spcPts val="5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Internal to a given computer, source and destination of messages can be known and protected </a:t>
            </a:r>
          </a:p>
          <a:p>
            <a:pPr algn="just">
              <a:lnSpc>
                <a:spcPct val="100000"/>
              </a:lnSpc>
              <a:spcBef>
                <a:spcPts val="500"/>
              </a:spcBef>
              <a:spcAft>
                <a:spcPts val="500"/>
              </a:spcAft>
              <a:buNone/>
            </a:pPr>
            <a:r>
              <a:rPr lang="en-US" sz="1900" dirty="0">
                <a:latin typeface="Times New Roman" panose="02020603050405020304" pitchFamily="18" charset="0"/>
                <a:cs typeface="Times New Roman" panose="02020603050405020304" pitchFamily="18" charset="0"/>
              </a:rPr>
              <a:t>              → OS creates, manages, protects process IDs, communication ports</a:t>
            </a:r>
          </a:p>
          <a:p>
            <a:pPr marL="285750" indent="-285750" algn="just">
              <a:lnSpc>
                <a:spcPct val="100000"/>
              </a:lnSpc>
              <a:spcBef>
                <a:spcPts val="500"/>
              </a:spcBef>
              <a:spcAft>
                <a:spcPts val="5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Source and destination of messages on network cannot be trusted without cryptography</a:t>
            </a:r>
          </a:p>
          <a:p>
            <a:pPr algn="just">
              <a:lnSpc>
                <a:spcPct val="100000"/>
              </a:lnSpc>
              <a:spcBef>
                <a:spcPts val="500"/>
              </a:spcBef>
              <a:spcAft>
                <a:spcPts val="500"/>
              </a:spcAft>
              <a:buNone/>
            </a:pPr>
            <a:r>
              <a:rPr lang="en-US" sz="1900" dirty="0">
                <a:latin typeface="Times New Roman" panose="02020603050405020304" pitchFamily="18" charset="0"/>
                <a:cs typeface="Times New Roman" panose="02020603050405020304" pitchFamily="18" charset="0"/>
              </a:rPr>
              <a:t>             →  Local network – IP address?</a:t>
            </a:r>
          </a:p>
          <a:p>
            <a:pPr algn="just">
              <a:lnSpc>
                <a:spcPct val="100000"/>
              </a:lnSpc>
              <a:spcBef>
                <a:spcPts val="500"/>
              </a:spcBef>
              <a:spcAft>
                <a:spcPts val="500"/>
              </a:spcAft>
              <a:buNone/>
            </a:pPr>
            <a:r>
              <a:rPr lang="en-US" sz="1900" dirty="0">
                <a:latin typeface="Times New Roman" panose="02020603050405020304" pitchFamily="18" charset="0"/>
                <a:cs typeface="Times New Roman" panose="02020603050405020304" pitchFamily="18" charset="0"/>
              </a:rPr>
              <a:t>                               –  Consider unauthorized host added</a:t>
            </a:r>
          </a:p>
          <a:p>
            <a:pPr algn="just">
              <a:lnSpc>
                <a:spcPct val="100000"/>
              </a:lnSpc>
              <a:spcBef>
                <a:spcPts val="500"/>
              </a:spcBef>
              <a:spcAft>
                <a:spcPts val="500"/>
              </a:spcAft>
              <a:buNone/>
            </a:pPr>
            <a:r>
              <a:rPr lang="en-US" sz="1900" dirty="0">
                <a:latin typeface="Times New Roman" panose="02020603050405020304" pitchFamily="18" charset="0"/>
                <a:cs typeface="Times New Roman" panose="02020603050405020304" pitchFamily="18" charset="0"/>
              </a:rPr>
              <a:t>             →   WAN / Internet – how to establish authenticity </a:t>
            </a:r>
          </a:p>
          <a:p>
            <a:pPr algn="just">
              <a:lnSpc>
                <a:spcPct val="100000"/>
              </a:lnSpc>
              <a:spcBef>
                <a:spcPts val="500"/>
              </a:spcBef>
              <a:spcAft>
                <a:spcPts val="500"/>
              </a:spcAft>
              <a:buNone/>
            </a:pPr>
            <a:r>
              <a:rPr lang="en-US" sz="1900" dirty="0">
                <a:latin typeface="Times New Roman" panose="02020603050405020304" pitchFamily="18" charset="0"/>
                <a:cs typeface="Times New Roman" panose="02020603050405020304" pitchFamily="18" charset="0"/>
              </a:rPr>
              <a:t>                                –   Not via IP address</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A8E0B1E2-A70F-4D23-8C6F-4E35E230383D}"/>
              </a:ext>
            </a:extLst>
          </p:cNvPr>
          <p:cNvSpPr>
            <a:spLocks noGrp="1"/>
          </p:cNvSpPr>
          <p:nvPr>
            <p:ph type="title"/>
          </p:nvPr>
        </p:nvSpPr>
        <p:spPr>
          <a:xfrm>
            <a:off x="0" y="253514"/>
            <a:ext cx="7227896" cy="479910"/>
          </a:xfrm>
        </p:spPr>
        <p:txBody>
          <a:bodyPr>
            <a:normAutofit/>
          </a:bodyPr>
          <a:lstStyle/>
          <a:p>
            <a:r>
              <a:rPr lang="en-US" sz="2800" dirty="0">
                <a:latin typeface="Times New Roman" panose="02020603050405020304" pitchFamily="18" charset="0"/>
                <a:cs typeface="Times New Roman" panose="02020603050405020304" pitchFamily="18" charset="0"/>
              </a:rPr>
              <a:t>Cryptography as a Security Tool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9548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328FF1-719D-450C-A2AD-F9CEB3070CE8}"/>
              </a:ext>
            </a:extLst>
          </p:cNvPr>
          <p:cNvSpPr>
            <a:spLocks noGrp="1"/>
          </p:cNvSpPr>
          <p:nvPr>
            <p:ph idx="1"/>
          </p:nvPr>
        </p:nvSpPr>
        <p:spPr>
          <a:xfrm>
            <a:off x="453325" y="848139"/>
            <a:ext cx="8237348" cy="5328824"/>
          </a:xfrm>
        </p:spPr>
        <p:txBody>
          <a:bodyPr>
            <a:normAutofit/>
          </a:bodyPr>
          <a:lstStyle/>
          <a:p>
            <a:pPr algn="just">
              <a:lnSpc>
                <a:spcPct val="110000"/>
              </a:lnSpc>
              <a:spcBef>
                <a:spcPts val="700"/>
              </a:spcBef>
              <a:spcAft>
                <a:spcPts val="700"/>
              </a:spcAft>
              <a:buNone/>
            </a:pPr>
            <a:r>
              <a:rPr lang="en-US" sz="1900" dirty="0">
                <a:latin typeface="Times New Roman" panose="02020603050405020304" pitchFamily="18" charset="0"/>
                <a:cs typeface="Times New Roman" panose="02020603050405020304" pitchFamily="18" charset="0"/>
              </a:rPr>
              <a:t>2.  Means to constrain potential senders (sources) and / or receivers (destinations) of messages.</a:t>
            </a:r>
          </a:p>
          <a:p>
            <a:pPr marL="342900" indent="-342900" algn="just">
              <a:lnSpc>
                <a:spcPct val="110000"/>
              </a:lnSpc>
              <a:spcBef>
                <a:spcPts val="700"/>
              </a:spcBef>
              <a:spcAft>
                <a:spcPts val="700"/>
              </a:spcAft>
              <a:buFont typeface="Wingdings" panose="05000000000000000000" pitchFamily="2" charset="2"/>
              <a:buChar char="q"/>
            </a:pPr>
            <a:r>
              <a:rPr lang="en-US" sz="1900" dirty="0">
                <a:effectLst/>
                <a:latin typeface="Times New Roman" panose="02020603050405020304" pitchFamily="18" charset="0"/>
              </a:rPr>
              <a:t>Modern cryptography is based on secrets called keys that are selectively distributed to computers in a network and used to process messages.</a:t>
            </a:r>
            <a:endParaRPr lang="en-US" sz="1900" dirty="0">
              <a:latin typeface="Times New Roman" panose="02020603050405020304" pitchFamily="18" charset="0"/>
              <a:cs typeface="Times New Roman" panose="02020603050405020304" pitchFamily="18" charset="0"/>
            </a:endParaRPr>
          </a:p>
          <a:p>
            <a:pPr marL="285750" indent="-285750" algn="just">
              <a:lnSpc>
                <a:spcPct val="110000"/>
              </a:lnSpc>
              <a:spcBef>
                <a:spcPts val="700"/>
              </a:spcBef>
              <a:spcAft>
                <a:spcPts val="7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Based on secrets keys (Key plays a vital role) – With help of keys encoding (sender side) and Decoding (Receiver side) ,both will be done.</a:t>
            </a:r>
          </a:p>
          <a:p>
            <a:pPr marL="285750" indent="-285750" algn="just">
              <a:lnSpc>
                <a:spcPct val="110000"/>
              </a:lnSpc>
              <a:spcBef>
                <a:spcPts val="700"/>
              </a:spcBef>
              <a:spcAft>
                <a:spcPts val="7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Enables :</a:t>
            </a:r>
          </a:p>
          <a:p>
            <a:pPr algn="just">
              <a:lnSpc>
                <a:spcPct val="110000"/>
              </a:lnSpc>
              <a:spcBef>
                <a:spcPts val="700"/>
              </a:spcBef>
              <a:spcAft>
                <a:spcPts val="700"/>
              </a:spcAft>
              <a:buNone/>
            </a:pPr>
            <a:r>
              <a:rPr lang="en-US" sz="1900" dirty="0">
                <a:latin typeface="Times New Roman" panose="02020603050405020304" pitchFamily="18" charset="0"/>
                <a:cs typeface="Times New Roman" panose="02020603050405020304" pitchFamily="18" charset="0"/>
              </a:rPr>
              <a:t>           →   Confirmation of source </a:t>
            </a:r>
          </a:p>
          <a:p>
            <a:pPr algn="just">
              <a:lnSpc>
                <a:spcPct val="110000"/>
              </a:lnSpc>
              <a:spcBef>
                <a:spcPts val="700"/>
              </a:spcBef>
              <a:spcAft>
                <a:spcPts val="700"/>
              </a:spcAft>
              <a:buNone/>
            </a:pPr>
            <a:r>
              <a:rPr lang="en-US" sz="1900" dirty="0">
                <a:latin typeface="Times New Roman" panose="02020603050405020304" pitchFamily="18" charset="0"/>
                <a:cs typeface="Times New Roman" panose="02020603050405020304" pitchFamily="18" charset="0"/>
              </a:rPr>
              <a:t>          →    Receipt only by certain destination </a:t>
            </a:r>
          </a:p>
          <a:p>
            <a:pPr algn="just">
              <a:lnSpc>
                <a:spcPct val="110000"/>
              </a:lnSpc>
              <a:spcBef>
                <a:spcPts val="700"/>
              </a:spcBef>
              <a:spcAft>
                <a:spcPts val="700"/>
              </a:spcAft>
              <a:buNone/>
            </a:pPr>
            <a:r>
              <a:rPr lang="en-US" sz="1900" dirty="0">
                <a:latin typeface="Times New Roman" panose="02020603050405020304" pitchFamily="18" charset="0"/>
                <a:cs typeface="Times New Roman" panose="02020603050405020304" pitchFamily="18" charset="0"/>
              </a:rPr>
              <a:t>          →    Trust relationship between sender and receiver</a:t>
            </a:r>
          </a:p>
        </p:txBody>
      </p:sp>
      <p:sp>
        <p:nvSpPr>
          <p:cNvPr id="3" name="Title 2">
            <a:extLst>
              <a:ext uri="{FF2B5EF4-FFF2-40B4-BE49-F238E27FC236}">
                <a16:creationId xmlns:a16="http://schemas.microsoft.com/office/drawing/2014/main" id="{56A099FA-A254-46F3-956F-39475295D029}"/>
              </a:ext>
            </a:extLst>
          </p:cNvPr>
          <p:cNvSpPr>
            <a:spLocks noGrp="1"/>
          </p:cNvSpPr>
          <p:nvPr>
            <p:ph type="title"/>
          </p:nvPr>
        </p:nvSpPr>
        <p:spPr>
          <a:xfrm>
            <a:off x="132522" y="253514"/>
            <a:ext cx="7095374" cy="479910"/>
          </a:xfrm>
        </p:spPr>
        <p:txBody>
          <a:bodyPr/>
          <a:lstStyle/>
          <a:p>
            <a:r>
              <a:rPr lang="en-US" sz="2400" dirty="0">
                <a:latin typeface="Times New Roman" panose="02020603050405020304" pitchFamily="18" charset="0"/>
                <a:cs typeface="Times New Roman" panose="02020603050405020304" pitchFamily="18" charset="0"/>
              </a:rPr>
              <a:t>Cryptography as a Security Tool :</a:t>
            </a:r>
            <a:endParaRPr lang="en-IN" dirty="0"/>
          </a:p>
        </p:txBody>
      </p:sp>
    </p:spTree>
    <p:extLst>
      <p:ext uri="{BB962C8B-B14F-4D97-AF65-F5344CB8AC3E}">
        <p14:creationId xmlns:p14="http://schemas.microsoft.com/office/powerpoint/2010/main" val="11932039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AAC199-ADE4-4838-9090-6DEF02A31E92}"/>
              </a:ext>
            </a:extLst>
          </p:cNvPr>
          <p:cNvSpPr>
            <a:spLocks noGrp="1"/>
          </p:cNvSpPr>
          <p:nvPr>
            <p:ph idx="1"/>
          </p:nvPr>
        </p:nvSpPr>
        <p:spPr>
          <a:xfrm>
            <a:off x="453325" y="887896"/>
            <a:ext cx="8237348" cy="5289067"/>
          </a:xfrm>
        </p:spPr>
        <p:txBody>
          <a:bodyPr>
            <a:noAutofit/>
          </a:bodyPr>
          <a:lstStyle/>
          <a:p>
            <a:pPr marL="285750" indent="-285750">
              <a:lnSpc>
                <a:spcPct val="100000"/>
              </a:lnSpc>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Encryption is used frequently in many aspects of modern computing. </a:t>
            </a:r>
          </a:p>
          <a:p>
            <a:pPr marL="285750" indent="-285750" algn="just">
              <a:lnSpc>
                <a:spcPct val="100000"/>
              </a:lnSpc>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It is used to send messages securely across a network, as well as to protect database data, files, and even entire disks from having their contents read by unauthorized</a:t>
            </a:r>
            <a:br>
              <a:rPr lang="en-US" dirty="0">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entities.</a:t>
            </a:r>
          </a:p>
          <a:p>
            <a:pPr marL="285750" indent="-285750">
              <a:lnSpc>
                <a:spcPct val="100000"/>
              </a:lnSpc>
              <a:spcBef>
                <a:spcPts val="500"/>
              </a:spcBef>
              <a:spcAft>
                <a:spcPts val="500"/>
              </a:spcAft>
              <a:buFont typeface="Wingdings" panose="05000000000000000000" pitchFamily="2" charset="2"/>
              <a:buChar char="q"/>
            </a:pPr>
            <a:r>
              <a:rPr lang="en-US" dirty="0">
                <a:effectLst/>
                <a:latin typeface="Times New Roman" panose="02020603050405020304" pitchFamily="18" charset="0"/>
                <a:cs typeface="Times New Roman" panose="02020603050405020304" pitchFamily="18" charset="0"/>
              </a:rPr>
              <a:t>An encryption algorithm consists of the following components:</a:t>
            </a:r>
            <a:br>
              <a:rPr lang="en-US" dirty="0">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   A set K of keys.</a:t>
            </a:r>
            <a:br>
              <a:rPr lang="en-US" dirty="0">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   A set M of messages.</a:t>
            </a:r>
            <a:br>
              <a:rPr lang="en-US" dirty="0">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   A set C of ciphertexts.</a:t>
            </a:r>
            <a:r>
              <a:rPr lang="en-US" dirty="0">
                <a:latin typeface="Times New Roman" panose="02020603050405020304" pitchFamily="18" charset="0"/>
                <a:cs typeface="Times New Roman" panose="02020603050405020304" pitchFamily="18" charset="0"/>
              </a:rPr>
              <a:t>(Encrypted Message)</a:t>
            </a:r>
          </a:p>
          <a:p>
            <a:pPr marL="285750" indent="-285750">
              <a:lnSpc>
                <a:spcPct val="100000"/>
              </a:lnSpc>
              <a:spcBef>
                <a:spcPts val="500"/>
              </a:spcBef>
              <a:spcAft>
                <a:spcPts val="5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 function E : K → (M→C). That is, for each k </a:t>
            </a:r>
            <a:r>
              <a:rPr lang="en-IN"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K, </a:t>
            </a:r>
            <a:r>
              <a:rPr lang="en-US" dirty="0" err="1">
                <a:latin typeface="Times New Roman" panose="02020603050405020304" pitchFamily="18" charset="0"/>
                <a:cs typeface="Times New Roman" panose="02020603050405020304" pitchFamily="18" charset="0"/>
              </a:rPr>
              <a:t>Ek</a:t>
            </a:r>
            <a:r>
              <a:rPr lang="en-US" dirty="0">
                <a:latin typeface="Times New Roman" panose="02020603050405020304" pitchFamily="18" charset="0"/>
                <a:cs typeface="Times New Roman" panose="02020603050405020304" pitchFamily="18" charset="0"/>
              </a:rPr>
              <a:t> is a function for generating ciphertexts from messages </a:t>
            </a:r>
          </a:p>
          <a:p>
            <a:pPr>
              <a:lnSpc>
                <a:spcPct val="100000"/>
              </a:lnSpc>
              <a:spcBef>
                <a:spcPts val="500"/>
              </a:spcBef>
              <a:spcAft>
                <a:spcPts val="500"/>
              </a:spcAft>
              <a:buNone/>
            </a:pPr>
            <a:r>
              <a:rPr lang="en-US" dirty="0">
                <a:latin typeface="Times New Roman" panose="02020603050405020304" pitchFamily="18" charset="0"/>
                <a:cs typeface="Times New Roman" panose="02020603050405020304" pitchFamily="18" charset="0"/>
              </a:rPr>
              <a:t>                   →    Both E and </a:t>
            </a:r>
            <a:r>
              <a:rPr lang="en-US" dirty="0" err="1">
                <a:latin typeface="Times New Roman" panose="02020603050405020304" pitchFamily="18" charset="0"/>
                <a:cs typeface="Times New Roman" panose="02020603050405020304" pitchFamily="18" charset="0"/>
              </a:rPr>
              <a:t>Ek</a:t>
            </a:r>
            <a:r>
              <a:rPr lang="en-US" dirty="0">
                <a:latin typeface="Times New Roman" panose="02020603050405020304" pitchFamily="18" charset="0"/>
                <a:cs typeface="Times New Roman" panose="02020603050405020304" pitchFamily="18" charset="0"/>
              </a:rPr>
              <a:t> for any k should be efficiently computable functions</a:t>
            </a:r>
          </a:p>
          <a:p>
            <a:pPr marL="285750" indent="-285750" algn="just">
              <a:lnSpc>
                <a:spcPct val="100000"/>
              </a:lnSpc>
              <a:spcBef>
                <a:spcPts val="500"/>
              </a:spcBef>
              <a:spcAft>
                <a:spcPts val="5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 function D : K → (C → M). That is, for each k </a:t>
            </a:r>
            <a:r>
              <a:rPr lang="en-IN"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K, Dk is a function for generating messages from ciphertexts</a:t>
            </a:r>
          </a:p>
          <a:p>
            <a:pPr>
              <a:lnSpc>
                <a:spcPct val="100000"/>
              </a:lnSpc>
              <a:spcBef>
                <a:spcPts val="500"/>
              </a:spcBef>
              <a:spcAft>
                <a:spcPts val="500"/>
              </a:spcAft>
              <a:buNone/>
            </a:pPr>
            <a:r>
              <a:rPr lang="en-US" dirty="0">
                <a:latin typeface="Times New Roman" panose="02020603050405020304" pitchFamily="18" charset="0"/>
                <a:cs typeface="Times New Roman" panose="02020603050405020304" pitchFamily="18" charset="0"/>
              </a:rPr>
              <a:t>                  →   Both D and Dk for any k should be efficiently computable functions</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7CE19E2-F1C5-4299-902D-1C4763C5CE54}"/>
              </a:ext>
            </a:extLst>
          </p:cNvPr>
          <p:cNvSpPr>
            <a:spLocks noGrp="1"/>
          </p:cNvSpPr>
          <p:nvPr>
            <p:ph type="title"/>
          </p:nvPr>
        </p:nvSpPr>
        <p:spPr>
          <a:xfrm>
            <a:off x="132522" y="253514"/>
            <a:ext cx="7095374" cy="479910"/>
          </a:xfrm>
        </p:spPr>
        <p:txBody>
          <a:bodyPr>
            <a:normAutofit/>
          </a:bodyPr>
          <a:lstStyle/>
          <a:p>
            <a:r>
              <a:rPr lang="en-IN" sz="2800" dirty="0">
                <a:latin typeface="Times New Roman" panose="02020603050405020304" pitchFamily="18" charset="0"/>
                <a:cs typeface="Times New Roman" panose="02020603050405020304" pitchFamily="18" charset="0"/>
              </a:rPr>
              <a:t>Encryption :</a:t>
            </a:r>
          </a:p>
        </p:txBody>
      </p:sp>
    </p:spTree>
    <p:extLst>
      <p:ext uri="{BB962C8B-B14F-4D97-AF65-F5344CB8AC3E}">
        <p14:creationId xmlns:p14="http://schemas.microsoft.com/office/powerpoint/2010/main" val="33439821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16EDE2-E31E-44C0-894A-4CA0323EF805}"/>
              </a:ext>
            </a:extLst>
          </p:cNvPr>
          <p:cNvSpPr>
            <a:spLocks noGrp="1"/>
          </p:cNvSpPr>
          <p:nvPr>
            <p:ph idx="1"/>
          </p:nvPr>
        </p:nvSpPr>
        <p:spPr>
          <a:xfrm>
            <a:off x="453325" y="848139"/>
            <a:ext cx="8237348" cy="5328824"/>
          </a:xfrm>
        </p:spPr>
        <p:txBody>
          <a:bodyPr>
            <a:normAutofit/>
          </a:bodyPr>
          <a:lstStyle/>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An encryption algorithm must provide this essential property: Given a ciphertext c </a:t>
            </a:r>
            <a:r>
              <a:rPr lang="en-IN" dirty="0">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C, a computer can compute m such that </a:t>
            </a:r>
            <a:r>
              <a:rPr lang="en-US" dirty="0" err="1">
                <a:latin typeface="Times New Roman" panose="02020603050405020304" pitchFamily="18" charset="0"/>
                <a:cs typeface="Times New Roman" panose="02020603050405020304" pitchFamily="18" charset="0"/>
              </a:rPr>
              <a:t>Ek</a:t>
            </a:r>
            <a:r>
              <a:rPr lang="en-US" dirty="0">
                <a:latin typeface="Times New Roman" panose="02020603050405020304" pitchFamily="18" charset="0"/>
                <a:cs typeface="Times New Roman" panose="02020603050405020304" pitchFamily="18" charset="0"/>
              </a:rPr>
              <a:t> (m) = c only if it possesses k </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Thus, a computer holding k can decrypt ciphertexts to the plaintexts used to produce them, but a computer not holding k cannot decrypt ciphertexts</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Since ciphertexts are generally exposed (for example, sent on the network), it is important that it be infeasible to derive k from the ciphertexts</a:t>
            </a:r>
          </a:p>
          <a:p>
            <a:pPr marL="285750" indent="-285750" algn="just">
              <a:lnSpc>
                <a:spcPct val="100000"/>
              </a:lnSpc>
              <a:spcBef>
                <a:spcPts val="900"/>
              </a:spcBef>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Symmetric encryption </a:t>
            </a:r>
            <a:r>
              <a:rPr lang="en-US" i="0" dirty="0">
                <a:effectLst/>
                <a:latin typeface="Times New Roman" panose="02020603050405020304" pitchFamily="18" charset="0"/>
                <a:cs typeface="Times New Roman" panose="02020603050405020304" pitchFamily="18" charset="0"/>
              </a:rPr>
              <a:t>uses a private key to encrypt and decrypt an encrypted email.</a:t>
            </a:r>
            <a:r>
              <a:rPr lang="en-US" b="0" i="0" dirty="0">
                <a:effectLst/>
                <a:latin typeface="Times New Roman" panose="02020603050405020304" pitchFamily="18" charset="0"/>
                <a:cs typeface="Times New Roman" panose="02020603050405020304" pitchFamily="18" charset="0"/>
              </a:rPr>
              <a:t> (</a:t>
            </a:r>
            <a:r>
              <a:rPr lang="en-US" b="1" i="0" dirty="0">
                <a:effectLst/>
                <a:latin typeface="Times New Roman" panose="02020603050405020304" pitchFamily="18" charset="0"/>
                <a:cs typeface="Times New Roman" panose="02020603050405020304" pitchFamily="18" charset="0"/>
              </a:rPr>
              <a:t>symmetric encryption uses one Secret  key for both encryption and decryption</a:t>
            </a:r>
            <a:r>
              <a:rPr lang="en-US" b="0" i="0" dirty="0">
                <a:effectLst/>
                <a:latin typeface="Times New Roman" panose="02020603050405020304" pitchFamily="18" charset="0"/>
                <a:cs typeface="Times New Roman" panose="02020603050405020304" pitchFamily="18" charset="0"/>
              </a:rPr>
              <a:t>, )</a:t>
            </a:r>
          </a:p>
          <a:p>
            <a:pPr marL="285750" indent="-285750" algn="just">
              <a:lnSpc>
                <a:spcPct val="100000"/>
              </a:lnSpc>
              <a:spcBef>
                <a:spcPts val="900"/>
              </a:spcBef>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Asymmetric encryption uses the public key of the recipient to encrypt the message. Then if the recipient wants to decrypt the message the recipient will have to use his/her private key to decrypt(</a:t>
            </a:r>
            <a:r>
              <a:rPr lang="en-US" b="1" i="0" dirty="0">
                <a:effectLst/>
                <a:latin typeface="Times New Roman" panose="02020603050405020304" pitchFamily="18" charset="0"/>
                <a:cs typeface="Times New Roman" panose="02020603050405020304" pitchFamily="18" charset="0"/>
              </a:rPr>
              <a:t>asymmetric encryption uses public key for encryption and a private key for decryption)</a:t>
            </a:r>
          </a:p>
        </p:txBody>
      </p:sp>
      <p:sp>
        <p:nvSpPr>
          <p:cNvPr id="3" name="Title 2">
            <a:extLst>
              <a:ext uri="{FF2B5EF4-FFF2-40B4-BE49-F238E27FC236}">
                <a16:creationId xmlns:a16="http://schemas.microsoft.com/office/drawing/2014/main" id="{A04D2C6E-1C5D-4A8A-9F32-51480128D633}"/>
              </a:ext>
            </a:extLst>
          </p:cNvPr>
          <p:cNvSpPr>
            <a:spLocks noGrp="1"/>
          </p:cNvSpPr>
          <p:nvPr>
            <p:ph type="title"/>
          </p:nvPr>
        </p:nvSpPr>
        <p:spPr>
          <a:xfrm>
            <a:off x="106017" y="253514"/>
            <a:ext cx="7121879" cy="479910"/>
          </a:xfrm>
        </p:spPr>
        <p:txBody>
          <a:bodyPr>
            <a:normAutofit/>
          </a:bodyPr>
          <a:lstStyle/>
          <a:p>
            <a:r>
              <a:rPr lang="en-IN" sz="2800" dirty="0">
                <a:latin typeface="Times New Roman" panose="02020603050405020304" pitchFamily="18" charset="0"/>
                <a:cs typeface="Times New Roman" panose="02020603050405020304" pitchFamily="18" charset="0"/>
              </a:rPr>
              <a:t>Encryption  :</a:t>
            </a:r>
          </a:p>
        </p:txBody>
      </p:sp>
    </p:spTree>
    <p:extLst>
      <p:ext uri="{BB962C8B-B14F-4D97-AF65-F5344CB8AC3E}">
        <p14:creationId xmlns:p14="http://schemas.microsoft.com/office/powerpoint/2010/main" val="40009652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7AD059-0EA2-44DA-AB79-EC7B4C159556}"/>
              </a:ext>
            </a:extLst>
          </p:cNvPr>
          <p:cNvSpPr>
            <a:spLocks noGrp="1"/>
          </p:cNvSpPr>
          <p:nvPr>
            <p:ph idx="1"/>
          </p:nvPr>
        </p:nvSpPr>
        <p:spPr>
          <a:xfrm>
            <a:off x="453325" y="733424"/>
            <a:ext cx="8237348" cy="5443539"/>
          </a:xfrm>
        </p:spPr>
        <p:txBody>
          <a:bodyPr>
            <a:noAutofit/>
          </a:bodyPr>
          <a:lstStyle/>
          <a:p>
            <a:pPr marL="285750" indent="-285750" algn="just">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In a symmetric encryption algorithm, the same key is used to encrypt and to decrypt.</a:t>
            </a:r>
          </a:p>
          <a:p>
            <a:pPr marL="285750" indent="-285750" algn="just">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Note that the key exchange can take place directly between the two parties or via a trusted third party.</a:t>
            </a:r>
          </a:p>
          <a:p>
            <a:pPr marL="285750" indent="-285750" algn="just">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Data-encryption standard (DES) cipher adopted by the National Institute of Standards and Technology (NIST). </a:t>
            </a:r>
          </a:p>
          <a:p>
            <a:pPr marL="285750" indent="-285750" algn="just">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DES works by taking a 64-bit value and a 56-bit key and performing a series of transformations that are based on substitution and permutation operations. </a:t>
            </a:r>
          </a:p>
          <a:p>
            <a:pPr marL="285750" indent="-285750" algn="just">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DES works on a block of bits at a time, is known as a block cipher, With block ciphers, if the same key is used for encrypting an extended amount of data, it becomes vulnerable to attack.</a:t>
            </a:r>
          </a:p>
          <a:p>
            <a:pPr marL="285750" indent="-285750" algn="just">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DES is now considered insecure for many applications, Rather than giving up on DES, NIST created a modification called triple DES, in which the DES algorithm is repeated three times (two encryptions and one decryption) on the same plaintext using two or three keys.</a:t>
            </a:r>
          </a:p>
        </p:txBody>
      </p:sp>
      <p:sp>
        <p:nvSpPr>
          <p:cNvPr id="3" name="Title 2">
            <a:extLst>
              <a:ext uri="{FF2B5EF4-FFF2-40B4-BE49-F238E27FC236}">
                <a16:creationId xmlns:a16="http://schemas.microsoft.com/office/drawing/2014/main" id="{F4E5C2F5-0F11-4249-B01E-3175C73ECA10}"/>
              </a:ext>
            </a:extLst>
          </p:cNvPr>
          <p:cNvSpPr>
            <a:spLocks noGrp="1"/>
          </p:cNvSpPr>
          <p:nvPr>
            <p:ph type="title"/>
          </p:nvPr>
        </p:nvSpPr>
        <p:spPr>
          <a:xfrm>
            <a:off x="132522" y="253514"/>
            <a:ext cx="7095374" cy="479910"/>
          </a:xfrm>
        </p:spPr>
        <p:txBody>
          <a:bodyPr>
            <a:normAutofit/>
          </a:bodyPr>
          <a:lstStyle/>
          <a:p>
            <a:r>
              <a:rPr lang="en-IN" sz="2800" dirty="0">
                <a:latin typeface="Times New Roman" panose="02020603050405020304" pitchFamily="18" charset="0"/>
                <a:cs typeface="Times New Roman" panose="02020603050405020304" pitchFamily="18" charset="0"/>
              </a:rPr>
              <a:t>Symmetric Encryption :</a:t>
            </a:r>
          </a:p>
        </p:txBody>
      </p:sp>
    </p:spTree>
    <p:extLst>
      <p:ext uri="{BB962C8B-B14F-4D97-AF65-F5344CB8AC3E}">
        <p14:creationId xmlns:p14="http://schemas.microsoft.com/office/powerpoint/2010/main" val="23095617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70DDC7-EE47-4BBF-91A5-3771E911DB94}"/>
              </a:ext>
            </a:extLst>
          </p:cNvPr>
          <p:cNvSpPr>
            <a:spLocks noGrp="1"/>
          </p:cNvSpPr>
          <p:nvPr>
            <p:ph idx="1"/>
          </p:nvPr>
        </p:nvSpPr>
        <p:spPr>
          <a:xfrm>
            <a:off x="453325" y="967409"/>
            <a:ext cx="8237348" cy="5209554"/>
          </a:xfrm>
        </p:spPr>
        <p:txBody>
          <a:bodyPr>
            <a:normAutofit/>
          </a:bodyPr>
          <a:lstStyle/>
          <a:p>
            <a:pPr marL="285750" indent="-285750" algn="just">
              <a:lnSpc>
                <a:spcPct val="100000"/>
              </a:lnSpc>
              <a:spcBef>
                <a:spcPts val="700"/>
              </a:spcBef>
              <a:spcAft>
                <a:spcPts val="7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For example, </a:t>
            </a:r>
            <a:r>
              <a:rPr lang="en-US" sz="1900" b="1" dirty="0">
                <a:latin typeface="Times New Roman" panose="02020603050405020304" pitchFamily="18" charset="0"/>
                <a:cs typeface="Times New Roman" panose="02020603050405020304" pitchFamily="18" charset="0"/>
              </a:rPr>
              <a:t>c = Ek3(Dk2(Ek1(m))). </a:t>
            </a:r>
            <a:r>
              <a:rPr lang="en-US" sz="1900" dirty="0">
                <a:latin typeface="Times New Roman" panose="02020603050405020304" pitchFamily="18" charset="0"/>
                <a:cs typeface="Times New Roman" panose="02020603050405020304" pitchFamily="18" charset="0"/>
              </a:rPr>
              <a:t>When three keys are used, the effective key length is 168 bits. Triple DES is in widespread use today.</a:t>
            </a:r>
            <a:endParaRPr lang="en-IN" sz="1900" dirty="0">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In 2001, NIST adopted a new block cipher, called the </a:t>
            </a:r>
            <a:r>
              <a:rPr lang="en-US" sz="1900" b="1" dirty="0">
                <a:latin typeface="Times New Roman" panose="02020603050405020304" pitchFamily="18" charset="0"/>
                <a:cs typeface="Times New Roman" panose="02020603050405020304" pitchFamily="18" charset="0"/>
              </a:rPr>
              <a:t>advanced encryption standard (AES), </a:t>
            </a:r>
            <a:r>
              <a:rPr lang="en-US" sz="1900" dirty="0">
                <a:latin typeface="Times New Roman" panose="02020603050405020304" pitchFamily="18" charset="0"/>
                <a:cs typeface="Times New Roman" panose="02020603050405020304" pitchFamily="18" charset="0"/>
              </a:rPr>
              <a:t>to replace DES. </a:t>
            </a:r>
          </a:p>
          <a:p>
            <a:pPr marL="285750" indent="-285750" algn="just">
              <a:lnSpc>
                <a:spcPct val="100000"/>
              </a:lnSpc>
              <a:spcBef>
                <a:spcPts val="700"/>
              </a:spcBef>
              <a:spcAft>
                <a:spcPts val="700"/>
              </a:spcAft>
              <a:buFont typeface="Wingdings" panose="05000000000000000000" pitchFamily="2" charset="2"/>
              <a:buChar char="q"/>
            </a:pPr>
            <a:r>
              <a:rPr lang="en-US" sz="1900" b="1" dirty="0">
                <a:latin typeface="Times New Roman" panose="02020603050405020304" pitchFamily="18" charset="0"/>
                <a:cs typeface="Times New Roman" panose="02020603050405020304" pitchFamily="18" charset="0"/>
              </a:rPr>
              <a:t>AES</a:t>
            </a:r>
            <a:r>
              <a:rPr lang="en-US" sz="1900" dirty="0">
                <a:latin typeface="Times New Roman" panose="02020603050405020304" pitchFamily="18" charset="0"/>
                <a:cs typeface="Times New Roman" panose="02020603050405020304" pitchFamily="18" charset="0"/>
              </a:rPr>
              <a:t> is another block cipher. It can </a:t>
            </a:r>
            <a:r>
              <a:rPr lang="en-US" sz="1900" b="1" dirty="0">
                <a:latin typeface="Times New Roman" panose="02020603050405020304" pitchFamily="18" charset="0"/>
                <a:cs typeface="Times New Roman" panose="02020603050405020304" pitchFamily="18" charset="0"/>
              </a:rPr>
              <a:t>use key lengths of 128, 192, or 256 bits </a:t>
            </a:r>
            <a:r>
              <a:rPr lang="en-US" sz="1900" dirty="0">
                <a:latin typeface="Times New Roman" panose="02020603050405020304" pitchFamily="18" charset="0"/>
                <a:cs typeface="Times New Roman" panose="02020603050405020304" pitchFamily="18" charset="0"/>
              </a:rPr>
              <a:t>and </a:t>
            </a:r>
            <a:r>
              <a:rPr lang="en-US" sz="1900" b="1" dirty="0">
                <a:latin typeface="Times New Roman" panose="02020603050405020304" pitchFamily="18" charset="0"/>
                <a:cs typeface="Times New Roman" panose="02020603050405020304" pitchFamily="18" charset="0"/>
              </a:rPr>
              <a:t>works on 128-bit blocks</a:t>
            </a:r>
            <a:r>
              <a:rPr lang="en-US" sz="1900" dirty="0">
                <a:latin typeface="Times New Roman" panose="02020603050405020304" pitchFamily="18" charset="0"/>
                <a:cs typeface="Times New Roman" panose="02020603050405020304" pitchFamily="18" charset="0"/>
              </a:rPr>
              <a:t>. Generally, the algorithm is compact and efficient.</a:t>
            </a:r>
          </a:p>
          <a:p>
            <a:pPr marL="285750" indent="-285750" algn="just">
              <a:lnSpc>
                <a:spcPct val="100000"/>
              </a:lnSpc>
              <a:spcBef>
                <a:spcPts val="700"/>
              </a:spcBef>
              <a:spcAft>
                <a:spcPts val="700"/>
              </a:spcAft>
              <a:buFont typeface="Wingdings" panose="05000000000000000000" pitchFamily="2" charset="2"/>
              <a:buChar char="q"/>
            </a:pPr>
            <a:r>
              <a:rPr lang="en-IN" sz="1900" dirty="0">
                <a:latin typeface="Times New Roman" panose="02020603050405020304" pitchFamily="18" charset="0"/>
                <a:cs typeface="Times New Roman" panose="02020603050405020304" pitchFamily="18" charset="0"/>
              </a:rPr>
              <a:t>RC4 is most common symmetric stream cipher, but known to have vulnerabilities</a:t>
            </a:r>
          </a:p>
          <a:p>
            <a:pPr algn="just">
              <a:lnSpc>
                <a:spcPct val="100000"/>
              </a:lnSpc>
              <a:spcBef>
                <a:spcPts val="700"/>
              </a:spcBef>
              <a:spcAft>
                <a:spcPts val="700"/>
              </a:spcAft>
              <a:buNone/>
            </a:pPr>
            <a:r>
              <a:rPr lang="en-IN" sz="1900" dirty="0">
                <a:latin typeface="Times New Roman" panose="02020603050405020304" pitchFamily="18" charset="0"/>
                <a:cs typeface="Times New Roman" panose="02020603050405020304" pitchFamily="18" charset="0"/>
              </a:rPr>
              <a:t> →  </a:t>
            </a:r>
            <a:r>
              <a:rPr lang="en-US" sz="1900" dirty="0">
                <a:latin typeface="Times New Roman" panose="02020603050405020304" pitchFamily="18" charset="0"/>
                <a:cs typeface="Times New Roman" panose="02020603050405020304" pitchFamily="18" charset="0"/>
              </a:rPr>
              <a:t>A stream cipher is designed to encrypt and decrypt a stream of bytes or bits rather than a block </a:t>
            </a:r>
            <a:r>
              <a:rPr lang="en-IN" sz="1900" dirty="0">
                <a:latin typeface="Times New Roman" panose="02020603050405020304" pitchFamily="18" charset="0"/>
                <a:cs typeface="Times New Roman" panose="02020603050405020304" pitchFamily="18" charset="0"/>
              </a:rPr>
              <a:t> (i.e., wireless transmission)</a:t>
            </a:r>
          </a:p>
          <a:p>
            <a:pPr algn="just">
              <a:lnSpc>
                <a:spcPct val="100000"/>
              </a:lnSpc>
              <a:spcBef>
                <a:spcPts val="700"/>
              </a:spcBef>
              <a:spcAft>
                <a:spcPts val="700"/>
              </a:spcAft>
              <a:buNone/>
            </a:pPr>
            <a:r>
              <a:rPr lang="en-IN" sz="1900" dirty="0">
                <a:latin typeface="Times New Roman" panose="02020603050405020304" pitchFamily="18" charset="0"/>
                <a:cs typeface="Times New Roman" panose="02020603050405020304" pitchFamily="18" charset="0"/>
              </a:rPr>
              <a:t> → </a:t>
            </a:r>
            <a:r>
              <a:rPr lang="en-US" sz="1900" dirty="0">
                <a:latin typeface="Times New Roman" panose="02020603050405020304" pitchFamily="18" charset="0"/>
                <a:cs typeface="Times New Roman" panose="02020603050405020304" pitchFamily="18" charset="0"/>
              </a:rPr>
              <a:t> A keystream is an infinite set of bits that can be used to encrypt a plaintext stream by simply XORing it with the plaintext.</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CB57D9F-610D-4BCA-973B-CA0F2E6FD84E}"/>
              </a:ext>
            </a:extLst>
          </p:cNvPr>
          <p:cNvSpPr>
            <a:spLocks noGrp="1"/>
          </p:cNvSpPr>
          <p:nvPr>
            <p:ph type="title"/>
          </p:nvPr>
        </p:nvSpPr>
        <p:spPr>
          <a:xfrm>
            <a:off x="106017" y="253514"/>
            <a:ext cx="7121879" cy="479910"/>
          </a:xfrm>
        </p:spPr>
        <p:txBody>
          <a:bodyPr>
            <a:normAutofit/>
          </a:bodyPr>
          <a:lstStyle/>
          <a:p>
            <a:r>
              <a:rPr lang="en-IN" sz="2800" dirty="0">
                <a:latin typeface="Times New Roman" panose="02020603050405020304" pitchFamily="18" charset="0"/>
                <a:cs typeface="Times New Roman" panose="02020603050405020304" pitchFamily="18" charset="0"/>
              </a:rPr>
              <a:t>Symmetric Encryption :</a:t>
            </a:r>
          </a:p>
        </p:txBody>
      </p:sp>
    </p:spTree>
    <p:extLst>
      <p:ext uri="{BB962C8B-B14F-4D97-AF65-F5344CB8AC3E}">
        <p14:creationId xmlns:p14="http://schemas.microsoft.com/office/powerpoint/2010/main" val="35365919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7F28CE-8179-419C-A5A6-3F32FAB006BA}"/>
              </a:ext>
            </a:extLst>
          </p:cNvPr>
          <p:cNvSpPr>
            <a:spLocks noGrp="1"/>
          </p:cNvSpPr>
          <p:nvPr>
            <p:ph type="title"/>
          </p:nvPr>
        </p:nvSpPr>
        <p:spPr>
          <a:xfrm>
            <a:off x="185529" y="253514"/>
            <a:ext cx="8401879" cy="479910"/>
          </a:xfrm>
        </p:spPr>
        <p:txBody>
          <a:bodyPr>
            <a:noAutofit/>
          </a:bodyPr>
          <a:lstStyle/>
          <a:p>
            <a:r>
              <a:rPr lang="en-US" sz="2800" b="1" i="0" dirty="0">
                <a:effectLst/>
                <a:latin typeface="Times New Roman" panose="02020603050405020304" pitchFamily="18" charset="0"/>
              </a:rPr>
              <a:t>A secure communication over an insecure medium :</a:t>
            </a:r>
            <a:endParaRPr lang="en-IN" sz="2800" dirty="0"/>
          </a:p>
        </p:txBody>
      </p:sp>
      <p:pic>
        <p:nvPicPr>
          <p:cNvPr id="1026" name="Picture 2">
            <a:extLst>
              <a:ext uri="{FF2B5EF4-FFF2-40B4-BE49-F238E27FC236}">
                <a16:creationId xmlns:a16="http://schemas.microsoft.com/office/drawing/2014/main" id="{CEF16507-C39E-4344-B164-4EA6DC0BA6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9113" y="887896"/>
            <a:ext cx="7898295" cy="5716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21297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1ADC15-0F74-43D2-A8F2-FBD6AB15CACF}"/>
              </a:ext>
            </a:extLst>
          </p:cNvPr>
          <p:cNvSpPr>
            <a:spLocks noGrp="1"/>
          </p:cNvSpPr>
          <p:nvPr>
            <p:ph idx="1"/>
          </p:nvPr>
        </p:nvSpPr>
        <p:spPr>
          <a:xfrm>
            <a:off x="453325" y="887896"/>
            <a:ext cx="8237348" cy="5289067"/>
          </a:xfrm>
        </p:spPr>
        <p:txBody>
          <a:bodyPr/>
          <a:lstStyle/>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Public-key encryption based on each user having two keys:</a:t>
            </a:r>
          </a:p>
          <a:p>
            <a:pPr algn="just">
              <a:lnSpc>
                <a:spcPct val="100000"/>
              </a:lnSpc>
              <a:spcBef>
                <a:spcPts val="900"/>
              </a:spcBef>
            </a:pPr>
            <a:r>
              <a:rPr lang="en-IN" sz="1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Public key </a:t>
            </a:r>
            <a:r>
              <a:rPr lang="en-US" dirty="0">
                <a:latin typeface="Times New Roman" panose="02020603050405020304" pitchFamily="18" charset="0"/>
                <a:cs typeface="Times New Roman" panose="02020603050405020304" pitchFamily="18" charset="0"/>
              </a:rPr>
              <a:t>– published key used to encrypt data </a:t>
            </a:r>
          </a:p>
          <a:p>
            <a:pPr algn="just">
              <a:lnSpc>
                <a:spcPct val="100000"/>
              </a:lnSpc>
              <a:spcBef>
                <a:spcPts val="900"/>
              </a:spcBef>
            </a:pPr>
            <a:r>
              <a:rPr lang="en-IN" sz="1800" dirty="0">
                <a:latin typeface="Times New Roman" panose="02020603050405020304" pitchFamily="18" charset="0"/>
                <a:cs typeface="Times New Roman" panose="02020603050405020304" pitchFamily="18" charset="0"/>
              </a:rPr>
              <a:t>           →  </a:t>
            </a:r>
            <a:r>
              <a:rPr lang="en-US" sz="1800" b="1" dirty="0">
                <a:latin typeface="Times New Roman" panose="02020603050405020304" pitchFamily="18" charset="0"/>
                <a:cs typeface="Times New Roman" panose="02020603050405020304" pitchFamily="18" charset="0"/>
              </a:rPr>
              <a:t>P</a:t>
            </a:r>
            <a:r>
              <a:rPr lang="en-US" b="1" dirty="0">
                <a:latin typeface="Times New Roman" panose="02020603050405020304" pitchFamily="18" charset="0"/>
                <a:cs typeface="Times New Roman" panose="02020603050405020304" pitchFamily="18" charset="0"/>
              </a:rPr>
              <a:t>rivate key </a:t>
            </a:r>
            <a:r>
              <a:rPr lang="en-US" dirty="0">
                <a:latin typeface="Times New Roman" panose="02020603050405020304" pitchFamily="18" charset="0"/>
                <a:cs typeface="Times New Roman" panose="02020603050405020304" pitchFamily="18" charset="0"/>
              </a:rPr>
              <a:t>– key known only to individual user used to decrypt data</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Must be an encryption scheme that can be made public without making it easy to figure out the decryption scheme </a:t>
            </a:r>
          </a:p>
          <a:p>
            <a:pPr algn="just">
              <a:lnSpc>
                <a:spcPct val="100000"/>
              </a:lnSpc>
              <a:spcBef>
                <a:spcPts val="900"/>
              </a:spcBef>
            </a:pPr>
            <a:r>
              <a:rPr lang="en-IN" sz="1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Most common is RSA block cipher </a:t>
            </a:r>
          </a:p>
          <a:p>
            <a:pPr algn="just">
              <a:lnSpc>
                <a:spcPct val="100000"/>
              </a:lnSpc>
              <a:spcBef>
                <a:spcPts val="900"/>
              </a:spcBef>
            </a:pPr>
            <a:r>
              <a:rPr lang="en-IN" sz="1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Efficient algorithm for testing whether or not a number is prime</a:t>
            </a:r>
          </a:p>
          <a:p>
            <a:pPr algn="just">
              <a:lnSpc>
                <a:spcPct val="100000"/>
              </a:lnSpc>
              <a:spcBef>
                <a:spcPts val="900"/>
              </a:spcBef>
            </a:pPr>
            <a:r>
              <a:rPr lang="en-IN" sz="18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No efficient algorithm is know for finding the prime factors of a number</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109CE1EC-B93F-4FA3-8B01-D7D4B781ED31}"/>
              </a:ext>
            </a:extLst>
          </p:cNvPr>
          <p:cNvSpPr>
            <a:spLocks noGrp="1"/>
          </p:cNvSpPr>
          <p:nvPr>
            <p:ph type="title"/>
          </p:nvPr>
        </p:nvSpPr>
        <p:spPr>
          <a:xfrm>
            <a:off x="132522" y="253514"/>
            <a:ext cx="7095374" cy="427523"/>
          </a:xfrm>
        </p:spPr>
        <p:txBody>
          <a:bodyPr>
            <a:noAutofit/>
          </a:bodyPr>
          <a:lstStyle/>
          <a:p>
            <a:r>
              <a:rPr lang="en-IN" sz="2800" dirty="0">
                <a:latin typeface="Times New Roman" panose="02020603050405020304" pitchFamily="18" charset="0"/>
                <a:cs typeface="Times New Roman" panose="02020603050405020304" pitchFamily="18" charset="0"/>
              </a:rPr>
              <a:t>Asymmetric Encryption :</a:t>
            </a:r>
          </a:p>
        </p:txBody>
      </p:sp>
    </p:spTree>
    <p:extLst>
      <p:ext uri="{BB962C8B-B14F-4D97-AF65-F5344CB8AC3E}">
        <p14:creationId xmlns:p14="http://schemas.microsoft.com/office/powerpoint/2010/main" val="36460044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4537C2-CFB3-42A2-9581-50AD31102CC3}"/>
              </a:ext>
            </a:extLst>
          </p:cNvPr>
          <p:cNvSpPr>
            <a:spLocks noGrp="1"/>
          </p:cNvSpPr>
          <p:nvPr>
            <p:ph idx="1"/>
          </p:nvPr>
        </p:nvSpPr>
        <p:spPr>
          <a:xfrm>
            <a:off x="453325" y="901148"/>
            <a:ext cx="8237348" cy="5275815"/>
          </a:xfrm>
        </p:spPr>
        <p:txBody>
          <a:bodyPr>
            <a:normAutofit/>
          </a:bodyPr>
          <a:lstStyle/>
          <a:p>
            <a:pPr marL="285750" indent="-285750" algn="just">
              <a:lnSpc>
                <a:spcPct val="100000"/>
              </a:lnSpc>
              <a:spcBef>
                <a:spcPts val="900"/>
              </a:spcBef>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Formally, it is computationally infeasible to derive kd,N from ke,N, and so ke need not be kept secret and can be widely disseminated</a:t>
            </a:r>
          </a:p>
          <a:p>
            <a:pPr algn="just">
              <a:lnSpc>
                <a:spcPct val="100000"/>
              </a:lnSpc>
              <a:spcBef>
                <a:spcPts val="900"/>
              </a:spcBef>
              <a:buNone/>
            </a:pPr>
            <a:r>
              <a:rPr lang="en-IN" sz="19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  ke is the public key </a:t>
            </a:r>
          </a:p>
          <a:p>
            <a:pPr algn="just">
              <a:lnSpc>
                <a:spcPct val="100000"/>
              </a:lnSpc>
              <a:spcBef>
                <a:spcPts val="900"/>
              </a:spcBef>
              <a:buNone/>
            </a:pPr>
            <a:r>
              <a:rPr lang="en-IN" sz="1900" dirty="0">
                <a:latin typeface="Times New Roman" panose="02020603050405020304" pitchFamily="18" charset="0"/>
                <a:cs typeface="Times New Roman" panose="02020603050405020304" pitchFamily="18" charset="0"/>
              </a:rPr>
              <a:t>     →  </a:t>
            </a:r>
            <a:r>
              <a:rPr lang="en-US" sz="1900" dirty="0">
                <a:latin typeface="Times New Roman" panose="02020603050405020304" pitchFamily="18" charset="0"/>
                <a:cs typeface="Times New Roman" panose="02020603050405020304" pitchFamily="18" charset="0"/>
              </a:rPr>
              <a:t>kd is the private key</a:t>
            </a:r>
          </a:p>
          <a:p>
            <a:pPr algn="just">
              <a:lnSpc>
                <a:spcPct val="100000"/>
              </a:lnSpc>
              <a:spcBef>
                <a:spcPts val="900"/>
              </a:spcBef>
              <a:buNone/>
            </a:pPr>
            <a:r>
              <a:rPr lang="en-IN" sz="19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  N is the product of two large, randomly chosen prime numbers p and q</a:t>
            </a:r>
          </a:p>
          <a:p>
            <a:pPr algn="just">
              <a:lnSpc>
                <a:spcPct val="100000"/>
              </a:lnSpc>
              <a:spcBef>
                <a:spcPts val="900"/>
              </a:spcBef>
              <a:buNone/>
            </a:pPr>
            <a:r>
              <a:rPr lang="en-US" sz="1900" dirty="0">
                <a:latin typeface="Times New Roman" panose="02020603050405020304" pitchFamily="18" charset="0"/>
                <a:cs typeface="Times New Roman" panose="02020603050405020304" pitchFamily="18" charset="0"/>
              </a:rPr>
              <a:t>             (for example, p and q are 512 bits each) </a:t>
            </a:r>
          </a:p>
          <a:p>
            <a:pPr algn="just">
              <a:lnSpc>
                <a:spcPct val="100000"/>
              </a:lnSpc>
              <a:spcBef>
                <a:spcPts val="900"/>
              </a:spcBef>
              <a:buNone/>
            </a:pPr>
            <a:r>
              <a:rPr lang="en-IN" sz="1900" dirty="0">
                <a:latin typeface="Times New Roman" panose="02020603050405020304" pitchFamily="18" charset="0"/>
                <a:cs typeface="Times New Roman" panose="02020603050405020304" pitchFamily="18" charset="0"/>
              </a:rPr>
              <a:t>     → </a:t>
            </a:r>
            <a:r>
              <a:rPr lang="en-US" sz="1900" dirty="0">
                <a:latin typeface="Times New Roman" panose="02020603050405020304" pitchFamily="18" charset="0"/>
                <a:cs typeface="Times New Roman" panose="02020603050405020304" pitchFamily="18" charset="0"/>
              </a:rPr>
              <a:t> Encryption algorithm is Eke,N(m) = mke mod N, where ke satisfies </a:t>
            </a:r>
          </a:p>
          <a:p>
            <a:pPr algn="just">
              <a:lnSpc>
                <a:spcPct val="100000"/>
              </a:lnSpc>
              <a:spcBef>
                <a:spcPts val="900"/>
              </a:spcBef>
              <a:buNone/>
            </a:pPr>
            <a:r>
              <a:rPr lang="en-US" sz="1900" dirty="0">
                <a:latin typeface="Times New Roman" panose="02020603050405020304" pitchFamily="18" charset="0"/>
                <a:cs typeface="Times New Roman" panose="02020603050405020304" pitchFamily="18" charset="0"/>
              </a:rPr>
              <a:t>           kekd mod (p−1)(q −1) = 1</a:t>
            </a:r>
          </a:p>
          <a:p>
            <a:pPr algn="just">
              <a:lnSpc>
                <a:spcPct val="100000"/>
              </a:lnSpc>
              <a:spcBef>
                <a:spcPts val="900"/>
              </a:spcBef>
              <a:buNone/>
            </a:pPr>
            <a:r>
              <a:rPr lang="en-IN" sz="1900" dirty="0">
                <a:latin typeface="Times New Roman" panose="02020603050405020304" pitchFamily="18" charset="0"/>
                <a:cs typeface="Times New Roman" panose="02020603050405020304" pitchFamily="18" charset="0"/>
              </a:rPr>
              <a:t>    →  </a:t>
            </a:r>
            <a:r>
              <a:rPr lang="en-US" sz="1900" dirty="0">
                <a:latin typeface="Times New Roman" panose="02020603050405020304" pitchFamily="18" charset="0"/>
                <a:cs typeface="Times New Roman" panose="02020603050405020304" pitchFamily="18" charset="0"/>
              </a:rPr>
              <a:t>The decryption algorithm is then Dkd,N(c) = c kd mod N</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D717665-9D4B-4A9C-81D3-869F8802AB5D}"/>
              </a:ext>
            </a:extLst>
          </p:cNvPr>
          <p:cNvSpPr>
            <a:spLocks noGrp="1"/>
          </p:cNvSpPr>
          <p:nvPr>
            <p:ph type="title"/>
          </p:nvPr>
        </p:nvSpPr>
        <p:spPr>
          <a:xfrm>
            <a:off x="251791" y="253514"/>
            <a:ext cx="6976105" cy="479910"/>
          </a:xfrm>
        </p:spPr>
        <p:txBody>
          <a:bodyPr>
            <a:normAutofit/>
          </a:bodyPr>
          <a:lstStyle/>
          <a:p>
            <a:r>
              <a:rPr lang="en-IN" sz="2800" dirty="0">
                <a:latin typeface="Times New Roman" panose="02020603050405020304" pitchFamily="18" charset="0"/>
                <a:cs typeface="Times New Roman" panose="02020603050405020304" pitchFamily="18" charset="0"/>
              </a:rPr>
              <a:t>Asymmetric Encryption :</a:t>
            </a:r>
          </a:p>
        </p:txBody>
      </p:sp>
    </p:spTree>
    <p:extLst>
      <p:ext uri="{BB962C8B-B14F-4D97-AF65-F5344CB8AC3E}">
        <p14:creationId xmlns:p14="http://schemas.microsoft.com/office/powerpoint/2010/main" val="298838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A18C97-1AEE-4242-AA01-4EB9B0319B85}"/>
              </a:ext>
            </a:extLst>
          </p:cNvPr>
          <p:cNvSpPr>
            <a:spLocks noGrp="1"/>
          </p:cNvSpPr>
          <p:nvPr>
            <p:ph idx="1"/>
          </p:nvPr>
        </p:nvSpPr>
        <p:spPr>
          <a:xfrm>
            <a:off x="453325" y="848139"/>
            <a:ext cx="8237348" cy="5328824"/>
          </a:xfrm>
        </p:spPr>
        <p:txBody>
          <a:bodyPr>
            <a:noAutofit/>
          </a:bodyPr>
          <a:lstStyle/>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For example. make p = 7and q = 13</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We then calculate N = 7∗13 = 91 (N is the product of two large, randomly chosen prime numbers p and q)and (p−1)(q−1) = 72 </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We next select ke relatively prime to 72 and&lt; 72, yielding 5</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Finally, we calculate kd such that kekd mod 72 = 1, yielding 29</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We how have our keys</a:t>
            </a:r>
          </a:p>
          <a:p>
            <a:pPr algn="just">
              <a:lnSpc>
                <a:spcPct val="100000"/>
              </a:lnSpc>
              <a:spcBef>
                <a:spcPts val="700"/>
              </a:spcBef>
              <a:spcAft>
                <a:spcPts val="700"/>
              </a:spcAft>
              <a:buNone/>
            </a:pP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Public key, ke,N = 5, 91</a:t>
            </a:r>
          </a:p>
          <a:p>
            <a:pPr algn="just">
              <a:lnSpc>
                <a:spcPct val="100000"/>
              </a:lnSpc>
              <a:spcBef>
                <a:spcPts val="700"/>
              </a:spcBef>
              <a:spcAft>
                <a:spcPts val="700"/>
              </a:spcAft>
            </a:pPr>
            <a:r>
              <a:rPr lang="en-IN"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Private key, kd,N = 29, 91</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Encrypting the message 69 with the public key results in the cyphertext 62</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Cyphertext can be decoded with the private key</a:t>
            </a:r>
          </a:p>
          <a:p>
            <a:pPr algn="just">
              <a:lnSpc>
                <a:spcPct val="100000"/>
              </a:lnSpc>
              <a:spcBef>
                <a:spcPts val="700"/>
              </a:spcBef>
              <a:spcAft>
                <a:spcPts val="700"/>
              </a:spcAft>
            </a:pPr>
            <a:r>
              <a:rPr lang="en-IN"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Public key can be distributed in cleartext to anyone who wants to communicate with holder of public key</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D83B4E9F-0E95-438C-8029-AC07FBC1A366}"/>
              </a:ext>
            </a:extLst>
          </p:cNvPr>
          <p:cNvSpPr>
            <a:spLocks noGrp="1"/>
          </p:cNvSpPr>
          <p:nvPr>
            <p:ph type="title"/>
          </p:nvPr>
        </p:nvSpPr>
        <p:spPr>
          <a:xfrm>
            <a:off x="0" y="253514"/>
            <a:ext cx="7227896" cy="427523"/>
          </a:xfrm>
        </p:spPr>
        <p:txBody>
          <a:bodyPr>
            <a:noAutofit/>
          </a:bodyPr>
          <a:lstStyle/>
          <a:p>
            <a:r>
              <a:rPr lang="en-IN" sz="2800" dirty="0">
                <a:latin typeface="Times New Roman" panose="02020603050405020304" pitchFamily="18" charset="0"/>
                <a:cs typeface="Times New Roman" panose="02020603050405020304" pitchFamily="18" charset="0"/>
              </a:rPr>
              <a:t>Asymmetric Encryption Example :</a:t>
            </a:r>
          </a:p>
        </p:txBody>
      </p:sp>
    </p:spTree>
    <p:extLst>
      <p:ext uri="{BB962C8B-B14F-4D97-AF65-F5344CB8AC3E}">
        <p14:creationId xmlns:p14="http://schemas.microsoft.com/office/powerpoint/2010/main" val="23289015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5AC74B-DD77-4B12-9A24-E982A59630CB}"/>
              </a:ext>
            </a:extLst>
          </p:cNvPr>
          <p:cNvSpPr>
            <a:spLocks noGrp="1"/>
          </p:cNvSpPr>
          <p:nvPr>
            <p:ph type="title"/>
          </p:nvPr>
        </p:nvSpPr>
        <p:spPr>
          <a:xfrm>
            <a:off x="0" y="253514"/>
            <a:ext cx="9011478" cy="479910"/>
          </a:xfrm>
        </p:spPr>
        <p:txBody>
          <a:bodyPr>
            <a:noAutofit/>
          </a:bodyPr>
          <a:lstStyle/>
          <a:p>
            <a:r>
              <a:rPr lang="en-US" sz="2400" dirty="0">
                <a:latin typeface="Times New Roman" panose="02020603050405020304" pitchFamily="18" charset="0"/>
                <a:cs typeface="Times New Roman" panose="02020603050405020304" pitchFamily="18" charset="0"/>
              </a:rPr>
              <a:t>Encryption and decryption using RSA asymmetric cryptography :</a:t>
            </a:r>
            <a:endParaRPr lang="en-IN" sz="2400"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96E3F72F-D728-4FFC-84D1-02FCEE5761C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83025" y="914400"/>
            <a:ext cx="5420139" cy="5565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949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730594-D852-4973-A643-740BE32366E7}"/>
              </a:ext>
            </a:extLst>
          </p:cNvPr>
          <p:cNvSpPr>
            <a:spLocks noGrp="1"/>
          </p:cNvSpPr>
          <p:nvPr>
            <p:ph idx="1"/>
          </p:nvPr>
        </p:nvSpPr>
        <p:spPr>
          <a:xfrm>
            <a:off x="453325" y="914400"/>
            <a:ext cx="8237348" cy="5262563"/>
          </a:xfrm>
        </p:spPr>
        <p:txBody>
          <a:bodyPr/>
          <a:lstStyle/>
          <a:p>
            <a:pPr algn="just">
              <a:lnSpc>
                <a:spcPct val="100000"/>
              </a:lnSpc>
              <a:spcBef>
                <a:spcPts val="900"/>
              </a:spcBef>
            </a:pPr>
            <a:r>
              <a:rPr lang="en-IN" b="1" u="sng" dirty="0">
                <a:latin typeface="Times New Roman" panose="02020603050405020304" pitchFamily="18" charset="0"/>
                <a:cs typeface="Times New Roman" panose="02020603050405020304" pitchFamily="18" charset="0"/>
              </a:rPr>
              <a:t>Note :</a:t>
            </a:r>
          </a:p>
          <a:p>
            <a:pPr marL="285750" indent="-285750" algn="just">
              <a:lnSpc>
                <a:spcPct val="100000"/>
              </a:lnSpc>
              <a:spcBef>
                <a:spcPts val="900"/>
              </a:spcBef>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 </a:t>
            </a:r>
            <a:r>
              <a:rPr lang="en-IN" sz="1900" b="1" dirty="0">
                <a:latin typeface="Times New Roman" panose="02020603050405020304" pitchFamily="18" charset="0"/>
                <a:cs typeface="Times New Roman" panose="02020603050405020304" pitchFamily="18" charset="0"/>
              </a:rPr>
              <a:t>Symmetric </a:t>
            </a:r>
            <a:r>
              <a:rPr lang="en-IN" sz="1900" dirty="0">
                <a:latin typeface="Times New Roman" panose="02020603050405020304" pitchFamily="18" charset="0"/>
                <a:cs typeface="Times New Roman" panose="02020603050405020304" pitchFamily="18" charset="0"/>
              </a:rPr>
              <a:t>cryptography based on </a:t>
            </a:r>
            <a:r>
              <a:rPr lang="en-IN" sz="1900" b="1" dirty="0">
                <a:latin typeface="Times New Roman" panose="02020603050405020304" pitchFamily="18" charset="0"/>
                <a:cs typeface="Times New Roman" panose="02020603050405020304" pitchFamily="18" charset="0"/>
              </a:rPr>
              <a:t>transformation</a:t>
            </a:r>
            <a:r>
              <a:rPr lang="en-IN" sz="1900" dirty="0">
                <a:latin typeface="Times New Roman" panose="02020603050405020304" pitchFamily="18" charset="0"/>
                <a:cs typeface="Times New Roman" panose="02020603050405020304" pitchFamily="18" charset="0"/>
              </a:rPr>
              <a:t>s</a:t>
            </a:r>
          </a:p>
          <a:p>
            <a:pPr marL="285750" indent="-285750" algn="just">
              <a:lnSpc>
                <a:spcPct val="100000"/>
              </a:lnSpc>
              <a:spcBef>
                <a:spcPts val="900"/>
              </a:spcBef>
              <a:buFont typeface="Wingdings" panose="05000000000000000000" pitchFamily="2" charset="2"/>
              <a:buChar char="q"/>
            </a:pPr>
            <a:r>
              <a:rPr lang="en-IN" sz="1900" b="1" dirty="0">
                <a:latin typeface="Times New Roman" panose="02020603050405020304" pitchFamily="18" charset="0"/>
                <a:cs typeface="Times New Roman" panose="02020603050405020304" pitchFamily="18" charset="0"/>
              </a:rPr>
              <a:t>Asymmetri</a:t>
            </a:r>
            <a:r>
              <a:rPr lang="en-IN" sz="1900" dirty="0">
                <a:latin typeface="Times New Roman" panose="02020603050405020304" pitchFamily="18" charset="0"/>
                <a:cs typeface="Times New Roman" panose="02020603050405020304" pitchFamily="18" charset="0"/>
              </a:rPr>
              <a:t>c based on </a:t>
            </a:r>
            <a:r>
              <a:rPr lang="en-IN" sz="1900" b="1" dirty="0">
                <a:latin typeface="Times New Roman" panose="02020603050405020304" pitchFamily="18" charset="0"/>
                <a:cs typeface="Times New Roman" panose="02020603050405020304" pitchFamily="18" charset="0"/>
              </a:rPr>
              <a:t>mathematical functions</a:t>
            </a:r>
          </a:p>
          <a:p>
            <a:pPr algn="just">
              <a:lnSpc>
                <a:spcPct val="100000"/>
              </a:lnSpc>
              <a:spcBef>
                <a:spcPts val="900"/>
              </a:spcBef>
              <a:buNone/>
            </a:pPr>
            <a:r>
              <a:rPr lang="en-IN" sz="1900" b="1" dirty="0">
                <a:latin typeface="Times New Roman" panose="02020603050405020304" pitchFamily="18" charset="0"/>
                <a:cs typeface="Times New Roman" panose="02020603050405020304" pitchFamily="18" charset="0"/>
              </a:rPr>
              <a:t>        →  </a:t>
            </a:r>
            <a:r>
              <a:rPr lang="en-IN" sz="1900" dirty="0">
                <a:latin typeface="Times New Roman" panose="02020603050405020304" pitchFamily="18" charset="0"/>
                <a:cs typeface="Times New Roman" panose="02020603050405020304" pitchFamily="18" charset="0"/>
              </a:rPr>
              <a:t>Asymmetric much more compute intensive</a:t>
            </a:r>
          </a:p>
          <a:p>
            <a:pPr algn="just">
              <a:lnSpc>
                <a:spcPct val="100000"/>
              </a:lnSpc>
              <a:spcBef>
                <a:spcPts val="900"/>
              </a:spcBef>
              <a:buNone/>
            </a:pPr>
            <a:r>
              <a:rPr lang="en-IN" sz="1900" b="1" dirty="0">
                <a:latin typeface="Times New Roman" panose="02020603050405020304" pitchFamily="18" charset="0"/>
                <a:cs typeface="Times New Roman" panose="02020603050405020304" pitchFamily="18" charset="0"/>
              </a:rPr>
              <a:t>        → </a:t>
            </a:r>
            <a:r>
              <a:rPr lang="en-IN" sz="1900" dirty="0">
                <a:latin typeface="Times New Roman" panose="02020603050405020304" pitchFamily="18" charset="0"/>
                <a:cs typeface="Times New Roman" panose="02020603050405020304" pitchFamily="18" charset="0"/>
              </a:rPr>
              <a:t>Typically not used for bulk data encryption</a:t>
            </a:r>
          </a:p>
        </p:txBody>
      </p:sp>
      <p:sp>
        <p:nvSpPr>
          <p:cNvPr id="3" name="Title 2">
            <a:extLst>
              <a:ext uri="{FF2B5EF4-FFF2-40B4-BE49-F238E27FC236}">
                <a16:creationId xmlns:a16="http://schemas.microsoft.com/office/drawing/2014/main" id="{3EAC1CE8-0B15-4E41-BE02-90762C56DCB7}"/>
              </a:ext>
            </a:extLst>
          </p:cNvPr>
          <p:cNvSpPr>
            <a:spLocks noGrp="1"/>
          </p:cNvSpPr>
          <p:nvPr>
            <p:ph type="title"/>
          </p:nvPr>
        </p:nvSpPr>
        <p:spPr>
          <a:xfrm>
            <a:off x="145774" y="253514"/>
            <a:ext cx="7082122" cy="479910"/>
          </a:xfrm>
        </p:spPr>
        <p:txBody>
          <a:bodyPr>
            <a:normAutofit/>
          </a:bodyPr>
          <a:lstStyle/>
          <a:p>
            <a:r>
              <a:rPr lang="en-IN" sz="2800" dirty="0">
                <a:latin typeface="Times New Roman" panose="02020603050405020304" pitchFamily="18" charset="0"/>
                <a:cs typeface="Times New Roman" panose="02020603050405020304" pitchFamily="18" charset="0"/>
              </a:rPr>
              <a:t>Cryptography  :</a:t>
            </a:r>
          </a:p>
        </p:txBody>
      </p:sp>
    </p:spTree>
    <p:extLst>
      <p:ext uri="{BB962C8B-B14F-4D97-AF65-F5344CB8AC3E}">
        <p14:creationId xmlns:p14="http://schemas.microsoft.com/office/powerpoint/2010/main" val="41160787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9C200A-260F-4A2F-ADE4-0C42053EDB05}"/>
              </a:ext>
            </a:extLst>
          </p:cNvPr>
          <p:cNvSpPr>
            <a:spLocks noGrp="1"/>
          </p:cNvSpPr>
          <p:nvPr>
            <p:ph idx="1"/>
          </p:nvPr>
        </p:nvSpPr>
        <p:spPr>
          <a:xfrm>
            <a:off x="453325" y="861391"/>
            <a:ext cx="8237348" cy="5315572"/>
          </a:xfrm>
        </p:spPr>
        <p:txBody>
          <a:bodyPr>
            <a:normAutofit/>
          </a:bodyPr>
          <a:lstStyle/>
          <a:p>
            <a:pPr marL="285750" indent="-285750">
              <a:lnSpc>
                <a:spcPct val="100000"/>
              </a:lnSpc>
              <a:spcBef>
                <a:spcPts val="300"/>
              </a:spcBef>
              <a:spcAft>
                <a:spcPts val="300"/>
              </a:spcAft>
              <a:buFont typeface="Wingdings" panose="05000000000000000000" pitchFamily="2" charset="2"/>
              <a:buChar char="q"/>
            </a:pPr>
            <a:r>
              <a:rPr lang="en-US" sz="1900" b="0" i="0" dirty="0">
                <a:solidFill>
                  <a:srgbClr val="000000"/>
                </a:solidFill>
                <a:effectLst/>
                <a:latin typeface="Times New Roman" panose="02020603050405020304" pitchFamily="18" charset="0"/>
                <a:cs typeface="Times New Roman" panose="02020603050405020304" pitchFamily="18" charset="0"/>
              </a:rPr>
              <a:t>Authentication involves verifying the identity of the entity who transmitted a message.</a:t>
            </a:r>
          </a:p>
          <a:p>
            <a:pPr marL="285750" indent="-285750">
              <a:lnSpc>
                <a:spcPct val="100000"/>
              </a:lnSpc>
              <a:spcBef>
                <a:spcPts val="300"/>
              </a:spcBef>
              <a:spcAft>
                <a:spcPts val="3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Constraining set of potential senders of a message</a:t>
            </a:r>
          </a:p>
          <a:p>
            <a:pPr>
              <a:lnSpc>
                <a:spcPct val="100000"/>
              </a:lnSpc>
              <a:spcBef>
                <a:spcPts val="300"/>
              </a:spcBef>
              <a:spcAft>
                <a:spcPts val="300"/>
              </a:spcAft>
              <a:buNone/>
            </a:pPr>
            <a:r>
              <a:rPr lang="en-US" sz="1900" dirty="0">
                <a:latin typeface="Times New Roman" panose="02020603050405020304" pitchFamily="18" charset="0"/>
                <a:cs typeface="Times New Roman" panose="02020603050405020304" pitchFamily="18" charset="0"/>
              </a:rPr>
              <a:t>           →  Complementary to encryption</a:t>
            </a:r>
          </a:p>
          <a:p>
            <a:pPr>
              <a:lnSpc>
                <a:spcPct val="100000"/>
              </a:lnSpc>
              <a:spcBef>
                <a:spcPts val="300"/>
              </a:spcBef>
              <a:spcAft>
                <a:spcPts val="300"/>
              </a:spcAft>
              <a:buNone/>
            </a:pPr>
            <a:r>
              <a:rPr lang="en-US" sz="1900" dirty="0">
                <a:latin typeface="Times New Roman" panose="02020603050405020304" pitchFamily="18" charset="0"/>
                <a:cs typeface="Times New Roman" panose="02020603050405020304" pitchFamily="18" charset="0"/>
              </a:rPr>
              <a:t>           →  Also can prove message unmodified </a:t>
            </a:r>
          </a:p>
          <a:p>
            <a:pPr marL="285750" indent="-285750">
              <a:lnSpc>
                <a:spcPct val="100000"/>
              </a:lnSpc>
              <a:spcBef>
                <a:spcPts val="300"/>
              </a:spcBef>
              <a:spcAft>
                <a:spcPts val="3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Algorithm components</a:t>
            </a:r>
          </a:p>
          <a:p>
            <a:pPr>
              <a:lnSpc>
                <a:spcPct val="100000"/>
              </a:lnSpc>
              <a:spcBef>
                <a:spcPts val="300"/>
              </a:spcBef>
              <a:spcAft>
                <a:spcPts val="300"/>
              </a:spcAft>
              <a:buNone/>
            </a:pPr>
            <a:r>
              <a:rPr lang="en-US" sz="1900" dirty="0">
                <a:latin typeface="Times New Roman" panose="02020603050405020304" pitchFamily="18" charset="0"/>
                <a:cs typeface="Times New Roman" panose="02020603050405020304" pitchFamily="18" charset="0"/>
              </a:rPr>
              <a:t>→ A set K of keys</a:t>
            </a:r>
          </a:p>
          <a:p>
            <a:pPr>
              <a:lnSpc>
                <a:spcPct val="100000"/>
              </a:lnSpc>
              <a:spcBef>
                <a:spcPts val="300"/>
              </a:spcBef>
              <a:spcAft>
                <a:spcPts val="300"/>
              </a:spcAft>
              <a:buNone/>
            </a:pPr>
            <a:r>
              <a:rPr lang="en-US" sz="1900" dirty="0">
                <a:latin typeface="Times New Roman" panose="02020603050405020304" pitchFamily="18" charset="0"/>
                <a:cs typeface="Times New Roman" panose="02020603050405020304" pitchFamily="18" charset="0"/>
              </a:rPr>
              <a:t>→ A set M of messages</a:t>
            </a:r>
          </a:p>
          <a:p>
            <a:pPr>
              <a:lnSpc>
                <a:spcPct val="100000"/>
              </a:lnSpc>
              <a:spcBef>
                <a:spcPts val="300"/>
              </a:spcBef>
              <a:spcAft>
                <a:spcPts val="300"/>
              </a:spcAft>
              <a:buNone/>
            </a:pPr>
            <a:r>
              <a:rPr lang="en-US" sz="1900" dirty="0">
                <a:latin typeface="Times New Roman" panose="02020603050405020304" pitchFamily="18" charset="0"/>
                <a:cs typeface="Times New Roman" panose="02020603050405020304" pitchFamily="18" charset="0"/>
              </a:rPr>
              <a:t>→ A set A of authenticators</a:t>
            </a:r>
          </a:p>
          <a:p>
            <a:pPr>
              <a:lnSpc>
                <a:spcPct val="100000"/>
              </a:lnSpc>
              <a:spcBef>
                <a:spcPts val="300"/>
              </a:spcBef>
              <a:spcAft>
                <a:spcPts val="300"/>
              </a:spcAft>
              <a:buNone/>
            </a:pPr>
            <a:r>
              <a:rPr lang="en-US" sz="1900" dirty="0">
                <a:latin typeface="Times New Roman" panose="02020603050405020304" pitchFamily="18" charset="0"/>
                <a:cs typeface="Times New Roman" panose="02020603050405020304" pitchFamily="18" charset="0"/>
              </a:rPr>
              <a:t>→ A function S : K → (M→ A)  </a:t>
            </a:r>
          </a:p>
          <a:p>
            <a:pPr marL="285750" indent="-285750">
              <a:lnSpc>
                <a:spcPct val="100000"/>
              </a:lnSpc>
              <a:spcBef>
                <a:spcPts val="300"/>
              </a:spcBef>
              <a:spcAft>
                <a:spcPts val="3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 That is, for each k </a:t>
            </a:r>
            <a:r>
              <a:rPr lang="en-IN" sz="1900"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K, </a:t>
            </a:r>
            <a:r>
              <a:rPr lang="en-US" sz="1900" dirty="0" err="1">
                <a:latin typeface="Times New Roman" panose="02020603050405020304" pitchFamily="18" charset="0"/>
                <a:cs typeface="Times New Roman" panose="02020603050405020304" pitchFamily="18" charset="0"/>
              </a:rPr>
              <a:t>Sk</a:t>
            </a:r>
            <a:r>
              <a:rPr lang="en-US" sz="1900" dirty="0">
                <a:latin typeface="Times New Roman" panose="02020603050405020304" pitchFamily="18" charset="0"/>
                <a:cs typeface="Times New Roman" panose="02020603050405020304" pitchFamily="18" charset="0"/>
              </a:rPr>
              <a:t> is a function for generating authenticators from messages</a:t>
            </a:r>
          </a:p>
          <a:p>
            <a:pPr marL="285750" indent="-285750">
              <a:lnSpc>
                <a:spcPct val="100000"/>
              </a:lnSpc>
              <a:spcBef>
                <a:spcPts val="300"/>
              </a:spcBef>
              <a:spcAft>
                <a:spcPts val="300"/>
              </a:spcAft>
              <a:buFont typeface="Wingdings" panose="05000000000000000000" pitchFamily="2" charset="2"/>
              <a:buChar char="q"/>
            </a:pPr>
            <a:r>
              <a:rPr lang="en-US" sz="1900" dirty="0">
                <a:latin typeface="Times New Roman" panose="02020603050405020304" pitchFamily="18" charset="0"/>
                <a:cs typeface="Times New Roman" panose="02020603050405020304" pitchFamily="18" charset="0"/>
              </a:rPr>
              <a:t>Both S and </a:t>
            </a:r>
            <a:r>
              <a:rPr lang="en-US" sz="1900" dirty="0" err="1">
                <a:latin typeface="Times New Roman" panose="02020603050405020304" pitchFamily="18" charset="0"/>
                <a:cs typeface="Times New Roman" panose="02020603050405020304" pitchFamily="18" charset="0"/>
              </a:rPr>
              <a:t>Sk</a:t>
            </a:r>
            <a:r>
              <a:rPr lang="en-US" sz="1900" dirty="0">
                <a:latin typeface="Times New Roman" panose="02020603050405020304" pitchFamily="18" charset="0"/>
                <a:cs typeface="Times New Roman" panose="02020603050405020304" pitchFamily="18" charset="0"/>
              </a:rPr>
              <a:t> for any k should be efficiently computable functions</a:t>
            </a:r>
            <a:endParaRPr lang="en-IN"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50DBDC5-57A9-409D-A021-DA7556495289}"/>
              </a:ext>
            </a:extLst>
          </p:cNvPr>
          <p:cNvSpPr>
            <a:spLocks noGrp="1"/>
          </p:cNvSpPr>
          <p:nvPr>
            <p:ph type="title"/>
          </p:nvPr>
        </p:nvSpPr>
        <p:spPr>
          <a:xfrm>
            <a:off x="198783" y="253514"/>
            <a:ext cx="7029113" cy="479910"/>
          </a:xfrm>
        </p:spPr>
        <p:txBody>
          <a:bodyPr>
            <a:normAutofit/>
          </a:bodyPr>
          <a:lstStyle/>
          <a:p>
            <a:r>
              <a:rPr lang="en-IN" sz="2800" dirty="0">
                <a:latin typeface="Times New Roman" panose="02020603050405020304" pitchFamily="18" charset="0"/>
                <a:cs typeface="Times New Roman" panose="02020603050405020304" pitchFamily="18" charset="0"/>
              </a:rPr>
              <a:t>Authentication :</a:t>
            </a:r>
          </a:p>
        </p:txBody>
      </p:sp>
    </p:spTree>
    <p:extLst>
      <p:ext uri="{BB962C8B-B14F-4D97-AF65-F5344CB8AC3E}">
        <p14:creationId xmlns:p14="http://schemas.microsoft.com/office/powerpoint/2010/main" val="280420937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841BB1-C254-48EC-BF89-5BF59DEFA96D}"/>
              </a:ext>
            </a:extLst>
          </p:cNvPr>
          <p:cNvSpPr>
            <a:spLocks noGrp="1"/>
          </p:cNvSpPr>
          <p:nvPr>
            <p:ph idx="1"/>
          </p:nvPr>
        </p:nvSpPr>
        <p:spPr>
          <a:xfrm>
            <a:off x="453325" y="940904"/>
            <a:ext cx="8237348" cy="5236059"/>
          </a:xfrm>
        </p:spPr>
        <p:txBody>
          <a:bodyPr>
            <a:normAutofit/>
          </a:bodyPr>
          <a:lstStyle/>
          <a:p>
            <a:pPr marL="285750" indent="-285750" algn="just">
              <a:lnSpc>
                <a:spcPct val="100000"/>
              </a:lnSpc>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 function V : K → (M × A→ {true, false}). That is, for each k </a:t>
            </a:r>
            <a:r>
              <a:rPr lang="en-IN" sz="18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K, </a:t>
            </a:r>
            <a:r>
              <a:rPr lang="en-US" dirty="0" err="1">
                <a:latin typeface="Times New Roman" panose="02020603050405020304" pitchFamily="18" charset="0"/>
                <a:cs typeface="Times New Roman" panose="02020603050405020304" pitchFamily="18" charset="0"/>
              </a:rPr>
              <a:t>Vk</a:t>
            </a:r>
            <a:r>
              <a:rPr lang="en-US" dirty="0">
                <a:latin typeface="Times New Roman" panose="02020603050405020304" pitchFamily="18" charset="0"/>
                <a:cs typeface="Times New Roman" panose="02020603050405020304" pitchFamily="18" charset="0"/>
              </a:rPr>
              <a:t> is a function for verifying authenticators on messages </a:t>
            </a:r>
          </a:p>
          <a:p>
            <a:pPr algn="just">
              <a:lnSpc>
                <a:spcPct val="100000"/>
              </a:lnSpc>
              <a:spcAft>
                <a:spcPts val="700"/>
              </a:spcAft>
              <a:buNone/>
            </a:pPr>
            <a:r>
              <a:rPr lang="en-US" sz="1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Both V and </a:t>
            </a:r>
            <a:r>
              <a:rPr lang="en-US" dirty="0" err="1">
                <a:latin typeface="Times New Roman" panose="02020603050405020304" pitchFamily="18" charset="0"/>
                <a:cs typeface="Times New Roman" panose="02020603050405020304" pitchFamily="18" charset="0"/>
              </a:rPr>
              <a:t>Vk</a:t>
            </a:r>
            <a:r>
              <a:rPr lang="en-US" dirty="0">
                <a:latin typeface="Times New Roman" panose="02020603050405020304" pitchFamily="18" charset="0"/>
                <a:cs typeface="Times New Roman" panose="02020603050405020304" pitchFamily="18" charset="0"/>
              </a:rPr>
              <a:t> for any k should be efficiently computable functions</a:t>
            </a:r>
          </a:p>
          <a:p>
            <a:pPr marL="285750" indent="-285750" algn="just">
              <a:lnSpc>
                <a:spcPct val="100000"/>
              </a:lnSpc>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For a message m, a computer can generate an authenticator a </a:t>
            </a:r>
            <a:r>
              <a:rPr lang="en-IN" sz="18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 such that </a:t>
            </a:r>
            <a:r>
              <a:rPr lang="en-US" dirty="0" err="1">
                <a:latin typeface="Times New Roman" panose="02020603050405020304" pitchFamily="18" charset="0"/>
                <a:cs typeface="Times New Roman" panose="02020603050405020304" pitchFamily="18" charset="0"/>
              </a:rPr>
              <a:t>Vk</a:t>
            </a:r>
            <a:r>
              <a:rPr lang="en-US" dirty="0">
                <a:latin typeface="Times New Roman" panose="02020603050405020304" pitchFamily="18" charset="0"/>
                <a:cs typeface="Times New Roman" panose="02020603050405020304" pitchFamily="18" charset="0"/>
              </a:rPr>
              <a:t> (m, a) = true only if it possesses k</a:t>
            </a:r>
          </a:p>
          <a:p>
            <a:pPr marL="285750" indent="-285750" algn="just">
              <a:lnSpc>
                <a:spcPct val="100000"/>
              </a:lnSpc>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Thus, computer holding k can generate authenticators on messages so that any other computer possessing k can verify them.</a:t>
            </a:r>
          </a:p>
          <a:p>
            <a:pPr marL="285750" indent="-285750" algn="just">
              <a:lnSpc>
                <a:spcPct val="100000"/>
              </a:lnSpc>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Computer not holding k cannot generate authenticators on messages that can be verified using </a:t>
            </a:r>
            <a:r>
              <a:rPr lang="en-US" dirty="0" err="1">
                <a:latin typeface="Times New Roman" panose="02020603050405020304" pitchFamily="18" charset="0"/>
                <a:cs typeface="Times New Roman" panose="02020603050405020304" pitchFamily="18" charset="0"/>
              </a:rPr>
              <a:t>Vk</a:t>
            </a:r>
            <a:r>
              <a:rPr lang="en-US" dirty="0">
                <a:latin typeface="Times New Roman" panose="02020603050405020304" pitchFamily="18" charset="0"/>
                <a:cs typeface="Times New Roman" panose="02020603050405020304" pitchFamily="18" charset="0"/>
              </a:rPr>
              <a:t> </a:t>
            </a:r>
          </a:p>
          <a:p>
            <a:pPr marL="285750" indent="-285750" algn="just">
              <a:lnSpc>
                <a:spcPct val="100000"/>
              </a:lnSpc>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Since authenticators are generally exposed (for example, they are sent on the network with the messages themselves), it must not be feasible to derive k from the authenticators</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51472182-8EB5-4F0F-8D2C-921774BD4DD4}"/>
              </a:ext>
            </a:extLst>
          </p:cNvPr>
          <p:cNvSpPr>
            <a:spLocks noGrp="1"/>
          </p:cNvSpPr>
          <p:nvPr>
            <p:ph type="title"/>
          </p:nvPr>
        </p:nvSpPr>
        <p:spPr>
          <a:xfrm>
            <a:off x="185530" y="253514"/>
            <a:ext cx="7042366" cy="479910"/>
          </a:xfrm>
        </p:spPr>
        <p:txBody>
          <a:bodyPr>
            <a:normAutofit/>
          </a:bodyPr>
          <a:lstStyle/>
          <a:p>
            <a:r>
              <a:rPr lang="en-IN" sz="2800" dirty="0">
                <a:latin typeface="Times New Roman" panose="02020603050405020304" pitchFamily="18" charset="0"/>
                <a:cs typeface="Times New Roman" panose="02020603050405020304" pitchFamily="18" charset="0"/>
              </a:rPr>
              <a:t>Authentication :</a:t>
            </a:r>
            <a:endParaRPr lang="en-IN" sz="2800" dirty="0"/>
          </a:p>
        </p:txBody>
      </p:sp>
    </p:spTree>
    <p:extLst>
      <p:ext uri="{BB962C8B-B14F-4D97-AF65-F5344CB8AC3E}">
        <p14:creationId xmlns:p14="http://schemas.microsoft.com/office/powerpoint/2010/main" val="11139653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73A137-A4CA-4D2F-8B06-78503AC025E9}"/>
              </a:ext>
            </a:extLst>
          </p:cNvPr>
          <p:cNvSpPr>
            <a:spLocks noGrp="1"/>
          </p:cNvSpPr>
          <p:nvPr>
            <p:ph idx="1"/>
          </p:nvPr>
        </p:nvSpPr>
        <p:spPr>
          <a:xfrm>
            <a:off x="453325" y="914400"/>
            <a:ext cx="8237348" cy="5262563"/>
          </a:xfrm>
        </p:spPr>
        <p:txBody>
          <a:bodyPr/>
          <a:lstStyle/>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Practically, if </a:t>
            </a:r>
            <a:r>
              <a:rPr lang="en-US" dirty="0" err="1">
                <a:latin typeface="Times New Roman" panose="02020603050405020304" pitchFamily="18" charset="0"/>
                <a:cs typeface="Times New Roman" panose="02020603050405020304" pitchFamily="18" charset="0"/>
              </a:rPr>
              <a:t>Vk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a:t>
            </a:r>
            <a:r>
              <a:rPr lang="en-US" dirty="0">
                <a:latin typeface="Times New Roman" panose="02020603050405020304" pitchFamily="18" charset="0"/>
                <a:cs typeface="Times New Roman" panose="02020603050405020304" pitchFamily="18" charset="0"/>
              </a:rPr>
              <a:t>) = true then we know m has not been modified and that send of message has k .</a:t>
            </a:r>
          </a:p>
          <a:p>
            <a:pPr algn="just">
              <a:lnSpc>
                <a:spcPct val="100000"/>
              </a:lnSpc>
              <a:spcBef>
                <a:spcPts val="900"/>
              </a:spcBef>
            </a:pPr>
            <a:r>
              <a:rPr lang="en-US" sz="1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 If we share k with only one entity, know where the message originated </a:t>
            </a:r>
          </a:p>
          <a:p>
            <a:pPr algn="just">
              <a:lnSpc>
                <a:spcPct val="100000"/>
              </a:lnSpc>
              <a:spcBef>
                <a:spcPts val="900"/>
              </a:spcBef>
            </a:pPr>
            <a:r>
              <a:rPr lang="en-IN" b="1" u="sng" dirty="0">
                <a:latin typeface="Times New Roman" panose="02020603050405020304" pitchFamily="18" charset="0"/>
                <a:cs typeface="Times New Roman" panose="02020603050405020304" pitchFamily="18" charset="0"/>
              </a:rPr>
              <a:t>Authentication – Hash Functions</a:t>
            </a:r>
            <a:r>
              <a:rPr lang="en-US" b="1" u="sng" dirty="0">
                <a:latin typeface="Times New Roman" panose="02020603050405020304" pitchFamily="18" charset="0"/>
                <a:cs typeface="Times New Roman" panose="02020603050405020304" pitchFamily="18" charset="0"/>
              </a:rPr>
              <a:t> :</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Basis of authentication </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Creates small, fixed-size block of data message digest (hash value) from m </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Hash Function H must be collision resistant on m </a:t>
            </a:r>
          </a:p>
          <a:p>
            <a:pPr algn="just">
              <a:lnSpc>
                <a:spcPct val="100000"/>
              </a:lnSpc>
              <a:spcBef>
                <a:spcPts val="900"/>
              </a:spcBef>
              <a:buNone/>
            </a:pPr>
            <a:r>
              <a:rPr lang="en-US" sz="1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 Must be infeasible to find an m’ ≠ m such that H(m) = H(m’) </a:t>
            </a:r>
          </a:p>
          <a:p>
            <a:pPr marL="285750" indent="-285750" algn="just">
              <a:lnSpc>
                <a:spcPct val="100000"/>
              </a:lnSpc>
              <a:spcBef>
                <a:spcPts val="900"/>
              </a:spcBef>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If H(m) = H(m ’), then m = m ’</a:t>
            </a:r>
          </a:p>
          <a:p>
            <a:pPr algn="just">
              <a:lnSpc>
                <a:spcPct val="100000"/>
              </a:lnSpc>
              <a:spcBef>
                <a:spcPts val="900"/>
              </a:spcBef>
              <a:buNone/>
            </a:pPr>
            <a:r>
              <a:rPr lang="en-US" sz="1800"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 The message has not been modified</a:t>
            </a:r>
            <a:endParaRPr lang="en-IN" b="1" u="sng"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8C8D60EA-7312-44DA-A2AA-2E54E8ACDC06}"/>
              </a:ext>
            </a:extLst>
          </p:cNvPr>
          <p:cNvSpPr>
            <a:spLocks noGrp="1"/>
          </p:cNvSpPr>
          <p:nvPr>
            <p:ph type="title"/>
          </p:nvPr>
        </p:nvSpPr>
        <p:spPr>
          <a:xfrm>
            <a:off x="106017" y="253514"/>
            <a:ext cx="7121879" cy="479910"/>
          </a:xfrm>
        </p:spPr>
        <p:txBody>
          <a:bodyPr/>
          <a:lstStyle/>
          <a:p>
            <a:r>
              <a:rPr lang="en-IN" sz="2400" dirty="0">
                <a:latin typeface="Times New Roman" panose="02020603050405020304" pitchFamily="18" charset="0"/>
                <a:cs typeface="Times New Roman" panose="02020603050405020304" pitchFamily="18" charset="0"/>
              </a:rPr>
              <a:t>Authentication :</a:t>
            </a:r>
            <a:endParaRPr lang="en-IN" dirty="0"/>
          </a:p>
        </p:txBody>
      </p:sp>
    </p:spTree>
    <p:extLst>
      <p:ext uri="{BB962C8B-B14F-4D97-AF65-F5344CB8AC3E}">
        <p14:creationId xmlns:p14="http://schemas.microsoft.com/office/powerpoint/2010/main" val="16080181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3E8791-DFDA-4590-8635-2EA0528F07B9}"/>
              </a:ext>
            </a:extLst>
          </p:cNvPr>
          <p:cNvSpPr>
            <a:spLocks noGrp="1"/>
          </p:cNvSpPr>
          <p:nvPr>
            <p:ph idx="1"/>
          </p:nvPr>
        </p:nvSpPr>
        <p:spPr>
          <a:xfrm>
            <a:off x="453325" y="901148"/>
            <a:ext cx="8237348" cy="5275815"/>
          </a:xfrm>
        </p:spPr>
        <p:txBody>
          <a:bodyPr>
            <a:noAutofit/>
          </a:bodyPr>
          <a:lstStyle/>
          <a:p>
            <a:pPr marL="285750" indent="-285750" algn="just">
              <a:lnSpc>
                <a:spcPct val="1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Common message-digest functions include MD5, which produces a 128-bit hash, and SHA-1, which outputs a 160-bit hash</a:t>
            </a:r>
          </a:p>
          <a:p>
            <a:pPr marL="285750" indent="-285750" algn="just">
              <a:lnSpc>
                <a:spcPct val="1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Not useful as authenticators</a:t>
            </a:r>
          </a:p>
          <a:p>
            <a:pPr algn="just">
              <a:lnSpc>
                <a:spcPct val="100000"/>
              </a:lnSpc>
              <a:buNone/>
            </a:pPr>
            <a:r>
              <a:rPr lang="en-US" dirty="0">
                <a:latin typeface="Times New Roman" panose="02020603050405020304" pitchFamily="18" charset="0"/>
                <a:cs typeface="Times New Roman" panose="02020603050405020304" pitchFamily="18" charset="0"/>
              </a:rPr>
              <a:t>      → For example H(m) can be sent with a message</a:t>
            </a:r>
          </a:p>
          <a:p>
            <a:pPr algn="just">
              <a:lnSpc>
                <a:spcPct val="100000"/>
              </a:lnSpc>
              <a:buNone/>
            </a:pPr>
            <a:r>
              <a:rPr lang="en-US" dirty="0">
                <a:latin typeface="Times New Roman" panose="02020603050405020304" pitchFamily="18" charset="0"/>
                <a:cs typeface="Times New Roman" panose="02020603050405020304" pitchFamily="18" charset="0"/>
              </a:rPr>
              <a:t>                     → But if H is known someone could modify m to m’ and recompute H(m’) and modification not detected </a:t>
            </a:r>
          </a:p>
          <a:p>
            <a:pPr algn="just">
              <a:lnSpc>
                <a:spcPct val="100000"/>
              </a:lnSpc>
              <a:buNone/>
            </a:pPr>
            <a:r>
              <a:rPr lang="en-US" dirty="0">
                <a:latin typeface="Times New Roman" panose="02020603050405020304" pitchFamily="18" charset="0"/>
                <a:cs typeface="Times New Roman" panose="02020603050405020304" pitchFamily="18" charset="0"/>
              </a:rPr>
              <a:t>                    → So must authenticate H(m)</a:t>
            </a:r>
          </a:p>
          <a:p>
            <a:pPr algn="just">
              <a:lnSpc>
                <a:spcPct val="100000"/>
              </a:lnSpc>
              <a:buNone/>
            </a:pPr>
            <a:r>
              <a:rPr lang="en-US" b="1" dirty="0">
                <a:latin typeface="Times New Roman" panose="02020603050405020304" pitchFamily="18" charset="0"/>
                <a:cs typeface="Times New Roman" panose="02020603050405020304" pitchFamily="18" charset="0"/>
              </a:rPr>
              <a:t>Why authentication if a subset of encryption? </a:t>
            </a:r>
          </a:p>
          <a:p>
            <a:pPr marL="285750" indent="-285750" algn="just">
              <a:lnSpc>
                <a:spcPct val="1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Fewer computations (except for RSA digital signatures)</a:t>
            </a:r>
          </a:p>
          <a:p>
            <a:pPr marL="285750" indent="-285750" algn="just">
              <a:lnSpc>
                <a:spcPct val="1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Authenticator usually shorter than message</a:t>
            </a:r>
          </a:p>
          <a:p>
            <a:pPr marL="285750" indent="-285750" algn="just">
              <a:lnSpc>
                <a:spcPct val="1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Sometimes want authentication but not confidentiality</a:t>
            </a:r>
          </a:p>
          <a:p>
            <a:pPr marL="285750" indent="-285750" algn="just">
              <a:lnSpc>
                <a:spcPct val="1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Can be basis for non-repudiation</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FA939FE3-60C5-4CCE-A7C3-0563ACC902E5}"/>
              </a:ext>
            </a:extLst>
          </p:cNvPr>
          <p:cNvSpPr>
            <a:spLocks noGrp="1"/>
          </p:cNvSpPr>
          <p:nvPr>
            <p:ph type="title"/>
          </p:nvPr>
        </p:nvSpPr>
        <p:spPr>
          <a:xfrm>
            <a:off x="159026" y="253514"/>
            <a:ext cx="7068870" cy="479910"/>
          </a:xfrm>
        </p:spPr>
        <p:txBody>
          <a:bodyPr>
            <a:normAutofit/>
          </a:bodyPr>
          <a:lstStyle/>
          <a:p>
            <a:r>
              <a:rPr lang="en-IN" sz="2800" dirty="0">
                <a:latin typeface="Times New Roman" panose="02020603050405020304" pitchFamily="18" charset="0"/>
                <a:cs typeface="Times New Roman" panose="02020603050405020304" pitchFamily="18" charset="0"/>
              </a:rPr>
              <a:t>Authentication :</a:t>
            </a:r>
            <a:endParaRPr lang="en-IN" sz="2800" dirty="0"/>
          </a:p>
        </p:txBody>
      </p:sp>
    </p:spTree>
    <p:extLst>
      <p:ext uri="{BB962C8B-B14F-4D97-AF65-F5344CB8AC3E}">
        <p14:creationId xmlns:p14="http://schemas.microsoft.com/office/powerpoint/2010/main" val="5021111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1B4DAF-EB68-45E1-B5C0-F05CE80DBDF5}"/>
              </a:ext>
            </a:extLst>
          </p:cNvPr>
          <p:cNvSpPr>
            <a:spLocks noGrp="1"/>
          </p:cNvSpPr>
          <p:nvPr>
            <p:ph idx="1"/>
          </p:nvPr>
        </p:nvSpPr>
        <p:spPr>
          <a:xfrm>
            <a:off x="453325" y="861392"/>
            <a:ext cx="8237348" cy="5315572"/>
          </a:xfrm>
        </p:spPr>
        <p:txBody>
          <a:bodyPr>
            <a:noAutofit/>
          </a:bodyPr>
          <a:lstStyle/>
          <a:p>
            <a:pPr algn="just">
              <a:spcBef>
                <a:spcPts val="300"/>
              </a:spcBef>
              <a:spcAft>
                <a:spcPts val="300"/>
              </a:spcAft>
              <a:buNone/>
            </a:pPr>
            <a:r>
              <a:rPr lang="en-IN" b="1" u="sng" dirty="0">
                <a:latin typeface="Times New Roman" panose="02020603050405020304" pitchFamily="18" charset="0"/>
                <a:cs typeface="Times New Roman" panose="02020603050405020304" pitchFamily="18" charset="0"/>
              </a:rPr>
              <a:t>Key Distribution:</a:t>
            </a:r>
          </a:p>
          <a:p>
            <a:pPr marL="342900" indent="-34290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Delivery of symmetric key is huge challenge</a:t>
            </a:r>
          </a:p>
          <a:p>
            <a:pPr algn="just">
              <a:spcBef>
                <a:spcPts val="300"/>
              </a:spcBef>
              <a:spcAft>
                <a:spcPts val="300"/>
              </a:spcAft>
              <a:buNone/>
            </a:pPr>
            <a:r>
              <a:rPr lang="en-US" dirty="0">
                <a:latin typeface="Times New Roman" panose="02020603050405020304" pitchFamily="18" charset="0"/>
                <a:cs typeface="Times New Roman" panose="02020603050405020304" pitchFamily="18" charset="0"/>
              </a:rPr>
              <a:t>            →  Sometimes done out-of-band</a:t>
            </a:r>
          </a:p>
          <a:p>
            <a:pPr marL="342900" indent="-34290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Asymmetric keys can proliferate – stored on key ring </a:t>
            </a:r>
          </a:p>
          <a:p>
            <a:pPr algn="just">
              <a:spcBef>
                <a:spcPts val="300"/>
              </a:spcBef>
              <a:spcAft>
                <a:spcPts val="300"/>
              </a:spcAft>
              <a:buNone/>
            </a:pPr>
            <a:r>
              <a:rPr lang="en-US" dirty="0">
                <a:latin typeface="Times New Roman" panose="02020603050405020304" pitchFamily="18" charset="0"/>
                <a:cs typeface="Times New Roman" panose="02020603050405020304" pitchFamily="18" charset="0"/>
              </a:rPr>
              <a:t>             →  Even asymmetric key distribution needs care – man-in-the-middle attack</a:t>
            </a:r>
            <a:endParaRPr lang="en-IN" dirty="0">
              <a:latin typeface="Times New Roman" panose="02020603050405020304" pitchFamily="18" charset="0"/>
              <a:cs typeface="Times New Roman" panose="02020603050405020304" pitchFamily="18" charset="0"/>
            </a:endParaRPr>
          </a:p>
          <a:p>
            <a:pPr algn="just">
              <a:spcBef>
                <a:spcPts val="300"/>
              </a:spcBef>
              <a:spcAft>
                <a:spcPts val="300"/>
              </a:spcAft>
              <a:buNone/>
            </a:pPr>
            <a:r>
              <a:rPr lang="en-IN" b="1" u="sng" dirty="0">
                <a:latin typeface="Times New Roman" panose="02020603050405020304" pitchFamily="18" charset="0"/>
                <a:cs typeface="Times New Roman" panose="02020603050405020304" pitchFamily="18" charset="0"/>
              </a:rPr>
              <a:t>Digital Certificates :</a:t>
            </a:r>
            <a:endParaRPr lang="en-US" b="1" u="sng" dirty="0">
              <a:latin typeface="Times New Roman" panose="02020603050405020304" pitchFamily="18" charset="0"/>
              <a:cs typeface="Times New Roman" panose="02020603050405020304" pitchFamily="18" charset="0"/>
            </a:endParaRPr>
          </a:p>
          <a:p>
            <a:pPr marL="285750" indent="-28575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Proof of who or what owns a public key </a:t>
            </a:r>
          </a:p>
          <a:p>
            <a:pPr marL="285750" indent="-28575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Public key digitally signed a trusted party</a:t>
            </a:r>
          </a:p>
          <a:p>
            <a:pPr marL="285750" indent="-28575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Trusted party receives proof of identification from entity and certifies that public key belongs to entity</a:t>
            </a:r>
          </a:p>
          <a:p>
            <a:pPr marL="285750" indent="-28575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Certificate authority are trusted party – their public keys included with web browser distributions</a:t>
            </a:r>
          </a:p>
          <a:p>
            <a:pPr algn="just">
              <a:spcBef>
                <a:spcPts val="300"/>
              </a:spcBef>
              <a:spcAft>
                <a:spcPts val="300"/>
              </a:spcAft>
              <a:buNone/>
            </a:pPr>
            <a:r>
              <a:rPr lang="en-US" dirty="0">
                <a:latin typeface="Times New Roman" panose="02020603050405020304" pitchFamily="18" charset="0"/>
                <a:cs typeface="Times New Roman" panose="02020603050405020304" pitchFamily="18" charset="0"/>
              </a:rPr>
              <a:t>       →  They vouch for other authorities via digitally signing their keys, and so on</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8B38DDCE-7C32-460E-822E-5C46E68BBD76}"/>
              </a:ext>
            </a:extLst>
          </p:cNvPr>
          <p:cNvSpPr>
            <a:spLocks noGrp="1"/>
          </p:cNvSpPr>
          <p:nvPr>
            <p:ph type="title"/>
          </p:nvPr>
        </p:nvSpPr>
        <p:spPr>
          <a:xfrm>
            <a:off x="92765" y="253514"/>
            <a:ext cx="7135131" cy="479910"/>
          </a:xfrm>
        </p:spPr>
        <p:txBody>
          <a:bodyPr>
            <a:normAutofit/>
          </a:bodyPr>
          <a:lstStyle/>
          <a:p>
            <a:r>
              <a:rPr lang="en-IN" sz="2800" dirty="0">
                <a:latin typeface="Times New Roman" panose="02020603050405020304" pitchFamily="18" charset="0"/>
                <a:cs typeface="Times New Roman" panose="02020603050405020304" pitchFamily="18" charset="0"/>
              </a:rPr>
              <a:t>Authentication :</a:t>
            </a:r>
          </a:p>
        </p:txBody>
      </p:sp>
    </p:spTree>
    <p:extLst>
      <p:ext uri="{BB962C8B-B14F-4D97-AF65-F5344CB8AC3E}">
        <p14:creationId xmlns:p14="http://schemas.microsoft.com/office/powerpoint/2010/main" val="17375999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397CFCC-314D-4C57-9A44-34BB1413EDC5}"/>
              </a:ext>
            </a:extLst>
          </p:cNvPr>
          <p:cNvSpPr>
            <a:spLocks noGrp="1"/>
          </p:cNvSpPr>
          <p:nvPr>
            <p:ph type="title"/>
          </p:nvPr>
        </p:nvSpPr>
        <p:spPr>
          <a:xfrm>
            <a:off x="-1" y="253514"/>
            <a:ext cx="8786192" cy="479910"/>
          </a:xfrm>
        </p:spPr>
        <p:txBody>
          <a:bodyPr>
            <a:noAutofit/>
          </a:bodyPr>
          <a:lstStyle/>
          <a:p>
            <a:r>
              <a:rPr lang="en-US" sz="2400" b="1" i="0" dirty="0">
                <a:effectLst/>
                <a:latin typeface="Times New Roman" panose="02020603050405020304" pitchFamily="18" charset="0"/>
              </a:rPr>
              <a:t>A man-in-the-middle attack on asymmetric cryptography:</a:t>
            </a:r>
            <a:endParaRPr lang="en-IN" sz="2400" dirty="0"/>
          </a:p>
        </p:txBody>
      </p:sp>
      <p:pic>
        <p:nvPicPr>
          <p:cNvPr id="4098" name="Picture 2">
            <a:extLst>
              <a:ext uri="{FF2B5EF4-FFF2-40B4-BE49-F238E27FC236}">
                <a16:creationId xmlns:a16="http://schemas.microsoft.com/office/drawing/2014/main" id="{1A020CFD-D2B5-4DB9-B90D-CEB90600CBC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6835" y="874642"/>
            <a:ext cx="7938052" cy="5729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17331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C50119-D872-49B9-B9D3-DFE4AB16E6DA}"/>
              </a:ext>
            </a:extLst>
          </p:cNvPr>
          <p:cNvSpPr>
            <a:spLocks noGrp="1"/>
          </p:cNvSpPr>
          <p:nvPr>
            <p:ph idx="1"/>
          </p:nvPr>
        </p:nvSpPr>
        <p:spPr>
          <a:xfrm>
            <a:off x="453325" y="834887"/>
            <a:ext cx="5589666" cy="5342076"/>
          </a:xfrm>
        </p:spPr>
        <p:txBody>
          <a:bodyPr/>
          <a:lstStyle/>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Can be done at various layers of ISO Reference Model </a:t>
            </a:r>
          </a:p>
          <a:p>
            <a:pPr algn="just">
              <a:lnSpc>
                <a:spcPct val="100000"/>
              </a:lnSpc>
              <a:spcBef>
                <a:spcPts val="700"/>
              </a:spcBef>
              <a:spcAft>
                <a:spcPts val="700"/>
              </a:spcAf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At the network layer the most common standard is </a:t>
            </a:r>
            <a:r>
              <a:rPr lang="en-US" b="1" i="0" dirty="0">
                <a:solidFill>
                  <a:srgbClr val="000000"/>
                </a:solidFill>
                <a:effectLst/>
                <a:latin typeface="Times New Roman" panose="02020603050405020304" pitchFamily="18" charset="0"/>
                <a:cs typeface="Times New Roman" panose="02020603050405020304" pitchFamily="18" charset="0"/>
              </a:rPr>
              <a:t>IPsec, </a:t>
            </a:r>
            <a:r>
              <a:rPr lang="en-US" b="0" i="0" dirty="0">
                <a:solidFill>
                  <a:srgbClr val="000000"/>
                </a:solidFill>
                <a:effectLst/>
                <a:latin typeface="Times New Roman" panose="02020603050405020304" pitchFamily="18" charset="0"/>
                <a:cs typeface="Times New Roman" panose="02020603050405020304" pitchFamily="18" charset="0"/>
              </a:rPr>
              <a:t>a secure form of the IP layer, which is used to set up </a:t>
            </a:r>
            <a:r>
              <a:rPr lang="en-US" b="1" i="0" dirty="0">
                <a:solidFill>
                  <a:srgbClr val="000000"/>
                </a:solidFill>
                <a:effectLst/>
                <a:latin typeface="Times New Roman" panose="02020603050405020304" pitchFamily="18" charset="0"/>
                <a:cs typeface="Times New Roman" panose="02020603050405020304" pitchFamily="18" charset="0"/>
              </a:rPr>
              <a:t>Virtual Private Networks, VPNs.</a:t>
            </a:r>
            <a:endParaRPr lang="en-US" b="0" i="0" dirty="0">
              <a:solidFill>
                <a:srgbClr val="000000"/>
              </a:solidFill>
              <a:effectLst/>
              <a:latin typeface="Times New Roman" panose="02020603050405020304" pitchFamily="18" charset="0"/>
              <a:cs typeface="Times New Roman" panose="02020603050405020304" pitchFamily="18" charset="0"/>
            </a:endParaRPr>
          </a:p>
          <a:p>
            <a:pPr algn="just">
              <a:lnSpc>
                <a:spcPct val="100000"/>
              </a:lnSpc>
              <a:spcBef>
                <a:spcPts val="700"/>
              </a:spcBef>
              <a:spcAft>
                <a:spcPts val="700"/>
              </a:spcAf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At the transport layer the most common implementation is SSL, described below.</a:t>
            </a:r>
          </a:p>
          <a:p>
            <a:pPr marL="285750" indent="-285750" algn="just">
              <a:lnSpc>
                <a:spcPct val="100000"/>
              </a:lnSpc>
              <a:spcBef>
                <a:spcPts val="700"/>
              </a:spcBef>
              <a:spcAft>
                <a:spcPts val="700"/>
              </a:spcAft>
              <a:buFont typeface="Wingdings" panose="05000000000000000000" pitchFamily="2" charset="2"/>
              <a:buChar char="q"/>
            </a:pPr>
            <a:r>
              <a:rPr lang="en-US" b="0" i="0" dirty="0">
                <a:solidFill>
                  <a:srgbClr val="000000"/>
                </a:solidFill>
                <a:effectLst/>
                <a:latin typeface="Times New Roman" panose="02020603050405020304" pitchFamily="18" charset="0"/>
                <a:cs typeface="Times New Roman" panose="02020603050405020304" pitchFamily="18" charset="0"/>
              </a:rPr>
              <a:t>Encryption and security can be implemented at any layer in the stack, with pros and cons to each choice:</a:t>
            </a:r>
          </a:p>
          <a:p>
            <a:pPr marL="742950" lvl="1" indent="-285750" algn="just">
              <a:lnSpc>
                <a:spcPct val="100000"/>
              </a:lnSpc>
              <a:spcBef>
                <a:spcPts val="700"/>
              </a:spcBef>
              <a:spcAft>
                <a:spcPts val="700"/>
              </a:spcAft>
              <a:buFont typeface="Arial" panose="020B0604020202020204" pitchFamily="34" charset="0"/>
              <a:buChar char="•"/>
            </a:pPr>
            <a:r>
              <a:rPr lang="en-US" sz="1800" b="0" i="0" dirty="0">
                <a:solidFill>
                  <a:srgbClr val="000000"/>
                </a:solidFill>
                <a:effectLst/>
                <a:latin typeface="Times New Roman" panose="02020603050405020304" pitchFamily="18" charset="0"/>
                <a:cs typeface="Times New Roman" panose="02020603050405020304" pitchFamily="18" charset="0"/>
              </a:rPr>
              <a:t>Because packets at lower levels contain the contents of higher layers, encryption at lower layers automatically encrypts higher layer information at the same time.</a:t>
            </a:r>
          </a:p>
          <a:p>
            <a:pPr marL="742950" lvl="1" indent="-285750" algn="just">
              <a:lnSpc>
                <a:spcPct val="100000"/>
              </a:lnSpc>
              <a:spcBef>
                <a:spcPts val="700"/>
              </a:spcBef>
              <a:spcAft>
                <a:spcPts val="700"/>
              </a:spcAft>
              <a:buFont typeface="Arial" panose="020B0604020202020204" pitchFamily="34" charset="0"/>
              <a:buChar char="•"/>
            </a:pPr>
            <a:r>
              <a:rPr lang="en-US" sz="1800" b="0" i="0" dirty="0">
                <a:solidFill>
                  <a:srgbClr val="000000"/>
                </a:solidFill>
                <a:effectLst/>
                <a:latin typeface="Times New Roman" panose="02020603050405020304" pitchFamily="18" charset="0"/>
                <a:cs typeface="Times New Roman" panose="02020603050405020304" pitchFamily="18" charset="0"/>
              </a:rPr>
              <a:t>However security and authorization may be important to higher levels independent of the underlying transport mechanism or route taken.</a:t>
            </a:r>
          </a:p>
          <a:p>
            <a:endParaRPr lang="en-IN" dirty="0"/>
          </a:p>
        </p:txBody>
      </p:sp>
      <p:sp>
        <p:nvSpPr>
          <p:cNvPr id="3" name="Title 2">
            <a:extLst>
              <a:ext uri="{FF2B5EF4-FFF2-40B4-BE49-F238E27FC236}">
                <a16:creationId xmlns:a16="http://schemas.microsoft.com/office/drawing/2014/main" id="{64976131-FD74-41C3-B508-ABAF4D1E49CC}"/>
              </a:ext>
            </a:extLst>
          </p:cNvPr>
          <p:cNvSpPr>
            <a:spLocks noGrp="1"/>
          </p:cNvSpPr>
          <p:nvPr>
            <p:ph type="title"/>
          </p:nvPr>
        </p:nvSpPr>
        <p:spPr>
          <a:xfrm>
            <a:off x="132522" y="253514"/>
            <a:ext cx="7095374" cy="479910"/>
          </a:xfrm>
        </p:spPr>
        <p:txBody>
          <a:bodyPr>
            <a:normAutofit/>
          </a:bodyPr>
          <a:lstStyle/>
          <a:p>
            <a:r>
              <a:rPr lang="en-IN" sz="2800" dirty="0">
                <a:latin typeface="Times New Roman" panose="02020603050405020304" pitchFamily="18" charset="0"/>
                <a:cs typeface="Times New Roman" panose="02020603050405020304" pitchFamily="18" charset="0"/>
              </a:rPr>
              <a:t>Implementation of Cryptography :</a:t>
            </a:r>
          </a:p>
        </p:txBody>
      </p:sp>
      <p:pic>
        <p:nvPicPr>
          <p:cNvPr id="5" name="Picture 4">
            <a:extLst>
              <a:ext uri="{FF2B5EF4-FFF2-40B4-BE49-F238E27FC236}">
                <a16:creationId xmlns:a16="http://schemas.microsoft.com/office/drawing/2014/main" id="{E9AD65D3-450F-469F-B25B-155C36FFC189}"/>
              </a:ext>
            </a:extLst>
          </p:cNvPr>
          <p:cNvPicPr>
            <a:picLocks noChangeAspect="1"/>
          </p:cNvPicPr>
          <p:nvPr/>
        </p:nvPicPr>
        <p:blipFill>
          <a:blip r:embed="rId2"/>
          <a:stretch>
            <a:fillRect/>
          </a:stretch>
        </p:blipFill>
        <p:spPr>
          <a:xfrm>
            <a:off x="6293152" y="834887"/>
            <a:ext cx="2600688" cy="5552661"/>
          </a:xfrm>
          <a:prstGeom prst="rect">
            <a:avLst/>
          </a:prstGeom>
        </p:spPr>
      </p:pic>
    </p:spTree>
    <p:extLst>
      <p:ext uri="{BB962C8B-B14F-4D97-AF65-F5344CB8AC3E}">
        <p14:creationId xmlns:p14="http://schemas.microsoft.com/office/powerpoint/2010/main" val="19742870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2D2958-F791-45BB-973D-3D81377F0B87}"/>
              </a:ext>
            </a:extLst>
          </p:cNvPr>
          <p:cNvSpPr>
            <a:spLocks noGrp="1"/>
          </p:cNvSpPr>
          <p:nvPr>
            <p:ph idx="1"/>
          </p:nvPr>
        </p:nvSpPr>
        <p:spPr>
          <a:xfrm>
            <a:off x="371061" y="733424"/>
            <a:ext cx="8242852" cy="5667376"/>
          </a:xfrm>
        </p:spPr>
        <p:txBody>
          <a:bodyPr>
            <a:normAutofit fontScale="25000" lnSpcReduction="20000"/>
          </a:bodyPr>
          <a:lstStyle/>
          <a:p>
            <a:pPr marL="285750" indent="-285750" algn="just">
              <a:spcBef>
                <a:spcPts val="500"/>
              </a:spcBef>
              <a:spcAft>
                <a:spcPts val="500"/>
              </a:spcAft>
              <a:buFont typeface="Wingdings" panose="05000000000000000000" pitchFamily="2" charset="2"/>
              <a:buChar char="q"/>
            </a:pPr>
            <a:r>
              <a:rPr lang="en-US" sz="7600" dirty="0">
                <a:latin typeface="Times New Roman" panose="02020603050405020304" pitchFamily="18" charset="0"/>
                <a:cs typeface="Times New Roman" panose="02020603050405020304" pitchFamily="18" charset="0"/>
              </a:rPr>
              <a:t>A  major security problem for operating systems is </a:t>
            </a:r>
            <a:r>
              <a:rPr lang="en-US" sz="7600" b="1" dirty="0">
                <a:latin typeface="Times New Roman" panose="02020603050405020304" pitchFamily="18" charset="0"/>
                <a:cs typeface="Times New Roman" panose="02020603050405020304" pitchFamily="18" charset="0"/>
              </a:rPr>
              <a:t>user authentication</a:t>
            </a:r>
            <a:r>
              <a:rPr lang="en-US" sz="7600" dirty="0">
                <a:latin typeface="Times New Roman" panose="02020603050405020304" pitchFamily="18" charset="0"/>
                <a:cs typeface="Times New Roman" panose="02020603050405020304" pitchFamily="18" charset="0"/>
              </a:rPr>
              <a:t>. The protection system depends on the ability to identify the programs and processes currently executing, which in turn depends on the ability to identify each user of the system.</a:t>
            </a:r>
          </a:p>
          <a:p>
            <a:pPr algn="just">
              <a:spcBef>
                <a:spcPts val="500"/>
              </a:spcBef>
              <a:spcAft>
                <a:spcPts val="500"/>
              </a:spcAft>
              <a:buNone/>
            </a:pPr>
            <a:r>
              <a:rPr lang="en-US" sz="7600" b="1" u="sng" dirty="0">
                <a:latin typeface="Times New Roman" panose="02020603050405020304" pitchFamily="18" charset="0"/>
                <a:cs typeface="Times New Roman" panose="02020603050405020304" pitchFamily="18" charset="0"/>
              </a:rPr>
              <a:t>Password:</a:t>
            </a:r>
          </a:p>
          <a:p>
            <a:pPr marL="285750" indent="-285750" algn="just">
              <a:spcBef>
                <a:spcPts val="500"/>
              </a:spcBef>
              <a:spcAft>
                <a:spcPts val="500"/>
              </a:spcAft>
              <a:buFont typeface="Wingdings" panose="05000000000000000000" pitchFamily="2" charset="2"/>
              <a:buChar char="q"/>
            </a:pPr>
            <a:r>
              <a:rPr lang="en-US" sz="7600" dirty="0">
                <a:latin typeface="Times New Roman" panose="02020603050405020304" pitchFamily="18" charset="0"/>
                <a:cs typeface="Times New Roman" panose="02020603050405020304" pitchFamily="18" charset="0"/>
              </a:rPr>
              <a:t>User identity most often established through passwords, can be considered a special case of either keys or capabilities </a:t>
            </a:r>
          </a:p>
          <a:p>
            <a:pPr algn="just">
              <a:spcBef>
                <a:spcPts val="500"/>
              </a:spcBef>
              <a:spcAft>
                <a:spcPts val="500"/>
              </a:spcAft>
              <a:buNone/>
            </a:pPr>
            <a:r>
              <a:rPr lang="en-IN" sz="7600" b="1" i="0" u="sng" dirty="0">
                <a:solidFill>
                  <a:srgbClr val="000000"/>
                </a:solidFill>
                <a:effectLst/>
                <a:latin typeface="Times New Roman" panose="02020603050405020304" pitchFamily="18" charset="0"/>
                <a:cs typeface="Times New Roman" panose="02020603050405020304" pitchFamily="18" charset="0"/>
              </a:rPr>
              <a:t>Password Vulnerabilities:</a:t>
            </a:r>
          </a:p>
          <a:p>
            <a:pPr marL="285750" indent="-285750" algn="just">
              <a:spcBef>
                <a:spcPts val="500"/>
              </a:spcBef>
              <a:spcAft>
                <a:spcPts val="500"/>
              </a:spcAft>
              <a:buFont typeface="Wingdings" panose="05000000000000000000" pitchFamily="2" charset="2"/>
              <a:buChar char="q"/>
            </a:pPr>
            <a:r>
              <a:rPr lang="en-IN" sz="7600" b="0" i="0" dirty="0">
                <a:solidFill>
                  <a:srgbClr val="000000"/>
                </a:solidFill>
                <a:effectLst/>
                <a:latin typeface="Times New Roman" panose="02020603050405020304" pitchFamily="18" charset="0"/>
                <a:cs typeface="Times New Roman" panose="02020603050405020304" pitchFamily="18" charset="0"/>
              </a:rPr>
              <a:t>Passwords can be guessed.</a:t>
            </a:r>
          </a:p>
          <a:p>
            <a:pPr marL="285750" indent="-285750" algn="just">
              <a:spcBef>
                <a:spcPts val="500"/>
              </a:spcBef>
              <a:spcAft>
                <a:spcPts val="500"/>
              </a:spcAft>
              <a:buFont typeface="Wingdings" panose="05000000000000000000" pitchFamily="2" charset="2"/>
              <a:buChar char="q"/>
            </a:pPr>
            <a:r>
              <a:rPr lang="en-US" sz="7600" b="0" i="0" dirty="0">
                <a:solidFill>
                  <a:srgbClr val="000000"/>
                </a:solidFill>
                <a:effectLst/>
                <a:latin typeface="Times New Roman" panose="02020603050405020304" pitchFamily="18" charset="0"/>
                <a:cs typeface="Times New Roman" panose="02020603050405020304" pitchFamily="18" charset="0"/>
              </a:rPr>
              <a:t>"Shoulder surfing" involves looking over people's shoulders while they are typing in their password.</a:t>
            </a:r>
          </a:p>
          <a:p>
            <a:pPr marL="285750" indent="-285750" algn="just">
              <a:spcBef>
                <a:spcPts val="500"/>
              </a:spcBef>
              <a:spcAft>
                <a:spcPts val="500"/>
              </a:spcAft>
              <a:buFont typeface="Wingdings" panose="05000000000000000000" pitchFamily="2" charset="2"/>
              <a:buChar char="q"/>
            </a:pPr>
            <a:r>
              <a:rPr lang="en-US" sz="7600" b="0" i="0" dirty="0">
                <a:solidFill>
                  <a:srgbClr val="000000"/>
                </a:solidFill>
                <a:effectLst/>
                <a:latin typeface="Times New Roman" panose="02020603050405020304" pitchFamily="18" charset="0"/>
                <a:cs typeface="Times New Roman" panose="02020603050405020304" pitchFamily="18" charset="0"/>
              </a:rPr>
              <a:t>"Packet sniffing" involves putting a monitor on a network connection and reading data contained in those packets.</a:t>
            </a:r>
          </a:p>
          <a:p>
            <a:pPr marL="285750" indent="-285750" algn="just">
              <a:spcBef>
                <a:spcPts val="500"/>
              </a:spcBef>
              <a:spcAft>
                <a:spcPts val="500"/>
              </a:spcAft>
              <a:buFont typeface="Wingdings" panose="05000000000000000000" pitchFamily="2" charset="2"/>
              <a:buChar char="q"/>
            </a:pPr>
            <a:r>
              <a:rPr lang="en-US" sz="7600" b="0" i="0" dirty="0">
                <a:solidFill>
                  <a:srgbClr val="000000"/>
                </a:solidFill>
                <a:effectLst/>
                <a:latin typeface="Times New Roman" panose="02020603050405020304" pitchFamily="18" charset="0"/>
                <a:cs typeface="Times New Roman" panose="02020603050405020304" pitchFamily="18" charset="0"/>
              </a:rPr>
              <a:t>Passwords can be given away to friends or co-workers, destroying the integrity of the entire user-identification system.</a:t>
            </a:r>
          </a:p>
          <a:p>
            <a:pPr algn="just">
              <a:lnSpc>
                <a:spcPct val="100000"/>
              </a:lnSpc>
              <a:spcBef>
                <a:spcPts val="900"/>
              </a:spcBef>
              <a:buNone/>
            </a:pPr>
            <a:endParaRPr lang="en-US" sz="19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27204BD8-7DC0-43D3-A551-B37B02D1C48D}"/>
              </a:ext>
            </a:extLst>
          </p:cNvPr>
          <p:cNvSpPr>
            <a:spLocks noGrp="1"/>
          </p:cNvSpPr>
          <p:nvPr>
            <p:ph type="title"/>
          </p:nvPr>
        </p:nvSpPr>
        <p:spPr>
          <a:xfrm>
            <a:off x="106017" y="253514"/>
            <a:ext cx="7121879" cy="479910"/>
          </a:xfrm>
        </p:spPr>
        <p:txBody>
          <a:bodyPr>
            <a:normAutofit/>
          </a:bodyPr>
          <a:lstStyle/>
          <a:p>
            <a:r>
              <a:rPr lang="en-IN" sz="2800" dirty="0">
                <a:latin typeface="Times New Roman" panose="02020603050405020304" pitchFamily="18" charset="0"/>
                <a:cs typeface="Times New Roman" panose="02020603050405020304" pitchFamily="18" charset="0"/>
              </a:rPr>
              <a:t>User Authentication :</a:t>
            </a:r>
          </a:p>
        </p:txBody>
      </p:sp>
    </p:spTree>
    <p:extLst>
      <p:ext uri="{BB962C8B-B14F-4D97-AF65-F5344CB8AC3E}">
        <p14:creationId xmlns:p14="http://schemas.microsoft.com/office/powerpoint/2010/main" val="14200709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0C27DB-5C8B-4371-95BF-515427A51739}"/>
              </a:ext>
            </a:extLst>
          </p:cNvPr>
          <p:cNvSpPr>
            <a:spLocks noGrp="1"/>
          </p:cNvSpPr>
          <p:nvPr>
            <p:ph idx="1"/>
          </p:nvPr>
        </p:nvSpPr>
        <p:spPr>
          <a:xfrm>
            <a:off x="453325" y="861392"/>
            <a:ext cx="8237348" cy="5247860"/>
          </a:xfrm>
        </p:spPr>
        <p:txBody>
          <a:bodyPr>
            <a:normAutofit/>
          </a:bodyPr>
          <a:lstStyle/>
          <a:p>
            <a:pPr marL="285750" indent="-285750" algn="just">
              <a:spcBef>
                <a:spcPts val="500"/>
              </a:spcBef>
              <a:spcAft>
                <a:spcPts val="500"/>
              </a:spcAft>
              <a:buFont typeface="Wingdings" panose="05000000000000000000" pitchFamily="2" charset="2"/>
              <a:buChar char="q"/>
            </a:pPr>
            <a:r>
              <a:rPr lang="en-US" sz="1900" b="1" dirty="0">
                <a:latin typeface="Times New Roman" panose="02020603050405020304" pitchFamily="18" charset="0"/>
                <a:cs typeface="Times New Roman" panose="02020603050405020304" pitchFamily="18" charset="0"/>
              </a:rPr>
              <a:t>Passwords must be kept secret</a:t>
            </a:r>
          </a:p>
          <a:p>
            <a:pPr algn="just">
              <a:spcBef>
                <a:spcPts val="500"/>
              </a:spcBef>
              <a:spcAft>
                <a:spcPts val="500"/>
              </a:spcAft>
              <a:buNone/>
            </a:pPr>
            <a:r>
              <a:rPr lang="en-US" sz="1900" dirty="0">
                <a:latin typeface="Times New Roman" panose="02020603050405020304" pitchFamily="18" charset="0"/>
                <a:cs typeface="Times New Roman" panose="02020603050405020304" pitchFamily="18" charset="0"/>
              </a:rPr>
              <a:t>                →   Frequent change of passwords</a:t>
            </a:r>
          </a:p>
          <a:p>
            <a:pPr algn="just">
              <a:spcBef>
                <a:spcPts val="500"/>
              </a:spcBef>
              <a:spcAft>
                <a:spcPts val="500"/>
              </a:spcAft>
              <a:buNone/>
            </a:pPr>
            <a:r>
              <a:rPr lang="en-US" sz="1900" dirty="0">
                <a:latin typeface="Times New Roman" panose="02020603050405020304" pitchFamily="18" charset="0"/>
                <a:cs typeface="Times New Roman" panose="02020603050405020304" pitchFamily="18" charset="0"/>
              </a:rPr>
              <a:t>               →    History to avoid repeats</a:t>
            </a:r>
          </a:p>
          <a:p>
            <a:pPr algn="just">
              <a:spcBef>
                <a:spcPts val="500"/>
              </a:spcBef>
              <a:spcAft>
                <a:spcPts val="500"/>
              </a:spcAft>
              <a:buNone/>
            </a:pPr>
            <a:r>
              <a:rPr lang="en-US" sz="1900" dirty="0">
                <a:latin typeface="Times New Roman" panose="02020603050405020304" pitchFamily="18" charset="0"/>
                <a:cs typeface="Times New Roman" panose="02020603050405020304" pitchFamily="18" charset="0"/>
              </a:rPr>
              <a:t>               →    Use of “non-guessable” passwords</a:t>
            </a:r>
          </a:p>
          <a:p>
            <a:pPr marL="285750" indent="-285750">
              <a:spcBef>
                <a:spcPts val="700"/>
              </a:spcBef>
              <a:spcAft>
                <a:spcPts val="700"/>
              </a:spcAft>
              <a:buFont typeface="Wingdings" panose="05000000000000000000" pitchFamily="2" charset="2"/>
              <a:buChar char="q"/>
            </a:pPr>
            <a:r>
              <a:rPr lang="en-US" sz="1900" b="1" dirty="0">
                <a:latin typeface="Times New Roman" panose="02020603050405020304" pitchFamily="18" charset="0"/>
                <a:cs typeface="Times New Roman" panose="02020603050405020304" pitchFamily="18" charset="0"/>
              </a:rPr>
              <a:t>Passwords may also either be encrypted </a:t>
            </a:r>
            <a:r>
              <a:rPr lang="en-US" sz="1900" dirty="0">
                <a:latin typeface="Times New Roman" panose="02020603050405020304" pitchFamily="18" charset="0"/>
                <a:cs typeface="Times New Roman" panose="02020603050405020304" pitchFamily="18" charset="0"/>
              </a:rPr>
              <a:t>or allowed to be used only once</a:t>
            </a:r>
          </a:p>
          <a:p>
            <a:pPr>
              <a:spcBef>
                <a:spcPts val="700"/>
              </a:spcBef>
              <a:spcAft>
                <a:spcPts val="700"/>
              </a:spcAft>
            </a:pPr>
            <a:r>
              <a:rPr lang="en-US" sz="1900" dirty="0">
                <a:latin typeface="Times New Roman" panose="02020603050405020304" pitchFamily="18" charset="0"/>
                <a:cs typeface="Times New Roman" panose="02020603050405020304" pitchFamily="18" charset="0"/>
              </a:rPr>
              <a:t>   →  Does encrypting passwords solve the exposure problem? </a:t>
            </a:r>
          </a:p>
          <a:p>
            <a:pPr>
              <a:spcBef>
                <a:spcPts val="700"/>
              </a:spcBef>
              <a:spcAft>
                <a:spcPts val="700"/>
              </a:spcAft>
            </a:pPr>
            <a:r>
              <a:rPr lang="en-US" sz="1900" dirty="0">
                <a:latin typeface="Times New Roman" panose="02020603050405020304" pitchFamily="18" charset="0"/>
                <a:cs typeface="Times New Roman" panose="02020603050405020304" pitchFamily="18" charset="0"/>
              </a:rPr>
              <a:t>                   →  Might solve sniffing</a:t>
            </a:r>
          </a:p>
          <a:p>
            <a:pPr>
              <a:spcBef>
                <a:spcPts val="700"/>
              </a:spcBef>
              <a:spcAft>
                <a:spcPts val="700"/>
              </a:spcAft>
            </a:pPr>
            <a:r>
              <a:rPr lang="en-US" sz="1900" dirty="0">
                <a:latin typeface="Times New Roman" panose="02020603050405020304" pitchFamily="18" charset="0"/>
                <a:cs typeface="Times New Roman" panose="02020603050405020304" pitchFamily="18" charset="0"/>
              </a:rPr>
              <a:t>                   → Consider shoulder surfing</a:t>
            </a:r>
          </a:p>
          <a:p>
            <a:pPr>
              <a:spcBef>
                <a:spcPts val="700"/>
              </a:spcBef>
              <a:spcAft>
                <a:spcPts val="700"/>
              </a:spcAft>
            </a:pPr>
            <a:r>
              <a:rPr lang="en-US" sz="1900" dirty="0">
                <a:latin typeface="Times New Roman" panose="02020603050405020304" pitchFamily="18" charset="0"/>
                <a:cs typeface="Times New Roman" panose="02020603050405020304" pitchFamily="18" charset="0"/>
              </a:rPr>
              <a:t>                  →  Consider Trojan horse keystroke logger</a:t>
            </a:r>
          </a:p>
          <a:p>
            <a:pPr>
              <a:spcBef>
                <a:spcPts val="700"/>
              </a:spcBef>
              <a:spcAft>
                <a:spcPts val="700"/>
              </a:spcAft>
            </a:pPr>
            <a:r>
              <a:rPr lang="en-US" sz="1900" dirty="0">
                <a:latin typeface="Times New Roman" panose="02020603050405020304" pitchFamily="18" charset="0"/>
                <a:cs typeface="Times New Roman" panose="02020603050405020304" pitchFamily="18" charset="0"/>
              </a:rPr>
              <a:t>                  →  How are passwords stored at authenticating site?</a:t>
            </a:r>
          </a:p>
          <a:p>
            <a:endParaRPr lang="en-IN" dirty="0"/>
          </a:p>
        </p:txBody>
      </p:sp>
      <p:sp>
        <p:nvSpPr>
          <p:cNvPr id="3" name="Title 2">
            <a:extLst>
              <a:ext uri="{FF2B5EF4-FFF2-40B4-BE49-F238E27FC236}">
                <a16:creationId xmlns:a16="http://schemas.microsoft.com/office/drawing/2014/main" id="{27A38D71-AE85-47D7-BE21-8ECF86542B4D}"/>
              </a:ext>
            </a:extLst>
          </p:cNvPr>
          <p:cNvSpPr>
            <a:spLocks noGrp="1"/>
          </p:cNvSpPr>
          <p:nvPr>
            <p:ph type="title"/>
          </p:nvPr>
        </p:nvSpPr>
        <p:spPr>
          <a:xfrm>
            <a:off x="212034" y="201127"/>
            <a:ext cx="6989357" cy="421725"/>
          </a:xfrm>
        </p:spPr>
        <p:txBody>
          <a:bodyPr>
            <a:noAutofit/>
          </a:bodyPr>
          <a:lstStyle/>
          <a:p>
            <a:r>
              <a:rPr lang="en-IN" sz="2800" dirty="0">
                <a:latin typeface="Times New Roman" panose="02020603050405020304" pitchFamily="18" charset="0"/>
                <a:cs typeface="Times New Roman" panose="02020603050405020304" pitchFamily="18" charset="0"/>
              </a:rPr>
              <a:t>User Authentication : </a:t>
            </a:r>
            <a:endParaRPr lang="en-IN" sz="2800" dirty="0"/>
          </a:p>
        </p:txBody>
      </p:sp>
    </p:spTree>
    <p:extLst>
      <p:ext uri="{BB962C8B-B14F-4D97-AF65-F5344CB8AC3E}">
        <p14:creationId xmlns:p14="http://schemas.microsoft.com/office/powerpoint/2010/main" val="204742501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E2864B-552A-4DA7-8729-89C3BC48E43E}"/>
              </a:ext>
            </a:extLst>
          </p:cNvPr>
          <p:cNvSpPr>
            <a:spLocks noGrp="1"/>
          </p:cNvSpPr>
          <p:nvPr>
            <p:ph idx="1"/>
          </p:nvPr>
        </p:nvSpPr>
        <p:spPr>
          <a:xfrm>
            <a:off x="453325" y="733424"/>
            <a:ext cx="8237348" cy="5402333"/>
          </a:xfrm>
        </p:spPr>
        <p:txBody>
          <a:bodyPr>
            <a:normAutofit/>
          </a:bodyPr>
          <a:lstStyle/>
          <a:p>
            <a:pPr marL="342900" indent="-342900">
              <a:lnSpc>
                <a:spcPct val="100000"/>
              </a:lnSpc>
              <a:spcBef>
                <a:spcPts val="700"/>
              </a:spcBef>
              <a:spcAft>
                <a:spcPts val="700"/>
              </a:spcAft>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Encrypt to avoid having to keep secret</a:t>
            </a:r>
          </a:p>
          <a:p>
            <a:pPr>
              <a:lnSpc>
                <a:spcPct val="100000"/>
              </a:lnSpc>
              <a:spcBef>
                <a:spcPts val="700"/>
              </a:spcBef>
              <a:spcAft>
                <a:spcPts val="700"/>
              </a:spcAft>
              <a:buNone/>
            </a:pPr>
            <a:r>
              <a:rPr lang="en-US"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rPr>
              <a:t> But keep secret anyway (i.e. Unix uses superuser-only readably file /etc/shadow) </a:t>
            </a:r>
          </a:p>
          <a:p>
            <a:pPr>
              <a:lnSpc>
                <a:spcPct val="100000"/>
              </a:lnSpc>
              <a:spcBef>
                <a:spcPts val="700"/>
              </a:spcBef>
              <a:spcAft>
                <a:spcPts val="700"/>
              </a:spcAft>
              <a:buNone/>
            </a:pPr>
            <a:r>
              <a:rPr lang="en-US"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rPr>
              <a:t>Use algorithm easy to compute but difficult to invert</a:t>
            </a:r>
          </a:p>
          <a:p>
            <a:pPr>
              <a:lnSpc>
                <a:spcPct val="100000"/>
              </a:lnSpc>
              <a:spcBef>
                <a:spcPts val="700"/>
              </a:spcBef>
              <a:spcAft>
                <a:spcPts val="700"/>
              </a:spcAft>
              <a:buNone/>
            </a:pPr>
            <a:r>
              <a:rPr lang="en-US"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rPr>
              <a:t>Only encrypted password stored, never decrypted </a:t>
            </a:r>
          </a:p>
          <a:p>
            <a:pPr>
              <a:lnSpc>
                <a:spcPct val="100000"/>
              </a:lnSpc>
              <a:spcBef>
                <a:spcPts val="700"/>
              </a:spcBef>
              <a:spcAft>
                <a:spcPts val="700"/>
              </a:spcAft>
              <a:buNone/>
            </a:pPr>
            <a:r>
              <a:rPr lang="en-US"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rPr>
              <a:t> Add “salt” to avoid the same password being encrypted to the same value</a:t>
            </a:r>
          </a:p>
          <a:p>
            <a:pPr marL="285750" indent="-285750" algn="just">
              <a:lnSpc>
                <a:spcPct val="100000"/>
              </a:lnSpc>
              <a:spcBef>
                <a:spcPts val="700"/>
              </a:spcBef>
              <a:spcAft>
                <a:spcPts val="700"/>
              </a:spcAf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One-time passwords: </a:t>
            </a:r>
            <a:r>
              <a:rPr lang="en-US" b="1" i="0" dirty="0">
                <a:solidFill>
                  <a:srgbClr val="BDC1C6"/>
                </a:solidFill>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one-time password (OTP), also known as a one-time PIN, one-time authorization code (OTAC) or dynamic password, is a </a:t>
            </a:r>
            <a:r>
              <a:rPr lang="en-US" b="1" i="0" dirty="0">
                <a:effectLst/>
                <a:latin typeface="Times New Roman" panose="02020603050405020304" pitchFamily="18" charset="0"/>
                <a:cs typeface="Times New Roman" panose="02020603050405020304" pitchFamily="18" charset="0"/>
              </a:rPr>
              <a:t>password that is valid for only one login session or transaction</a:t>
            </a:r>
            <a:r>
              <a:rPr lang="en-US" b="0" i="0" dirty="0">
                <a:effectLst/>
                <a:latin typeface="Times New Roman" panose="02020603050405020304" pitchFamily="18" charset="0"/>
                <a:cs typeface="Times New Roman" panose="02020603050405020304" pitchFamily="18" charset="0"/>
              </a:rPr>
              <a:t>, on a computer system or other digital device.</a:t>
            </a:r>
            <a:endParaRPr lang="en-US" dirty="0">
              <a:latin typeface="Times New Roman" panose="02020603050405020304" pitchFamily="18" charset="0"/>
              <a:cs typeface="Times New Roman" panose="02020603050405020304" pitchFamily="18" charset="0"/>
            </a:endParaRPr>
          </a:p>
          <a:p>
            <a:pPr algn="just">
              <a:lnSpc>
                <a:spcPct val="100000"/>
              </a:lnSpc>
              <a:spcBef>
                <a:spcPts val="700"/>
              </a:spcBef>
              <a:spcAft>
                <a:spcPts val="700"/>
              </a:spcAft>
              <a:buNone/>
            </a:pPr>
            <a:r>
              <a:rPr lang="en-US" dirty="0">
                <a:latin typeface="Times New Roman" panose="02020603050405020304" pitchFamily="18" charset="0"/>
                <a:cs typeface="Times New Roman" panose="02020603050405020304" pitchFamily="18" charset="0"/>
              </a:rPr>
              <a:t> →    Use a function based on a seed to compute a password, both user and computer </a:t>
            </a:r>
          </a:p>
          <a:p>
            <a:pPr algn="just">
              <a:lnSpc>
                <a:spcPct val="100000"/>
              </a:lnSpc>
              <a:spcBef>
                <a:spcPts val="700"/>
              </a:spcBef>
              <a:spcAft>
                <a:spcPts val="700"/>
              </a:spcAft>
              <a:buNone/>
            </a:pPr>
            <a:r>
              <a:rPr lang="en-US" dirty="0">
                <a:latin typeface="Times New Roman" panose="02020603050405020304" pitchFamily="18" charset="0"/>
                <a:cs typeface="Times New Roman" panose="02020603050405020304" pitchFamily="18" charset="0"/>
              </a:rPr>
              <a:t> →    Hardware device / calculator / key fob to generate the password </a:t>
            </a:r>
          </a:p>
          <a:p>
            <a:pPr algn="just">
              <a:lnSpc>
                <a:spcPct val="100000"/>
              </a:lnSpc>
              <a:spcBef>
                <a:spcPts val="700"/>
              </a:spcBef>
              <a:spcAft>
                <a:spcPts val="700"/>
              </a:spcAft>
              <a:buNone/>
            </a:pPr>
            <a:r>
              <a:rPr lang="en-US" dirty="0">
                <a:latin typeface="Times New Roman" panose="02020603050405020304" pitchFamily="18" charset="0"/>
                <a:cs typeface="Times New Roman" panose="02020603050405020304" pitchFamily="18" charset="0"/>
              </a:rPr>
              <a:t>                        →    Changes very frequently</a:t>
            </a:r>
            <a:endParaRPr lang="en-US" b="0" i="0" dirty="0">
              <a:solidFill>
                <a:srgbClr val="000000"/>
              </a:solidFill>
              <a:effectLst/>
              <a:latin typeface="Times New Roman" panose="02020603050405020304" pitchFamily="18" charset="0"/>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393532BF-16E5-49D6-A669-83FDC0A91753}"/>
              </a:ext>
            </a:extLst>
          </p:cNvPr>
          <p:cNvSpPr>
            <a:spLocks noGrp="1"/>
          </p:cNvSpPr>
          <p:nvPr>
            <p:ph type="title"/>
          </p:nvPr>
        </p:nvSpPr>
        <p:spPr>
          <a:xfrm>
            <a:off x="132522" y="253514"/>
            <a:ext cx="7095374" cy="479910"/>
          </a:xfrm>
        </p:spPr>
        <p:txBody>
          <a:bodyPr>
            <a:normAutofit/>
          </a:bodyPr>
          <a:lstStyle/>
          <a:p>
            <a:r>
              <a:rPr lang="en-IN" sz="2800" dirty="0">
                <a:latin typeface="Times New Roman" panose="02020603050405020304" pitchFamily="18" charset="0"/>
                <a:cs typeface="Times New Roman" panose="02020603050405020304" pitchFamily="18" charset="0"/>
              </a:rPr>
              <a:t>User Authentication : </a:t>
            </a:r>
            <a:endParaRPr lang="en-IN" sz="2800" dirty="0"/>
          </a:p>
        </p:txBody>
      </p:sp>
    </p:spTree>
    <p:extLst>
      <p:ext uri="{BB962C8B-B14F-4D97-AF65-F5344CB8AC3E}">
        <p14:creationId xmlns:p14="http://schemas.microsoft.com/office/powerpoint/2010/main" val="4104987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3AEE15-7B59-425B-B758-9162B811F58E}"/>
              </a:ext>
            </a:extLst>
          </p:cNvPr>
          <p:cNvSpPr>
            <a:spLocks noGrp="1"/>
          </p:cNvSpPr>
          <p:nvPr>
            <p:ph idx="1"/>
          </p:nvPr>
        </p:nvSpPr>
        <p:spPr>
          <a:xfrm>
            <a:off x="453325" y="1007165"/>
            <a:ext cx="8237348" cy="5169798"/>
          </a:xfrm>
        </p:spPr>
        <p:txBody>
          <a:bodyPr/>
          <a:lstStyle/>
          <a:p>
            <a:pPr marL="285750" indent="-285750" algn="just">
              <a:lnSpc>
                <a:spcPct val="110000"/>
              </a:lnSpc>
              <a:spcBef>
                <a:spcPts val="700"/>
              </a:spcBef>
              <a:spcAft>
                <a:spcPts val="700"/>
              </a:spcAft>
              <a:buFont typeface="Wingdings" panose="05000000000000000000" pitchFamily="2" charset="2"/>
              <a:buChar char="q"/>
            </a:pPr>
            <a:r>
              <a:rPr lang="en-US" sz="1900" b="1" i="0" dirty="0">
                <a:solidFill>
                  <a:srgbClr val="000000"/>
                </a:solidFill>
                <a:effectLst/>
                <a:latin typeface="Times New Roman" panose="02020603050405020304" pitchFamily="18" charset="0"/>
                <a:cs typeface="Times New Roman" panose="02020603050405020304" pitchFamily="18" charset="0"/>
              </a:rPr>
              <a:t>Biometrics </a:t>
            </a:r>
            <a:r>
              <a:rPr lang="en-US" sz="1900" b="0" i="0" dirty="0">
                <a:solidFill>
                  <a:srgbClr val="000000"/>
                </a:solidFill>
                <a:effectLst/>
                <a:latin typeface="Times New Roman" panose="02020603050405020304" pitchFamily="18" charset="0"/>
                <a:cs typeface="Times New Roman" panose="02020603050405020304" pitchFamily="18" charset="0"/>
              </a:rPr>
              <a:t>involve a physical characteristic of the user that is not easily forged or duplicated and not likely to be identical between multiple users.</a:t>
            </a:r>
          </a:p>
          <a:p>
            <a:pPr marL="742950" lvl="1" indent="-285750" algn="just">
              <a:lnSpc>
                <a:spcPct val="110000"/>
              </a:lnSpc>
              <a:spcBef>
                <a:spcPts val="700"/>
              </a:spcBef>
              <a:spcAft>
                <a:spcPts val="700"/>
              </a:spcAft>
              <a:buFont typeface="Arial" panose="020B0604020202020204" pitchFamily="34" charset="0"/>
              <a:buChar char="•"/>
            </a:pPr>
            <a:r>
              <a:rPr lang="en-US" sz="1900" b="0" i="0" dirty="0">
                <a:solidFill>
                  <a:srgbClr val="000000"/>
                </a:solidFill>
                <a:effectLst/>
                <a:latin typeface="Times New Roman" panose="02020603050405020304" pitchFamily="18" charset="0"/>
                <a:cs typeface="Times New Roman" panose="02020603050405020304" pitchFamily="18" charset="0"/>
              </a:rPr>
              <a:t>Fingerprint scanners are getting faster, more accurate, and more economical.</a:t>
            </a:r>
          </a:p>
          <a:p>
            <a:pPr marL="742950" lvl="1" indent="-285750" algn="just">
              <a:lnSpc>
                <a:spcPct val="110000"/>
              </a:lnSpc>
              <a:spcBef>
                <a:spcPts val="700"/>
              </a:spcBef>
              <a:spcAft>
                <a:spcPts val="700"/>
              </a:spcAft>
              <a:buFont typeface="Arial" panose="020B0604020202020204" pitchFamily="34" charset="0"/>
              <a:buChar char="•"/>
            </a:pPr>
            <a:r>
              <a:rPr lang="en-US" sz="1900" b="0" i="0" dirty="0">
                <a:solidFill>
                  <a:srgbClr val="000000"/>
                </a:solidFill>
                <a:effectLst/>
                <a:latin typeface="Times New Roman" panose="02020603050405020304" pitchFamily="18" charset="0"/>
                <a:cs typeface="Times New Roman" panose="02020603050405020304" pitchFamily="18" charset="0"/>
              </a:rPr>
              <a:t>Palm readers can check thermal properties, finger length, etc.</a:t>
            </a:r>
          </a:p>
          <a:p>
            <a:pPr marL="742950" lvl="1" indent="-285750" algn="just">
              <a:lnSpc>
                <a:spcPct val="110000"/>
              </a:lnSpc>
              <a:spcBef>
                <a:spcPts val="700"/>
              </a:spcBef>
              <a:spcAft>
                <a:spcPts val="700"/>
              </a:spcAft>
              <a:buFont typeface="Arial" panose="020B0604020202020204" pitchFamily="34" charset="0"/>
              <a:buChar char="•"/>
            </a:pPr>
            <a:r>
              <a:rPr lang="en-US" sz="1900" b="0" i="0" dirty="0">
                <a:solidFill>
                  <a:srgbClr val="000000"/>
                </a:solidFill>
                <a:effectLst/>
                <a:latin typeface="Times New Roman" panose="02020603050405020304" pitchFamily="18" charset="0"/>
                <a:cs typeface="Times New Roman" panose="02020603050405020304" pitchFamily="18" charset="0"/>
              </a:rPr>
              <a:t>Retinal scanners examine the back of the users' eyes.</a:t>
            </a:r>
          </a:p>
          <a:p>
            <a:pPr marL="742950" lvl="1" indent="-285750" algn="just">
              <a:lnSpc>
                <a:spcPct val="110000"/>
              </a:lnSpc>
              <a:spcBef>
                <a:spcPts val="700"/>
              </a:spcBef>
              <a:spcAft>
                <a:spcPts val="700"/>
              </a:spcAft>
              <a:buFont typeface="Arial" panose="020B0604020202020204" pitchFamily="34" charset="0"/>
              <a:buChar char="•"/>
            </a:pPr>
            <a:r>
              <a:rPr lang="en-US" sz="1900" b="0" i="0" dirty="0">
                <a:solidFill>
                  <a:srgbClr val="000000"/>
                </a:solidFill>
                <a:effectLst/>
                <a:latin typeface="Times New Roman" panose="02020603050405020304" pitchFamily="18" charset="0"/>
                <a:cs typeface="Times New Roman" panose="02020603050405020304" pitchFamily="18" charset="0"/>
              </a:rPr>
              <a:t>Voiceprint analyzers distinguish particular voices.</a:t>
            </a:r>
          </a:p>
          <a:p>
            <a:pPr marL="742950" lvl="1" indent="-285750" algn="just">
              <a:lnSpc>
                <a:spcPct val="110000"/>
              </a:lnSpc>
              <a:spcBef>
                <a:spcPts val="700"/>
              </a:spcBef>
              <a:spcAft>
                <a:spcPts val="700"/>
              </a:spcAft>
              <a:buFont typeface="Arial" panose="020B0604020202020204" pitchFamily="34" charset="0"/>
              <a:buChar char="•"/>
            </a:pPr>
            <a:r>
              <a:rPr lang="en-US" sz="1900" b="0" i="0" dirty="0">
                <a:solidFill>
                  <a:srgbClr val="000000"/>
                </a:solidFill>
                <a:effectLst/>
                <a:latin typeface="Times New Roman" panose="02020603050405020304" pitchFamily="18" charset="0"/>
                <a:cs typeface="Times New Roman" panose="02020603050405020304" pitchFamily="18" charset="0"/>
              </a:rPr>
              <a:t>Difficulties may arise in the event of colds, injuries, or other physiological changes.</a:t>
            </a:r>
          </a:p>
          <a:p>
            <a:endParaRPr lang="en-IN" dirty="0"/>
          </a:p>
        </p:txBody>
      </p:sp>
      <p:sp>
        <p:nvSpPr>
          <p:cNvPr id="3" name="Title 2">
            <a:extLst>
              <a:ext uri="{FF2B5EF4-FFF2-40B4-BE49-F238E27FC236}">
                <a16:creationId xmlns:a16="http://schemas.microsoft.com/office/drawing/2014/main" id="{2934C54A-3B01-4783-B96E-2AF16A059453}"/>
              </a:ext>
            </a:extLst>
          </p:cNvPr>
          <p:cNvSpPr>
            <a:spLocks noGrp="1"/>
          </p:cNvSpPr>
          <p:nvPr>
            <p:ph type="title"/>
          </p:nvPr>
        </p:nvSpPr>
        <p:spPr>
          <a:xfrm>
            <a:off x="106017" y="253514"/>
            <a:ext cx="7121879" cy="479910"/>
          </a:xfrm>
        </p:spPr>
        <p:txBody>
          <a:bodyPr>
            <a:normAutofit/>
          </a:bodyPr>
          <a:lstStyle/>
          <a:p>
            <a:r>
              <a:rPr lang="en-IN" sz="2800" dirty="0">
                <a:latin typeface="Times New Roman" panose="02020603050405020304" pitchFamily="18" charset="0"/>
                <a:cs typeface="Times New Roman" panose="02020603050405020304" pitchFamily="18" charset="0"/>
              </a:rPr>
              <a:t>User Authentication : </a:t>
            </a:r>
            <a:endParaRPr lang="en-IN" sz="2800" dirty="0"/>
          </a:p>
        </p:txBody>
      </p:sp>
    </p:spTree>
    <p:extLst>
      <p:ext uri="{BB962C8B-B14F-4D97-AF65-F5344CB8AC3E}">
        <p14:creationId xmlns:p14="http://schemas.microsoft.com/office/powerpoint/2010/main" val="309521203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77B5AB-E498-4504-A1A8-E5DF8032AD9E}"/>
              </a:ext>
            </a:extLst>
          </p:cNvPr>
          <p:cNvSpPr>
            <a:spLocks noGrp="1"/>
          </p:cNvSpPr>
          <p:nvPr>
            <p:ph idx="1"/>
          </p:nvPr>
        </p:nvSpPr>
        <p:spPr>
          <a:xfrm>
            <a:off x="453325" y="681038"/>
            <a:ext cx="8491892" cy="5680006"/>
          </a:xfrm>
        </p:spPr>
        <p:txBody>
          <a:bodyPr>
            <a:noAutofit/>
          </a:bodyPr>
          <a:lstStyle/>
          <a:p>
            <a:pPr marL="285750" indent="-28575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Defense in depth is most common security theory – multiple layers of security</a:t>
            </a:r>
          </a:p>
          <a:p>
            <a:pPr marL="285750" indent="-28575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Security policy describes what is being secured</a:t>
            </a:r>
          </a:p>
          <a:p>
            <a:pPr marL="285750" indent="-28575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Vulnerability assessment compares real state of system / network compared to security policy </a:t>
            </a:r>
          </a:p>
          <a:p>
            <a:pPr marL="285750" indent="-28575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Intrusion detection endeavors to detect attempted or successful intrusions</a:t>
            </a:r>
          </a:p>
          <a:p>
            <a:pPr algn="just">
              <a:spcBef>
                <a:spcPts val="300"/>
              </a:spcBef>
              <a:spcAft>
                <a:spcPts val="300"/>
              </a:spcAft>
              <a:buNone/>
            </a:pPr>
            <a:r>
              <a:rPr lang="en-US" dirty="0">
                <a:latin typeface="Times New Roman" panose="02020603050405020304" pitchFamily="18" charset="0"/>
                <a:cs typeface="Times New Roman" panose="02020603050405020304" pitchFamily="18" charset="0"/>
              </a:rPr>
              <a:t>          →  Signature-based detection spots known bad patterns</a:t>
            </a:r>
          </a:p>
          <a:p>
            <a:pPr algn="just">
              <a:spcBef>
                <a:spcPts val="300"/>
              </a:spcBef>
              <a:spcAft>
                <a:spcPts val="300"/>
              </a:spcAft>
              <a:buNone/>
            </a:pPr>
            <a:r>
              <a:rPr lang="en-US" dirty="0">
                <a:latin typeface="Times New Roman" panose="02020603050405020304" pitchFamily="18" charset="0"/>
                <a:cs typeface="Times New Roman" panose="02020603050405020304" pitchFamily="18" charset="0"/>
              </a:rPr>
              <a:t> .  Anomaly detection spots differences from normal behavior -Can detect zero-day attacks</a:t>
            </a:r>
          </a:p>
          <a:p>
            <a:pPr algn="just">
              <a:spcBef>
                <a:spcPts val="300"/>
              </a:spcBef>
              <a:spcAft>
                <a:spcPts val="300"/>
              </a:spcAft>
              <a:buNone/>
            </a:pPr>
            <a:r>
              <a:rPr lang="en-US" dirty="0">
                <a:latin typeface="Times New Roman" panose="02020603050405020304" pitchFamily="18" charset="0"/>
                <a:cs typeface="Times New Roman" panose="02020603050405020304" pitchFamily="18" charset="0"/>
              </a:rPr>
              <a:t>         →  False-positives and false-negatives a problem </a:t>
            </a:r>
          </a:p>
          <a:p>
            <a:pPr marL="285750" indent="-28575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Virus protection</a:t>
            </a:r>
          </a:p>
          <a:p>
            <a:pPr algn="just">
              <a:spcBef>
                <a:spcPts val="300"/>
              </a:spcBef>
              <a:spcAft>
                <a:spcPts val="300"/>
              </a:spcAft>
              <a:buNone/>
            </a:pPr>
            <a:r>
              <a:rPr lang="en-US" dirty="0">
                <a:latin typeface="Times New Roman" panose="02020603050405020304" pitchFamily="18" charset="0"/>
                <a:cs typeface="Times New Roman" panose="02020603050405020304" pitchFamily="18" charset="0"/>
              </a:rPr>
              <a:t>         →   Searching all programs or programs at execution for known virus patterns </a:t>
            </a:r>
          </a:p>
          <a:p>
            <a:pPr algn="just">
              <a:spcBef>
                <a:spcPts val="300"/>
              </a:spcBef>
              <a:spcAft>
                <a:spcPts val="300"/>
              </a:spcAft>
              <a:buNone/>
            </a:pPr>
            <a:r>
              <a:rPr lang="en-US" dirty="0">
                <a:latin typeface="Times New Roman" panose="02020603050405020304" pitchFamily="18" charset="0"/>
                <a:cs typeface="Times New Roman" panose="02020603050405020304" pitchFamily="18" charset="0"/>
              </a:rPr>
              <a:t>          →   Or run in sandbox so can’t damage system</a:t>
            </a:r>
          </a:p>
          <a:p>
            <a:pPr marL="285750" indent="-28575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Auditing, accounting, and logging of all or specific system or network activities</a:t>
            </a:r>
          </a:p>
          <a:p>
            <a:pPr marL="285750" indent="-285750" algn="just">
              <a:spcBef>
                <a:spcPts val="300"/>
              </a:spcBef>
              <a:spcAft>
                <a:spcPts val="3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Practice safe computing – avoid sources of infection, download from only “good” sites, </a:t>
            </a:r>
            <a:r>
              <a:rPr lang="en-US" dirty="0" err="1">
                <a:latin typeface="Times New Roman" panose="02020603050405020304" pitchFamily="18" charset="0"/>
                <a:cs typeface="Times New Roman" panose="02020603050405020304" pitchFamily="18" charset="0"/>
              </a:rPr>
              <a:t>etc</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6AD31AB6-2394-4571-A1EB-6C1093724F2C}"/>
              </a:ext>
            </a:extLst>
          </p:cNvPr>
          <p:cNvSpPr>
            <a:spLocks noGrp="1"/>
          </p:cNvSpPr>
          <p:nvPr>
            <p:ph type="title"/>
          </p:nvPr>
        </p:nvSpPr>
        <p:spPr>
          <a:xfrm>
            <a:off x="145774" y="253514"/>
            <a:ext cx="7082122" cy="427523"/>
          </a:xfrm>
        </p:spPr>
        <p:txBody>
          <a:bodyPr>
            <a:noAutofit/>
          </a:bodyPr>
          <a:lstStyle/>
          <a:p>
            <a:r>
              <a:rPr lang="en-IN" sz="2800" dirty="0">
                <a:latin typeface="Times New Roman" panose="02020603050405020304" pitchFamily="18" charset="0"/>
                <a:cs typeface="Times New Roman" panose="02020603050405020304" pitchFamily="18" charset="0"/>
              </a:rPr>
              <a:t>Implementing Security Defences :</a:t>
            </a:r>
          </a:p>
        </p:txBody>
      </p:sp>
    </p:spTree>
    <p:extLst>
      <p:ext uri="{BB962C8B-B14F-4D97-AF65-F5344CB8AC3E}">
        <p14:creationId xmlns:p14="http://schemas.microsoft.com/office/powerpoint/2010/main" val="36145483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98AEF8-2C55-44F7-A8FD-0D119C6903FC}"/>
              </a:ext>
            </a:extLst>
          </p:cNvPr>
          <p:cNvSpPr>
            <a:spLocks noGrp="1"/>
          </p:cNvSpPr>
          <p:nvPr>
            <p:ph idx="1"/>
          </p:nvPr>
        </p:nvSpPr>
        <p:spPr>
          <a:xfrm>
            <a:off x="453325" y="927652"/>
            <a:ext cx="8237348" cy="5249311"/>
          </a:xfrm>
        </p:spPr>
        <p:txBody>
          <a:bodyPr>
            <a:normAutofit/>
          </a:bodyPr>
          <a:lstStyle/>
          <a:p>
            <a:pPr marL="285750" indent="-285750" algn="just">
              <a:lnSpc>
                <a:spcPct val="100000"/>
              </a:lnSpc>
              <a:spcBef>
                <a:spcPts val="700"/>
              </a:spcBef>
              <a:spcAft>
                <a:spcPts val="700"/>
              </a:spcAf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 firewall </a:t>
            </a:r>
            <a:r>
              <a:rPr lang="en-US" dirty="0">
                <a:latin typeface="Times New Roman" panose="02020603050405020304" pitchFamily="18" charset="0"/>
                <a:cs typeface="Times New Roman" panose="02020603050405020304" pitchFamily="18" charset="0"/>
              </a:rPr>
              <a:t>is a computer, appliance, or router that </a:t>
            </a:r>
            <a:r>
              <a:rPr lang="en-US" b="1" dirty="0">
                <a:latin typeface="Times New Roman" panose="02020603050405020304" pitchFamily="18" charset="0"/>
                <a:cs typeface="Times New Roman" panose="02020603050405020304" pitchFamily="18" charset="0"/>
              </a:rPr>
              <a:t>sits</a:t>
            </a:r>
            <a:r>
              <a:rPr lang="en-US" dirty="0">
                <a:latin typeface="Times New Roman" panose="02020603050405020304" pitchFamily="18" charset="0"/>
                <a:cs typeface="Times New Roman" panose="02020603050405020304" pitchFamily="18" charset="0"/>
              </a:rPr>
              <a:t> between the </a:t>
            </a:r>
            <a:r>
              <a:rPr lang="en-US" b="1" dirty="0">
                <a:latin typeface="Times New Roman" panose="02020603050405020304" pitchFamily="18" charset="0"/>
                <a:cs typeface="Times New Roman" panose="02020603050405020304" pitchFamily="18" charset="0"/>
              </a:rPr>
              <a:t>trusted and the untrusted. </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 network firewall limits network access between the </a:t>
            </a:r>
            <a:r>
              <a:rPr lang="en-US" b="1" dirty="0">
                <a:latin typeface="Times New Roman" panose="02020603050405020304" pitchFamily="18" charset="0"/>
                <a:cs typeface="Times New Roman" panose="02020603050405020304" pitchFamily="18" charset="0"/>
              </a:rPr>
              <a:t>two security domains </a:t>
            </a:r>
            <a:r>
              <a:rPr lang="en-US" dirty="0">
                <a:latin typeface="Times New Roman" panose="02020603050405020304" pitchFamily="18" charset="0"/>
                <a:cs typeface="Times New Roman" panose="02020603050405020304" pitchFamily="18" charset="0"/>
              </a:rPr>
              <a:t>and monitors and logs all connections. </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It can also limit connections based on source or destination address, source or destination port, or direction of the connection.</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 firewall may allow only HTTP to pass from all hosts outside the firewall to the web server within the firewall. </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 common implementation has the Internet as the untrusted domain; a semi-trusted and semi-secure network, called the demilitarized zone (DMZ).</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Connections are allowed from the Internet to the DMZ computers and from the company computers to the Internet but are not allowed from the Internet or DMZ computers to the company computers.</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C39BE860-8CEC-413D-B4C6-E6B71A8B91DE}"/>
              </a:ext>
            </a:extLst>
          </p:cNvPr>
          <p:cNvSpPr>
            <a:spLocks noGrp="1"/>
          </p:cNvSpPr>
          <p:nvPr>
            <p:ph type="title"/>
          </p:nvPr>
        </p:nvSpPr>
        <p:spPr>
          <a:xfrm>
            <a:off x="0" y="253514"/>
            <a:ext cx="7227896" cy="479910"/>
          </a:xfrm>
        </p:spPr>
        <p:txBody>
          <a:bodyPr>
            <a:normAutofit/>
          </a:bodyPr>
          <a:lstStyle/>
          <a:p>
            <a:r>
              <a:rPr lang="en-US" sz="2800" dirty="0">
                <a:latin typeface="Times New Roman" panose="02020603050405020304" pitchFamily="18" charset="0"/>
                <a:cs typeface="Times New Roman" panose="02020603050405020304" pitchFamily="18" charset="0"/>
              </a:rPr>
              <a:t>Firewalling to Protect Systems and Networks: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333207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FE0A85-8C9E-4135-A90B-B7EF79297595}"/>
              </a:ext>
            </a:extLst>
          </p:cNvPr>
          <p:cNvSpPr>
            <a:spLocks noGrp="1"/>
          </p:cNvSpPr>
          <p:nvPr>
            <p:ph idx="1"/>
          </p:nvPr>
        </p:nvSpPr>
        <p:spPr>
          <a:xfrm>
            <a:off x="453325" y="993913"/>
            <a:ext cx="8237348" cy="5183050"/>
          </a:xfrm>
        </p:spPr>
        <p:txBody>
          <a:bodyPr>
            <a:normAutofit/>
          </a:bodyPr>
          <a:lstStyle/>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Optionally, controlled communications may be allowed between the DMZ and one company computer or more. </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For instance, a web server on the DMZ may need to query a database server on the corporate network.</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With a firewall, however, access is contained, and any DMZ systems that are broken into still are unable to access the company computers.</a:t>
            </a:r>
            <a:endParaRPr lang="en-US" b="0" dirty="0">
              <a:solidFill>
                <a:srgbClr val="000000"/>
              </a:solidFill>
              <a:effectLst/>
              <a:latin typeface="Times New Roman" panose="02020603050405020304" pitchFamily="18" charset="0"/>
              <a:cs typeface="Times New Roman" panose="02020603050405020304" pitchFamily="18" charset="0"/>
            </a:endParaRPr>
          </a:p>
          <a:p>
            <a:pPr marL="285750" indent="-285750" algn="just">
              <a:lnSpc>
                <a:spcPct val="100000"/>
              </a:lnSpc>
              <a:spcBef>
                <a:spcPts val="700"/>
              </a:spcBef>
              <a:spcAft>
                <a:spcPts val="700"/>
              </a:spcAft>
              <a:buFont typeface="Wingdings" panose="05000000000000000000" pitchFamily="2" charset="2"/>
              <a:buChar char="q"/>
            </a:pPr>
            <a:r>
              <a:rPr lang="en-US" b="0" dirty="0">
                <a:solidFill>
                  <a:srgbClr val="000000"/>
                </a:solidFill>
                <a:effectLst/>
                <a:latin typeface="Times New Roman" panose="02020603050405020304" pitchFamily="18" charset="0"/>
                <a:cs typeface="Times New Roman" panose="02020603050405020304" pitchFamily="18" charset="0"/>
              </a:rPr>
              <a:t>Firewalls themselves need to be resistant to attacks, and unfortunately have several vulnerabilities:</a:t>
            </a:r>
          </a:p>
          <a:p>
            <a:pPr marL="742950" lvl="1" indent="-285750" algn="just">
              <a:lnSpc>
                <a:spcPct val="100000"/>
              </a:lnSpc>
              <a:spcBef>
                <a:spcPts val="700"/>
              </a:spcBef>
              <a:spcAft>
                <a:spcPts val="700"/>
              </a:spcAft>
              <a:buFont typeface="Arial" panose="020B0604020202020204" pitchFamily="34" charset="0"/>
              <a:buChar char="•"/>
            </a:pPr>
            <a:r>
              <a:rPr lang="en-US" sz="1800" b="1" dirty="0">
                <a:solidFill>
                  <a:srgbClr val="000000"/>
                </a:solidFill>
                <a:effectLst/>
                <a:latin typeface="Times New Roman" panose="02020603050405020304" pitchFamily="18" charset="0"/>
                <a:cs typeface="Times New Roman" panose="02020603050405020304" pitchFamily="18" charset="0"/>
              </a:rPr>
              <a:t>Tunneling, </a:t>
            </a:r>
            <a:r>
              <a:rPr lang="en-US" sz="1800" b="0" dirty="0">
                <a:solidFill>
                  <a:srgbClr val="000000"/>
                </a:solidFill>
                <a:effectLst/>
                <a:latin typeface="Times New Roman" panose="02020603050405020304" pitchFamily="18" charset="0"/>
                <a:cs typeface="Times New Roman" panose="02020603050405020304" pitchFamily="18" charset="0"/>
              </a:rPr>
              <a:t>which involves encapsulating forbidden traffic inside of packets that are allowed.</a:t>
            </a:r>
          </a:p>
          <a:p>
            <a:pPr marL="742950" lvl="1" indent="-285750" algn="just">
              <a:lnSpc>
                <a:spcPct val="100000"/>
              </a:lnSpc>
              <a:spcBef>
                <a:spcPts val="700"/>
              </a:spcBef>
              <a:spcAft>
                <a:spcPts val="700"/>
              </a:spcAft>
              <a:buFont typeface="Arial" panose="020B0604020202020204" pitchFamily="34" charset="0"/>
              <a:buChar char="•"/>
            </a:pPr>
            <a:r>
              <a:rPr lang="en-US" sz="1800" b="0" dirty="0">
                <a:solidFill>
                  <a:srgbClr val="000000"/>
                </a:solidFill>
                <a:effectLst/>
                <a:latin typeface="Times New Roman" panose="02020603050405020304" pitchFamily="18" charset="0"/>
                <a:cs typeface="Times New Roman" panose="02020603050405020304" pitchFamily="18" charset="0"/>
              </a:rPr>
              <a:t>Denial of service attacks addressed at the firewall itself.</a:t>
            </a:r>
          </a:p>
          <a:p>
            <a:pPr marL="742950" lvl="1" indent="-285750" algn="just">
              <a:lnSpc>
                <a:spcPct val="100000"/>
              </a:lnSpc>
              <a:spcBef>
                <a:spcPts val="700"/>
              </a:spcBef>
              <a:spcAft>
                <a:spcPts val="700"/>
              </a:spcAft>
              <a:buFont typeface="Arial" panose="020B0604020202020204" pitchFamily="34" charset="0"/>
              <a:buChar char="•"/>
            </a:pPr>
            <a:r>
              <a:rPr lang="en-US" sz="1800" b="0" dirty="0">
                <a:solidFill>
                  <a:srgbClr val="000000"/>
                </a:solidFill>
                <a:effectLst/>
                <a:latin typeface="Times New Roman" panose="02020603050405020304" pitchFamily="18" charset="0"/>
                <a:cs typeface="Times New Roman" panose="02020603050405020304" pitchFamily="18" charset="0"/>
              </a:rPr>
              <a:t>Spoofing, in which an unauthorized host sends packets to the firewall with the return address of an authorized host.</a:t>
            </a:r>
          </a:p>
          <a:p>
            <a:pPr marL="457200" lvl="1" indent="0" algn="just">
              <a:lnSpc>
                <a:spcPct val="100000"/>
              </a:lnSpc>
              <a:spcBef>
                <a:spcPts val="700"/>
              </a:spcBef>
              <a:spcAft>
                <a:spcPts val="700"/>
              </a:spcAft>
              <a:buNone/>
            </a:pPr>
            <a:endParaRPr lang="en-US" sz="1800" b="0" dirty="0">
              <a:solidFill>
                <a:srgbClr val="000000"/>
              </a:solidFill>
              <a:effectLst/>
              <a:latin typeface="Times New Roman" panose="02020603050405020304" pitchFamily="18" charset="0"/>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1F11F669-0FB2-485B-9B2E-00A273B785E6}"/>
              </a:ext>
            </a:extLst>
          </p:cNvPr>
          <p:cNvSpPr>
            <a:spLocks noGrp="1"/>
          </p:cNvSpPr>
          <p:nvPr>
            <p:ph type="title"/>
          </p:nvPr>
        </p:nvSpPr>
        <p:spPr>
          <a:xfrm>
            <a:off x="145773" y="253514"/>
            <a:ext cx="7885043" cy="479910"/>
          </a:xfrm>
        </p:spPr>
        <p:txBody>
          <a:bodyPr>
            <a:normAutofit/>
          </a:bodyPr>
          <a:lstStyle/>
          <a:p>
            <a:r>
              <a:rPr lang="en-US" sz="2800" dirty="0">
                <a:latin typeface="Times New Roman" panose="02020603050405020304" pitchFamily="18" charset="0"/>
                <a:cs typeface="Times New Roman" panose="02020603050405020304" pitchFamily="18" charset="0"/>
              </a:rPr>
              <a:t>Firewalling to Protect Systems and Networks:</a:t>
            </a:r>
            <a:endParaRPr lang="en-IN" sz="2800" dirty="0"/>
          </a:p>
        </p:txBody>
      </p:sp>
    </p:spTree>
    <p:extLst>
      <p:ext uri="{BB962C8B-B14F-4D97-AF65-F5344CB8AC3E}">
        <p14:creationId xmlns:p14="http://schemas.microsoft.com/office/powerpoint/2010/main" val="42248349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D8FAB2-F631-4BF8-B6B1-16BC4906968C}"/>
              </a:ext>
            </a:extLst>
          </p:cNvPr>
          <p:cNvSpPr>
            <a:spLocks noGrp="1"/>
          </p:cNvSpPr>
          <p:nvPr>
            <p:ph idx="1"/>
          </p:nvPr>
        </p:nvSpPr>
        <p:spPr>
          <a:xfrm>
            <a:off x="453325" y="901148"/>
            <a:ext cx="8237348" cy="5275815"/>
          </a:xfrm>
        </p:spPr>
        <p:txBody>
          <a:bodyPr>
            <a:normAutofit/>
          </a:bodyPr>
          <a:lstStyle/>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personal firewall </a:t>
            </a:r>
            <a:r>
              <a:rPr lang="en-US" dirty="0">
                <a:latin typeface="Times New Roman" panose="02020603050405020304" pitchFamily="18" charset="0"/>
                <a:cs typeface="Times New Roman" panose="02020603050405020304" pitchFamily="18" charset="0"/>
              </a:rPr>
              <a:t>is a software layer either included with the operating system or added as an application. </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Rather than limiting communication between security domains, it limits communication to (and possibly from) a given host. </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For example : A user could add a personal firewall to her PC so that a Trojan horse would be denied access to the network to which the PC is connected. </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An </a:t>
            </a:r>
            <a:r>
              <a:rPr lang="en-US" b="1" dirty="0">
                <a:latin typeface="Times New Roman" panose="02020603050405020304" pitchFamily="18" charset="0"/>
                <a:cs typeface="Times New Roman" panose="02020603050405020304" pitchFamily="18" charset="0"/>
              </a:rPr>
              <a:t>application proxy firewall </a:t>
            </a:r>
            <a:r>
              <a:rPr lang="en-US" dirty="0">
                <a:latin typeface="Times New Roman" panose="02020603050405020304" pitchFamily="18" charset="0"/>
                <a:cs typeface="Times New Roman" panose="02020603050405020304" pitchFamily="18" charset="0"/>
              </a:rPr>
              <a:t>understands the protocols that applications speak across the network. </a:t>
            </a:r>
          </a:p>
          <a:p>
            <a:pPr marL="285750" indent="-285750" algn="just">
              <a:lnSpc>
                <a:spcPct val="100000"/>
              </a:lnSpc>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For example, SMTP is used for mail transfer. It can monitor the traffic as it forwards the message, watching for and disabling illegal commands, attempts to exploit,</a:t>
            </a:r>
            <a:r>
              <a:rPr lang="en-IN" dirty="0">
                <a:latin typeface="Times New Roman" panose="02020603050405020304" pitchFamily="18" charset="0"/>
                <a:cs typeface="Times New Roman" panose="02020603050405020304" pitchFamily="18" charset="0"/>
              </a:rPr>
              <a:t> bugs, and so.</a:t>
            </a:r>
          </a:p>
          <a:p>
            <a:pPr marL="285750" indent="-285750" algn="just">
              <a:lnSpc>
                <a:spcPct val="100000"/>
              </a:lnSpc>
              <a:spcBef>
                <a:spcPts val="700"/>
              </a:spcBef>
              <a:spcAft>
                <a:spcPts val="700"/>
              </a:spcAf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System-call firewalls </a:t>
            </a:r>
            <a:r>
              <a:rPr lang="en-US" dirty="0">
                <a:latin typeface="Times New Roman" panose="02020603050405020304" pitchFamily="18" charset="0"/>
                <a:cs typeface="Times New Roman" panose="02020603050405020304" pitchFamily="18" charset="0"/>
              </a:rPr>
              <a:t>sit between applications and the kernel, monitoring system-call execution.</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ADAAFE1-7087-4535-88BE-6A76B5380BF7}"/>
              </a:ext>
            </a:extLst>
          </p:cNvPr>
          <p:cNvSpPr>
            <a:spLocks noGrp="1"/>
          </p:cNvSpPr>
          <p:nvPr>
            <p:ph type="title"/>
          </p:nvPr>
        </p:nvSpPr>
        <p:spPr>
          <a:xfrm>
            <a:off x="0" y="253514"/>
            <a:ext cx="7227896" cy="479910"/>
          </a:xfrm>
        </p:spPr>
        <p:txBody>
          <a:bodyPr/>
          <a:lstStyle/>
          <a:p>
            <a:r>
              <a:rPr lang="en-US" sz="2400" dirty="0">
                <a:latin typeface="Times New Roman" panose="02020603050405020304" pitchFamily="18" charset="0"/>
                <a:cs typeface="Times New Roman" panose="02020603050405020304" pitchFamily="18" charset="0"/>
              </a:rPr>
              <a:t>Firewalling to Protect Systems and Networks:</a:t>
            </a:r>
            <a:endParaRPr lang="en-IN" dirty="0"/>
          </a:p>
        </p:txBody>
      </p:sp>
    </p:spTree>
    <p:extLst>
      <p:ext uri="{BB962C8B-B14F-4D97-AF65-F5344CB8AC3E}">
        <p14:creationId xmlns:p14="http://schemas.microsoft.com/office/powerpoint/2010/main" val="329332789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96CFA3-7A58-4084-AEAF-0E705D2E90DE}"/>
              </a:ext>
            </a:extLst>
          </p:cNvPr>
          <p:cNvSpPr>
            <a:spLocks noGrp="1"/>
          </p:cNvSpPr>
          <p:nvPr>
            <p:ph type="title"/>
          </p:nvPr>
        </p:nvSpPr>
        <p:spPr>
          <a:xfrm>
            <a:off x="106017" y="253514"/>
            <a:ext cx="8852453" cy="479910"/>
          </a:xfrm>
        </p:spPr>
        <p:txBody>
          <a:bodyPr>
            <a:noAutofit/>
          </a:bodyPr>
          <a:lstStyle/>
          <a:p>
            <a:r>
              <a:rPr lang="en-US" sz="2000" dirty="0">
                <a:latin typeface="Times New Roman" panose="02020603050405020304" pitchFamily="18" charset="0"/>
                <a:cs typeface="Times New Roman" panose="02020603050405020304" pitchFamily="18" charset="0"/>
              </a:rPr>
              <a:t>Network Security Through Domain Separation Via Firewall:</a:t>
            </a:r>
            <a:endParaRPr lang="en-IN" sz="2000"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9463D914-632A-4BE2-B81D-0881401F0F1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0" y="1099930"/>
            <a:ext cx="8083826" cy="5381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8058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267D61-D112-4CC3-86CE-6EB4C83A1DCB}"/>
              </a:ext>
            </a:extLst>
          </p:cNvPr>
          <p:cNvSpPr>
            <a:spLocks noGrp="1"/>
          </p:cNvSpPr>
          <p:nvPr>
            <p:ph idx="1"/>
          </p:nvPr>
        </p:nvSpPr>
        <p:spPr>
          <a:xfrm>
            <a:off x="453325" y="848139"/>
            <a:ext cx="8237348" cy="5658678"/>
          </a:xfrm>
        </p:spPr>
        <p:txBody>
          <a:bodyPr>
            <a:normAutofit/>
          </a:bodyPr>
          <a:lstStyle/>
          <a:p>
            <a:pPr marL="285750" indent="-285750" algn="just">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U.S. Department of Defense Trusted Computer System Evaluation Criteria specify four security classifications in systems: A, B, C, and D. </a:t>
            </a:r>
          </a:p>
          <a:p>
            <a:pPr marL="285750" indent="-285750" algn="just">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lowest-level classification is </a:t>
            </a:r>
            <a:r>
              <a:rPr lang="en-US" b="1" dirty="0">
                <a:latin typeface="Times New Roman" panose="02020603050405020304" pitchFamily="18" charset="0"/>
                <a:cs typeface="Times New Roman" panose="02020603050405020304" pitchFamily="18" charset="0"/>
              </a:rPr>
              <a:t>division D</a:t>
            </a:r>
            <a:r>
              <a:rPr lang="en-US" dirty="0">
                <a:latin typeface="Times New Roman" panose="02020603050405020304" pitchFamily="18" charset="0"/>
                <a:cs typeface="Times New Roman" panose="02020603050405020304" pitchFamily="18" charset="0"/>
              </a:rPr>
              <a:t>, or minimal protection.</a:t>
            </a:r>
          </a:p>
          <a:p>
            <a:pPr marL="285750" indent="-285750" algn="just">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Division D includes only one class and is used for systems that have failed to meet the requirements of any of the other security classes.</a:t>
            </a:r>
          </a:p>
          <a:p>
            <a:pPr marL="285750" indent="-285750" algn="just">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 – Provides discretionary protection through auditing</a:t>
            </a:r>
          </a:p>
          <a:p>
            <a:pPr algn="just">
              <a:spcBef>
                <a:spcPts val="700"/>
              </a:spcBef>
              <a:spcAft>
                <a:spcPts val="700"/>
              </a:spcAft>
              <a:buNone/>
            </a:pPr>
            <a:r>
              <a:rPr lang="en-US" dirty="0">
                <a:latin typeface="Times New Roman" panose="02020603050405020304" pitchFamily="18" charset="0"/>
                <a:cs typeface="Times New Roman" panose="02020603050405020304" pitchFamily="18" charset="0"/>
              </a:rPr>
              <a:t>           →  Divided into C1 and C2 </a:t>
            </a:r>
          </a:p>
          <a:p>
            <a:pPr algn="just">
              <a:spcBef>
                <a:spcPts val="700"/>
              </a:spcBef>
              <a:spcAft>
                <a:spcPts val="700"/>
              </a:spcAft>
              <a:buNone/>
            </a:pPr>
            <a:r>
              <a:rPr lang="en-US" dirty="0">
                <a:latin typeface="Times New Roman" panose="02020603050405020304" pitchFamily="18" charset="0"/>
                <a:cs typeface="Times New Roman" panose="02020603050405020304" pitchFamily="18" charset="0"/>
              </a:rPr>
              <a:t>                         →   C1 identifies cooperating users with the same level of protection</a:t>
            </a:r>
          </a:p>
          <a:p>
            <a:pPr algn="just">
              <a:spcBef>
                <a:spcPts val="700"/>
              </a:spcBef>
              <a:spcAft>
                <a:spcPts val="700"/>
              </a:spcAft>
              <a:buNone/>
            </a:pPr>
            <a:r>
              <a:rPr lang="en-US" dirty="0">
                <a:latin typeface="Times New Roman" panose="02020603050405020304" pitchFamily="18" charset="0"/>
                <a:cs typeface="Times New Roman" panose="02020603050405020304" pitchFamily="18" charset="0"/>
              </a:rPr>
              <a:t>                       → C2 allows user-level access control</a:t>
            </a:r>
          </a:p>
          <a:p>
            <a:pPr marL="285750" indent="-285750" algn="just">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B – All the properties of C, however each object may have unique sensitivity labels</a:t>
            </a:r>
          </a:p>
          <a:p>
            <a:pPr algn="just">
              <a:spcBef>
                <a:spcPts val="700"/>
              </a:spcBef>
              <a:spcAft>
                <a:spcPts val="700"/>
              </a:spcAft>
              <a:buNone/>
            </a:pPr>
            <a:r>
              <a:rPr lang="en-US" dirty="0">
                <a:latin typeface="Times New Roman" panose="02020603050405020304" pitchFamily="18" charset="0"/>
                <a:cs typeface="Times New Roman" panose="02020603050405020304" pitchFamily="18" charset="0"/>
              </a:rPr>
              <a:t>                     →  Divided into B1, B2, and B3</a:t>
            </a:r>
          </a:p>
          <a:p>
            <a:pPr marL="285750" indent="-285750" algn="just">
              <a:spcBef>
                <a:spcPts val="700"/>
              </a:spcBef>
              <a:spcAft>
                <a:spcPts val="70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 – Uses formal design and verification techniques to ensure security</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D2BABE2-545F-4492-8ADD-E6D2CFDE4207}"/>
              </a:ext>
            </a:extLst>
          </p:cNvPr>
          <p:cNvSpPr>
            <a:spLocks noGrp="1"/>
          </p:cNvSpPr>
          <p:nvPr>
            <p:ph type="title"/>
          </p:nvPr>
        </p:nvSpPr>
        <p:spPr>
          <a:xfrm>
            <a:off x="0" y="253514"/>
            <a:ext cx="7227896" cy="427523"/>
          </a:xfrm>
        </p:spPr>
        <p:txBody>
          <a:bodyPr>
            <a:noAutofit/>
          </a:bodyPr>
          <a:lstStyle/>
          <a:p>
            <a:br>
              <a:rPr lang="en-IN" sz="2800" b="1" i="0" dirty="0">
                <a:effectLst/>
                <a:latin typeface="Times New Roman" panose="02020603050405020304" pitchFamily="18" charset="0"/>
              </a:rPr>
            </a:br>
            <a:r>
              <a:rPr lang="en-IN" sz="2800" b="1" i="0" dirty="0">
                <a:effectLst/>
                <a:latin typeface="Times New Roman" panose="02020603050405020304" pitchFamily="18" charset="0"/>
              </a:rPr>
              <a:t>Computer-Security Classifications :</a:t>
            </a:r>
            <a:br>
              <a:rPr lang="en-IN" sz="2800" b="1" i="0" dirty="0">
                <a:effectLst/>
                <a:latin typeface="Times New Roman" panose="02020603050405020304" pitchFamily="18" charset="0"/>
              </a:rPr>
            </a:br>
            <a:endParaRPr lang="en-IN" sz="2800" dirty="0"/>
          </a:p>
        </p:txBody>
      </p:sp>
    </p:spTree>
    <p:extLst>
      <p:ext uri="{BB962C8B-B14F-4D97-AF65-F5344CB8AC3E}">
        <p14:creationId xmlns:p14="http://schemas.microsoft.com/office/powerpoint/2010/main" val="1951344304"/>
      </p:ext>
    </p:extLst>
  </p:cSld>
  <p:clrMapOvr>
    <a:masterClrMapping/>
  </p:clrMapOvr>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id="{59065FFD-95A5-4387-9888-595CD54FE3CE}" vid="{8A46A32C-1227-47D7-A4C8-360887988C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 UNIT- 5</Template>
  <TotalTime>836</TotalTime>
  <Words>11769</Words>
  <Application>Microsoft Office PowerPoint</Application>
  <PresentationFormat>On-screen Show (4:3)</PresentationFormat>
  <Paragraphs>718</Paragraphs>
  <Slides>100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100</vt:i4>
      </vt:variant>
    </vt:vector>
  </HeadingPairs>
  <TitlesOfParts>
    <vt:vector size="108" baseType="lpstr">
      <vt:lpstr>Arial</vt:lpstr>
      <vt:lpstr>Calibri</vt:lpstr>
      <vt:lpstr>Century Gothic</vt:lpstr>
      <vt:lpstr>Segoe UI</vt:lpstr>
      <vt:lpstr>Segoe UI Light</vt:lpstr>
      <vt:lpstr>Times New Roman</vt:lpstr>
      <vt:lpstr>Wingdings</vt:lpstr>
      <vt:lpstr>Get Started with 3D</vt:lpstr>
      <vt:lpstr>PowerPoint Presentation</vt:lpstr>
      <vt:lpstr>CONTENT : </vt:lpstr>
      <vt:lpstr>CONTENT :</vt:lpstr>
      <vt:lpstr>GOALS OF PROTECTION :</vt:lpstr>
      <vt:lpstr>GOALS OF PROTECTION :</vt:lpstr>
      <vt:lpstr>PRINCIPLES OF PROTECTION:</vt:lpstr>
      <vt:lpstr>PRINCIPLES OF PROTECTION:</vt:lpstr>
      <vt:lpstr>Domain of Protection :</vt:lpstr>
      <vt:lpstr>Domain of Protection :</vt:lpstr>
      <vt:lpstr>Domain of Protection :</vt:lpstr>
      <vt:lpstr>Domain of Protection :</vt:lpstr>
      <vt:lpstr>Domain of Protection :</vt:lpstr>
      <vt:lpstr>Access Matrix :</vt:lpstr>
      <vt:lpstr>Access Matrix :</vt:lpstr>
      <vt:lpstr>Access Matrix :</vt:lpstr>
      <vt:lpstr>Access Matrix of Figure A with Domains as Objects :</vt:lpstr>
      <vt:lpstr>Access Matrix :</vt:lpstr>
      <vt:lpstr>Access Matrix with Copy Rights  and  Access Matrix With Owner Rights</vt:lpstr>
      <vt:lpstr> Access Matrix  :</vt:lpstr>
      <vt:lpstr>Modified Access Matrix of Figure B :</vt:lpstr>
      <vt:lpstr>Implementation of the Access Matrix :</vt:lpstr>
      <vt:lpstr>Implementation of the Access Matrix :</vt:lpstr>
      <vt:lpstr>Implementation of the Access Matrix :</vt:lpstr>
      <vt:lpstr>Implementation of the Access Matrix :</vt:lpstr>
      <vt:lpstr>Implementation of the Access Matrix :</vt:lpstr>
      <vt:lpstr>Implementation of the Access Matrix :</vt:lpstr>
      <vt:lpstr>Implementation of the Access Matrix :</vt:lpstr>
      <vt:lpstr>Implementation of the Access Matrix :</vt:lpstr>
      <vt:lpstr>Access Control :</vt:lpstr>
      <vt:lpstr>Access Control :</vt:lpstr>
      <vt:lpstr>Revocation of Access Rights :</vt:lpstr>
      <vt:lpstr>Revocation of Access Rights : Access List </vt:lpstr>
      <vt:lpstr>Revocation of Access Rights : capabilities</vt:lpstr>
      <vt:lpstr>Revocation of Access Rights : capabilities</vt:lpstr>
      <vt:lpstr>Revocation of Access Rights : capabilities</vt:lpstr>
      <vt:lpstr>Revocation of Access Rights : capabilities</vt:lpstr>
      <vt:lpstr>The Security Problem :</vt:lpstr>
      <vt:lpstr>The Security Problem :</vt:lpstr>
      <vt:lpstr>Security Violations :</vt:lpstr>
      <vt:lpstr>Security Violations :</vt:lpstr>
      <vt:lpstr>Security Methods :</vt:lpstr>
      <vt:lpstr>Standard Security Attacks :</vt:lpstr>
      <vt:lpstr>Security Measure Levels :</vt:lpstr>
      <vt:lpstr>Security Measure Levels :</vt:lpstr>
      <vt:lpstr>Program Threats :</vt:lpstr>
      <vt:lpstr> Trojan Horse: </vt:lpstr>
      <vt:lpstr>Trojan Horse:</vt:lpstr>
      <vt:lpstr>Trojan Horse:</vt:lpstr>
      <vt:lpstr>Trojan Horse:</vt:lpstr>
      <vt:lpstr>Trap Door:</vt:lpstr>
      <vt:lpstr>Logic Bomb   &amp; Stack and Buffer Overflow :</vt:lpstr>
      <vt:lpstr> Stack and Buffer Overflow: </vt:lpstr>
      <vt:lpstr>C Program with Buffer-overflow Condition :</vt:lpstr>
      <vt:lpstr>Layout of Typical Stack Frame :</vt:lpstr>
      <vt:lpstr>Modified Shell Code :</vt:lpstr>
      <vt:lpstr>Hypothetical Stack Frame :</vt:lpstr>
      <vt:lpstr>Great Programming Required? : </vt:lpstr>
      <vt:lpstr> Program Threats : Viruses  </vt:lpstr>
      <vt:lpstr>Program Threats :</vt:lpstr>
      <vt:lpstr>Program Threats :</vt:lpstr>
      <vt:lpstr>A Boot-sector Computer Virus :</vt:lpstr>
      <vt:lpstr>The Threat Continues :</vt:lpstr>
      <vt:lpstr>System and Network Threats : </vt:lpstr>
      <vt:lpstr>System and Network Threats : </vt:lpstr>
      <vt:lpstr>System and Network Threats : </vt:lpstr>
      <vt:lpstr>System and Network Threats : </vt:lpstr>
      <vt:lpstr>The Morris Internet worm :</vt:lpstr>
      <vt:lpstr>System and Network Threats :</vt:lpstr>
      <vt:lpstr>System and Network Threats :</vt:lpstr>
      <vt:lpstr>System and Network Threats :</vt:lpstr>
      <vt:lpstr>Cryptography as a Security Tool :</vt:lpstr>
      <vt:lpstr>Cryptography as a Security Tool :</vt:lpstr>
      <vt:lpstr>Cryptography as a Security Tool :</vt:lpstr>
      <vt:lpstr>Encryption :</vt:lpstr>
      <vt:lpstr>Encryption  :</vt:lpstr>
      <vt:lpstr>Symmetric Encryption :</vt:lpstr>
      <vt:lpstr>Symmetric Encryption :</vt:lpstr>
      <vt:lpstr>A secure communication over an insecure medium :</vt:lpstr>
      <vt:lpstr>Asymmetric Encryption :</vt:lpstr>
      <vt:lpstr>Asymmetric Encryption :</vt:lpstr>
      <vt:lpstr>Asymmetric Encryption Example :</vt:lpstr>
      <vt:lpstr>Encryption and decryption using RSA asymmetric cryptography :</vt:lpstr>
      <vt:lpstr>Cryptography  :</vt:lpstr>
      <vt:lpstr>Authentication :</vt:lpstr>
      <vt:lpstr>Authentication :</vt:lpstr>
      <vt:lpstr>Authentication :</vt:lpstr>
      <vt:lpstr>Authentication :</vt:lpstr>
      <vt:lpstr>Authentication :</vt:lpstr>
      <vt:lpstr>A man-in-the-middle attack on asymmetric cryptography:</vt:lpstr>
      <vt:lpstr>Implementation of Cryptography :</vt:lpstr>
      <vt:lpstr>User Authentication :</vt:lpstr>
      <vt:lpstr>User Authentication : </vt:lpstr>
      <vt:lpstr>User Authentication : </vt:lpstr>
      <vt:lpstr>User Authentication : </vt:lpstr>
      <vt:lpstr>Implementing Security Defences :</vt:lpstr>
      <vt:lpstr>Firewalling to Protect Systems and Networks:</vt:lpstr>
      <vt:lpstr>Firewalling to Protect Systems and Networks:</vt:lpstr>
      <vt:lpstr>Firewalling to Protect Systems and Networks:</vt:lpstr>
      <vt:lpstr>Network Security Through Domain Separation Via Firewall:</vt:lpstr>
      <vt:lpstr> Computer-Security Classifications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APCMSEC</dc:creator>
  <cp:lastModifiedBy>APCMSEC</cp:lastModifiedBy>
  <cp:revision>57</cp:revision>
  <cp:lastPrinted>2020-07-22T06:23:07Z</cp:lastPrinted>
  <dcterms:created xsi:type="dcterms:W3CDTF">2021-07-26T07:52:14Z</dcterms:created>
  <dcterms:modified xsi:type="dcterms:W3CDTF">2021-09-02T05:58:45Z</dcterms:modified>
</cp:coreProperties>
</file>