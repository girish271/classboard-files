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91" r:id="rId9"/>
    <p:sldId id="263" r:id="rId10"/>
    <p:sldId id="264" r:id="rId11"/>
    <p:sldId id="265" r:id="rId12"/>
    <p:sldId id="266" r:id="rId13"/>
    <p:sldId id="267" r:id="rId14"/>
    <p:sldId id="269" r:id="rId15"/>
    <p:sldId id="270" r:id="rId16"/>
    <p:sldId id="268"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0EEDC-6963-35E3-800B-AE3195C098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584C19C-D887-1BB9-2581-FD348F753D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BE533B-105D-8939-D7B8-2E5F441A7FCF}"/>
              </a:ext>
            </a:extLst>
          </p:cNvPr>
          <p:cNvSpPr>
            <a:spLocks noGrp="1"/>
          </p:cNvSpPr>
          <p:nvPr>
            <p:ph type="dt" sz="half" idx="10"/>
          </p:nvPr>
        </p:nvSpPr>
        <p:spPr/>
        <p:txBody>
          <a:bodyPr/>
          <a:lstStyle/>
          <a:p>
            <a:fld id="{BCEACD13-C504-40F1-B6E9-4E5492D6C7D0}" type="datetimeFigureOut">
              <a:rPr lang="en-US" smtClean="0"/>
              <a:t>9/11/2026</a:t>
            </a:fld>
            <a:endParaRPr lang="en-US"/>
          </a:p>
        </p:txBody>
      </p:sp>
      <p:sp>
        <p:nvSpPr>
          <p:cNvPr id="5" name="Footer Placeholder 4">
            <a:extLst>
              <a:ext uri="{FF2B5EF4-FFF2-40B4-BE49-F238E27FC236}">
                <a16:creationId xmlns:a16="http://schemas.microsoft.com/office/drawing/2014/main" id="{92CB5635-E617-6EA3-3464-68A50731C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07C7B3-EE50-430B-F9B7-AF37D42D6C89}"/>
              </a:ext>
            </a:extLst>
          </p:cNvPr>
          <p:cNvSpPr>
            <a:spLocks noGrp="1"/>
          </p:cNvSpPr>
          <p:nvPr>
            <p:ph type="sldNum" sz="quarter" idx="12"/>
          </p:nvPr>
        </p:nvSpPr>
        <p:spPr/>
        <p:txBody>
          <a:bodyPr/>
          <a:lstStyle/>
          <a:p>
            <a:fld id="{A5AB2ECC-9E61-44D5-91EF-C21AC8BA8B31}" type="slidenum">
              <a:rPr lang="en-US" smtClean="0"/>
              <a:t>‹#›</a:t>
            </a:fld>
            <a:endParaRPr lang="en-US"/>
          </a:p>
        </p:txBody>
      </p:sp>
    </p:spTree>
    <p:extLst>
      <p:ext uri="{BB962C8B-B14F-4D97-AF65-F5344CB8AC3E}">
        <p14:creationId xmlns:p14="http://schemas.microsoft.com/office/powerpoint/2010/main" val="1137348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10218-99B0-CF27-12CF-F5A1AC7367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4B1986-A5A7-8092-36B8-D3B67AC95E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5B1B02-A99D-20E8-9876-F6269BE4B731}"/>
              </a:ext>
            </a:extLst>
          </p:cNvPr>
          <p:cNvSpPr>
            <a:spLocks noGrp="1"/>
          </p:cNvSpPr>
          <p:nvPr>
            <p:ph type="dt" sz="half" idx="10"/>
          </p:nvPr>
        </p:nvSpPr>
        <p:spPr/>
        <p:txBody>
          <a:bodyPr/>
          <a:lstStyle/>
          <a:p>
            <a:fld id="{BCEACD13-C504-40F1-B6E9-4E5492D6C7D0}" type="datetimeFigureOut">
              <a:rPr lang="en-US" smtClean="0"/>
              <a:t>9/11/2026</a:t>
            </a:fld>
            <a:endParaRPr lang="en-US"/>
          </a:p>
        </p:txBody>
      </p:sp>
      <p:sp>
        <p:nvSpPr>
          <p:cNvPr id="5" name="Footer Placeholder 4">
            <a:extLst>
              <a:ext uri="{FF2B5EF4-FFF2-40B4-BE49-F238E27FC236}">
                <a16:creationId xmlns:a16="http://schemas.microsoft.com/office/drawing/2014/main" id="{E7B1F535-C54A-F8CF-C2C3-34EC4EB49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E27AE-9E40-D925-45EA-4BE73DB4FB28}"/>
              </a:ext>
            </a:extLst>
          </p:cNvPr>
          <p:cNvSpPr>
            <a:spLocks noGrp="1"/>
          </p:cNvSpPr>
          <p:nvPr>
            <p:ph type="sldNum" sz="quarter" idx="12"/>
          </p:nvPr>
        </p:nvSpPr>
        <p:spPr/>
        <p:txBody>
          <a:bodyPr/>
          <a:lstStyle/>
          <a:p>
            <a:fld id="{A5AB2ECC-9E61-44D5-91EF-C21AC8BA8B31}" type="slidenum">
              <a:rPr lang="en-US" smtClean="0"/>
              <a:t>‹#›</a:t>
            </a:fld>
            <a:endParaRPr lang="en-US"/>
          </a:p>
        </p:txBody>
      </p:sp>
    </p:spTree>
    <p:extLst>
      <p:ext uri="{BB962C8B-B14F-4D97-AF65-F5344CB8AC3E}">
        <p14:creationId xmlns:p14="http://schemas.microsoft.com/office/powerpoint/2010/main" val="2336121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E793-C5C4-5BB1-596E-11AF695282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68C9AD-6CDE-344E-6C00-46FE010508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B615B7-2AED-9F76-A764-956B737826EA}"/>
              </a:ext>
            </a:extLst>
          </p:cNvPr>
          <p:cNvSpPr>
            <a:spLocks noGrp="1"/>
          </p:cNvSpPr>
          <p:nvPr>
            <p:ph type="dt" sz="half" idx="10"/>
          </p:nvPr>
        </p:nvSpPr>
        <p:spPr/>
        <p:txBody>
          <a:bodyPr/>
          <a:lstStyle/>
          <a:p>
            <a:fld id="{BCEACD13-C504-40F1-B6E9-4E5492D6C7D0}" type="datetimeFigureOut">
              <a:rPr lang="en-US" smtClean="0"/>
              <a:t>9/11/2026</a:t>
            </a:fld>
            <a:endParaRPr lang="en-US"/>
          </a:p>
        </p:txBody>
      </p:sp>
      <p:sp>
        <p:nvSpPr>
          <p:cNvPr id="5" name="Footer Placeholder 4">
            <a:extLst>
              <a:ext uri="{FF2B5EF4-FFF2-40B4-BE49-F238E27FC236}">
                <a16:creationId xmlns:a16="http://schemas.microsoft.com/office/drawing/2014/main" id="{B2C8596F-7F85-0107-5717-FE059D98A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257D34-2CE4-FAEA-663D-C61B018AEBDA}"/>
              </a:ext>
            </a:extLst>
          </p:cNvPr>
          <p:cNvSpPr>
            <a:spLocks noGrp="1"/>
          </p:cNvSpPr>
          <p:nvPr>
            <p:ph type="sldNum" sz="quarter" idx="12"/>
          </p:nvPr>
        </p:nvSpPr>
        <p:spPr/>
        <p:txBody>
          <a:bodyPr/>
          <a:lstStyle/>
          <a:p>
            <a:fld id="{A5AB2ECC-9E61-44D5-91EF-C21AC8BA8B31}" type="slidenum">
              <a:rPr lang="en-US" smtClean="0"/>
              <a:t>‹#›</a:t>
            </a:fld>
            <a:endParaRPr lang="en-US"/>
          </a:p>
        </p:txBody>
      </p:sp>
    </p:spTree>
    <p:extLst>
      <p:ext uri="{BB962C8B-B14F-4D97-AF65-F5344CB8AC3E}">
        <p14:creationId xmlns:p14="http://schemas.microsoft.com/office/powerpoint/2010/main" val="538799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CD95E-00FE-326D-DD05-E4AE20E9A0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F4200E-1FED-70D4-8751-90293099DB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47B3F5-88EB-02F3-B24A-6A329EAF0B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1C1D16-9164-B903-EE15-B695EFC5DEB7}"/>
              </a:ext>
            </a:extLst>
          </p:cNvPr>
          <p:cNvSpPr>
            <a:spLocks noGrp="1"/>
          </p:cNvSpPr>
          <p:nvPr>
            <p:ph type="dt" sz="half" idx="10"/>
          </p:nvPr>
        </p:nvSpPr>
        <p:spPr/>
        <p:txBody>
          <a:bodyPr/>
          <a:lstStyle/>
          <a:p>
            <a:fld id="{BCEACD13-C504-40F1-B6E9-4E5492D6C7D0}" type="datetimeFigureOut">
              <a:rPr lang="en-US" smtClean="0"/>
              <a:t>9/11/2026</a:t>
            </a:fld>
            <a:endParaRPr lang="en-US"/>
          </a:p>
        </p:txBody>
      </p:sp>
      <p:sp>
        <p:nvSpPr>
          <p:cNvPr id="6" name="Footer Placeholder 5">
            <a:extLst>
              <a:ext uri="{FF2B5EF4-FFF2-40B4-BE49-F238E27FC236}">
                <a16:creationId xmlns:a16="http://schemas.microsoft.com/office/drawing/2014/main" id="{96E396F6-E900-CDEA-06AE-C2EA9D1136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1AE506-7207-E517-02D4-DF5B670DCD8D}"/>
              </a:ext>
            </a:extLst>
          </p:cNvPr>
          <p:cNvSpPr>
            <a:spLocks noGrp="1"/>
          </p:cNvSpPr>
          <p:nvPr>
            <p:ph type="sldNum" sz="quarter" idx="12"/>
          </p:nvPr>
        </p:nvSpPr>
        <p:spPr/>
        <p:txBody>
          <a:bodyPr/>
          <a:lstStyle/>
          <a:p>
            <a:fld id="{A5AB2ECC-9E61-44D5-91EF-C21AC8BA8B31}" type="slidenum">
              <a:rPr lang="en-US" smtClean="0"/>
              <a:t>‹#›</a:t>
            </a:fld>
            <a:endParaRPr lang="en-US"/>
          </a:p>
        </p:txBody>
      </p:sp>
    </p:spTree>
    <p:extLst>
      <p:ext uri="{BB962C8B-B14F-4D97-AF65-F5344CB8AC3E}">
        <p14:creationId xmlns:p14="http://schemas.microsoft.com/office/powerpoint/2010/main" val="3807880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7F9A8-FB42-4F80-0F5D-21B7AD74C0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C6660D-B809-571B-C892-285F4CAC98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915554-F2F4-F7F3-481E-85829E5A1B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A95A60-AD7A-5BF2-81D5-4D52E0D54D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779641-1504-DC65-28D3-1559BAE676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208CF9-4EA4-00E4-20A5-14387FF3AAA8}"/>
              </a:ext>
            </a:extLst>
          </p:cNvPr>
          <p:cNvSpPr>
            <a:spLocks noGrp="1"/>
          </p:cNvSpPr>
          <p:nvPr>
            <p:ph type="dt" sz="half" idx="10"/>
          </p:nvPr>
        </p:nvSpPr>
        <p:spPr/>
        <p:txBody>
          <a:bodyPr/>
          <a:lstStyle/>
          <a:p>
            <a:fld id="{BCEACD13-C504-40F1-B6E9-4E5492D6C7D0}" type="datetimeFigureOut">
              <a:rPr lang="en-US" smtClean="0"/>
              <a:t>9/11/2026</a:t>
            </a:fld>
            <a:endParaRPr lang="en-US"/>
          </a:p>
        </p:txBody>
      </p:sp>
      <p:sp>
        <p:nvSpPr>
          <p:cNvPr id="8" name="Footer Placeholder 7">
            <a:extLst>
              <a:ext uri="{FF2B5EF4-FFF2-40B4-BE49-F238E27FC236}">
                <a16:creationId xmlns:a16="http://schemas.microsoft.com/office/drawing/2014/main" id="{91D3625D-CC6A-4222-CC47-E60592EA01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5EACA7-622A-B2B2-4567-2CBB9117B9F7}"/>
              </a:ext>
            </a:extLst>
          </p:cNvPr>
          <p:cNvSpPr>
            <a:spLocks noGrp="1"/>
          </p:cNvSpPr>
          <p:nvPr>
            <p:ph type="sldNum" sz="quarter" idx="12"/>
          </p:nvPr>
        </p:nvSpPr>
        <p:spPr/>
        <p:txBody>
          <a:bodyPr/>
          <a:lstStyle/>
          <a:p>
            <a:fld id="{A5AB2ECC-9E61-44D5-91EF-C21AC8BA8B31}" type="slidenum">
              <a:rPr lang="en-US" smtClean="0"/>
              <a:t>‹#›</a:t>
            </a:fld>
            <a:endParaRPr lang="en-US"/>
          </a:p>
        </p:txBody>
      </p:sp>
    </p:spTree>
    <p:extLst>
      <p:ext uri="{BB962C8B-B14F-4D97-AF65-F5344CB8AC3E}">
        <p14:creationId xmlns:p14="http://schemas.microsoft.com/office/powerpoint/2010/main" val="1207859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BEC2-F4C2-7D48-21FE-DD3A051167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A386DF-1B7D-D7A6-A47A-6BDC00173A1B}"/>
              </a:ext>
            </a:extLst>
          </p:cNvPr>
          <p:cNvSpPr>
            <a:spLocks noGrp="1"/>
          </p:cNvSpPr>
          <p:nvPr>
            <p:ph type="dt" sz="half" idx="10"/>
          </p:nvPr>
        </p:nvSpPr>
        <p:spPr/>
        <p:txBody>
          <a:bodyPr/>
          <a:lstStyle/>
          <a:p>
            <a:fld id="{BCEACD13-C504-40F1-B6E9-4E5492D6C7D0}" type="datetimeFigureOut">
              <a:rPr lang="en-US" smtClean="0"/>
              <a:t>9/11/2026</a:t>
            </a:fld>
            <a:endParaRPr lang="en-US"/>
          </a:p>
        </p:txBody>
      </p:sp>
      <p:sp>
        <p:nvSpPr>
          <p:cNvPr id="4" name="Footer Placeholder 3">
            <a:extLst>
              <a:ext uri="{FF2B5EF4-FFF2-40B4-BE49-F238E27FC236}">
                <a16:creationId xmlns:a16="http://schemas.microsoft.com/office/drawing/2014/main" id="{C2135CA8-7F41-B5D4-4960-44DE34F48A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BC5345-7771-A761-482B-3FE72068ED15}"/>
              </a:ext>
            </a:extLst>
          </p:cNvPr>
          <p:cNvSpPr>
            <a:spLocks noGrp="1"/>
          </p:cNvSpPr>
          <p:nvPr>
            <p:ph type="sldNum" sz="quarter" idx="12"/>
          </p:nvPr>
        </p:nvSpPr>
        <p:spPr/>
        <p:txBody>
          <a:bodyPr/>
          <a:lstStyle/>
          <a:p>
            <a:fld id="{A5AB2ECC-9E61-44D5-91EF-C21AC8BA8B31}" type="slidenum">
              <a:rPr lang="en-US" smtClean="0"/>
              <a:t>‹#›</a:t>
            </a:fld>
            <a:endParaRPr lang="en-US"/>
          </a:p>
        </p:txBody>
      </p:sp>
    </p:spTree>
    <p:extLst>
      <p:ext uri="{BB962C8B-B14F-4D97-AF65-F5344CB8AC3E}">
        <p14:creationId xmlns:p14="http://schemas.microsoft.com/office/powerpoint/2010/main" val="4222932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2DCE1D-A0A1-08B0-DFF7-15A066BD0CB0}"/>
              </a:ext>
            </a:extLst>
          </p:cNvPr>
          <p:cNvSpPr>
            <a:spLocks noGrp="1"/>
          </p:cNvSpPr>
          <p:nvPr>
            <p:ph type="dt" sz="half" idx="10"/>
          </p:nvPr>
        </p:nvSpPr>
        <p:spPr/>
        <p:txBody>
          <a:bodyPr/>
          <a:lstStyle/>
          <a:p>
            <a:fld id="{BCEACD13-C504-40F1-B6E9-4E5492D6C7D0}" type="datetimeFigureOut">
              <a:rPr lang="en-US" smtClean="0"/>
              <a:t>9/11/2026</a:t>
            </a:fld>
            <a:endParaRPr lang="en-US"/>
          </a:p>
        </p:txBody>
      </p:sp>
      <p:sp>
        <p:nvSpPr>
          <p:cNvPr id="3" name="Footer Placeholder 2">
            <a:extLst>
              <a:ext uri="{FF2B5EF4-FFF2-40B4-BE49-F238E27FC236}">
                <a16:creationId xmlns:a16="http://schemas.microsoft.com/office/drawing/2014/main" id="{27B17C8B-03C3-6252-AAEE-5CE7B98951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6D1F0A-59C3-1DD0-BD74-C23DD1206DA8}"/>
              </a:ext>
            </a:extLst>
          </p:cNvPr>
          <p:cNvSpPr>
            <a:spLocks noGrp="1"/>
          </p:cNvSpPr>
          <p:nvPr>
            <p:ph type="sldNum" sz="quarter" idx="12"/>
          </p:nvPr>
        </p:nvSpPr>
        <p:spPr/>
        <p:txBody>
          <a:bodyPr/>
          <a:lstStyle/>
          <a:p>
            <a:fld id="{A5AB2ECC-9E61-44D5-91EF-C21AC8BA8B31}" type="slidenum">
              <a:rPr lang="en-US" smtClean="0"/>
              <a:t>‹#›</a:t>
            </a:fld>
            <a:endParaRPr lang="en-US"/>
          </a:p>
        </p:txBody>
      </p:sp>
    </p:spTree>
    <p:extLst>
      <p:ext uri="{BB962C8B-B14F-4D97-AF65-F5344CB8AC3E}">
        <p14:creationId xmlns:p14="http://schemas.microsoft.com/office/powerpoint/2010/main" val="890063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680FF-A125-11AC-B187-04776DA3E3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F887AF-C583-FA07-B6BF-0E94B3FBAD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E4C1BD-5973-9081-FAB5-DBC9A475F1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EC4FE2-E558-87FC-E6A3-2C37CFAAC4E7}"/>
              </a:ext>
            </a:extLst>
          </p:cNvPr>
          <p:cNvSpPr>
            <a:spLocks noGrp="1"/>
          </p:cNvSpPr>
          <p:nvPr>
            <p:ph type="dt" sz="half" idx="10"/>
          </p:nvPr>
        </p:nvSpPr>
        <p:spPr/>
        <p:txBody>
          <a:bodyPr/>
          <a:lstStyle/>
          <a:p>
            <a:fld id="{BCEACD13-C504-40F1-B6E9-4E5492D6C7D0}" type="datetimeFigureOut">
              <a:rPr lang="en-US" smtClean="0"/>
              <a:t>9/11/2026</a:t>
            </a:fld>
            <a:endParaRPr lang="en-US"/>
          </a:p>
        </p:txBody>
      </p:sp>
      <p:sp>
        <p:nvSpPr>
          <p:cNvPr id="6" name="Footer Placeholder 5">
            <a:extLst>
              <a:ext uri="{FF2B5EF4-FFF2-40B4-BE49-F238E27FC236}">
                <a16:creationId xmlns:a16="http://schemas.microsoft.com/office/drawing/2014/main" id="{6E34CC01-8CD3-2C37-D9BB-AF8A27A2D9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3039E8-EAA3-E5D7-F035-8439AA31795A}"/>
              </a:ext>
            </a:extLst>
          </p:cNvPr>
          <p:cNvSpPr>
            <a:spLocks noGrp="1"/>
          </p:cNvSpPr>
          <p:nvPr>
            <p:ph type="sldNum" sz="quarter" idx="12"/>
          </p:nvPr>
        </p:nvSpPr>
        <p:spPr/>
        <p:txBody>
          <a:bodyPr/>
          <a:lstStyle/>
          <a:p>
            <a:fld id="{A5AB2ECC-9E61-44D5-91EF-C21AC8BA8B31}" type="slidenum">
              <a:rPr lang="en-US" smtClean="0"/>
              <a:t>‹#›</a:t>
            </a:fld>
            <a:endParaRPr lang="en-US"/>
          </a:p>
        </p:txBody>
      </p:sp>
    </p:spTree>
    <p:extLst>
      <p:ext uri="{BB962C8B-B14F-4D97-AF65-F5344CB8AC3E}">
        <p14:creationId xmlns:p14="http://schemas.microsoft.com/office/powerpoint/2010/main" val="1101244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AAC3-8813-14C0-891F-BFC74810E8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B637AD-029A-237B-06D7-09A58E34C1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9ECBE8-DCDB-7B16-770B-1249A796D5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83B36C-DB39-3C23-7679-6F22D3DC48C8}"/>
              </a:ext>
            </a:extLst>
          </p:cNvPr>
          <p:cNvSpPr>
            <a:spLocks noGrp="1"/>
          </p:cNvSpPr>
          <p:nvPr>
            <p:ph type="dt" sz="half" idx="10"/>
          </p:nvPr>
        </p:nvSpPr>
        <p:spPr/>
        <p:txBody>
          <a:bodyPr/>
          <a:lstStyle/>
          <a:p>
            <a:fld id="{BCEACD13-C504-40F1-B6E9-4E5492D6C7D0}" type="datetimeFigureOut">
              <a:rPr lang="en-US" smtClean="0"/>
              <a:t>9/11/2026</a:t>
            </a:fld>
            <a:endParaRPr lang="en-US"/>
          </a:p>
        </p:txBody>
      </p:sp>
      <p:sp>
        <p:nvSpPr>
          <p:cNvPr id="6" name="Footer Placeholder 5">
            <a:extLst>
              <a:ext uri="{FF2B5EF4-FFF2-40B4-BE49-F238E27FC236}">
                <a16:creationId xmlns:a16="http://schemas.microsoft.com/office/drawing/2014/main" id="{79E85040-15CF-AB52-5984-4D8E62166D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CB739E-3E59-5BFE-587A-97BE8944F2B1}"/>
              </a:ext>
            </a:extLst>
          </p:cNvPr>
          <p:cNvSpPr>
            <a:spLocks noGrp="1"/>
          </p:cNvSpPr>
          <p:nvPr>
            <p:ph type="sldNum" sz="quarter" idx="12"/>
          </p:nvPr>
        </p:nvSpPr>
        <p:spPr/>
        <p:txBody>
          <a:bodyPr/>
          <a:lstStyle/>
          <a:p>
            <a:fld id="{A5AB2ECC-9E61-44D5-91EF-C21AC8BA8B31}" type="slidenum">
              <a:rPr lang="en-US" smtClean="0"/>
              <a:t>‹#›</a:t>
            </a:fld>
            <a:endParaRPr lang="en-US"/>
          </a:p>
        </p:txBody>
      </p:sp>
    </p:spTree>
    <p:extLst>
      <p:ext uri="{BB962C8B-B14F-4D97-AF65-F5344CB8AC3E}">
        <p14:creationId xmlns:p14="http://schemas.microsoft.com/office/powerpoint/2010/main" val="3034071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86213-3E15-F01F-E131-0C3C7B865E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5D7045-3817-28ED-65FA-6A1102716B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F426E4-C991-AABA-2E92-CEB4D29CD66A}"/>
              </a:ext>
            </a:extLst>
          </p:cNvPr>
          <p:cNvSpPr>
            <a:spLocks noGrp="1"/>
          </p:cNvSpPr>
          <p:nvPr>
            <p:ph type="dt" sz="half" idx="10"/>
          </p:nvPr>
        </p:nvSpPr>
        <p:spPr/>
        <p:txBody>
          <a:bodyPr/>
          <a:lstStyle/>
          <a:p>
            <a:fld id="{BCEACD13-C504-40F1-B6E9-4E5492D6C7D0}" type="datetimeFigureOut">
              <a:rPr lang="en-US" smtClean="0"/>
              <a:t>9/11/2026</a:t>
            </a:fld>
            <a:endParaRPr lang="en-US"/>
          </a:p>
        </p:txBody>
      </p:sp>
      <p:sp>
        <p:nvSpPr>
          <p:cNvPr id="5" name="Footer Placeholder 4">
            <a:extLst>
              <a:ext uri="{FF2B5EF4-FFF2-40B4-BE49-F238E27FC236}">
                <a16:creationId xmlns:a16="http://schemas.microsoft.com/office/drawing/2014/main" id="{A57AA5E2-B4FE-D657-3A12-681D99D169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EC4B34-D77A-98E8-9881-EA4F5F49B922}"/>
              </a:ext>
            </a:extLst>
          </p:cNvPr>
          <p:cNvSpPr>
            <a:spLocks noGrp="1"/>
          </p:cNvSpPr>
          <p:nvPr>
            <p:ph type="sldNum" sz="quarter" idx="12"/>
          </p:nvPr>
        </p:nvSpPr>
        <p:spPr/>
        <p:txBody>
          <a:bodyPr/>
          <a:lstStyle/>
          <a:p>
            <a:fld id="{A5AB2ECC-9E61-44D5-91EF-C21AC8BA8B31}" type="slidenum">
              <a:rPr lang="en-US" smtClean="0"/>
              <a:t>‹#›</a:t>
            </a:fld>
            <a:endParaRPr lang="en-US"/>
          </a:p>
        </p:txBody>
      </p:sp>
    </p:spTree>
    <p:extLst>
      <p:ext uri="{BB962C8B-B14F-4D97-AF65-F5344CB8AC3E}">
        <p14:creationId xmlns:p14="http://schemas.microsoft.com/office/powerpoint/2010/main" val="2299552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70A5C9-21F0-3B10-06DA-8C93174C9D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206DCAF-7CD2-C15A-F679-250C201307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6CEB3F-B4FA-CB89-5629-778A7B3DEA18}"/>
              </a:ext>
            </a:extLst>
          </p:cNvPr>
          <p:cNvSpPr>
            <a:spLocks noGrp="1"/>
          </p:cNvSpPr>
          <p:nvPr>
            <p:ph type="dt" sz="half" idx="10"/>
          </p:nvPr>
        </p:nvSpPr>
        <p:spPr/>
        <p:txBody>
          <a:bodyPr/>
          <a:lstStyle/>
          <a:p>
            <a:fld id="{BCEACD13-C504-40F1-B6E9-4E5492D6C7D0}" type="datetimeFigureOut">
              <a:rPr lang="en-US" smtClean="0"/>
              <a:t>9/11/2026</a:t>
            </a:fld>
            <a:endParaRPr lang="en-US"/>
          </a:p>
        </p:txBody>
      </p:sp>
      <p:sp>
        <p:nvSpPr>
          <p:cNvPr id="5" name="Footer Placeholder 4">
            <a:extLst>
              <a:ext uri="{FF2B5EF4-FFF2-40B4-BE49-F238E27FC236}">
                <a16:creationId xmlns:a16="http://schemas.microsoft.com/office/drawing/2014/main" id="{42B7F194-55A4-8223-757E-535305AE3C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35C840-BA25-623B-C0A4-C9F7FF77406A}"/>
              </a:ext>
            </a:extLst>
          </p:cNvPr>
          <p:cNvSpPr>
            <a:spLocks noGrp="1"/>
          </p:cNvSpPr>
          <p:nvPr>
            <p:ph type="sldNum" sz="quarter" idx="12"/>
          </p:nvPr>
        </p:nvSpPr>
        <p:spPr/>
        <p:txBody>
          <a:bodyPr/>
          <a:lstStyle/>
          <a:p>
            <a:fld id="{A5AB2ECC-9E61-44D5-91EF-C21AC8BA8B31}" type="slidenum">
              <a:rPr lang="en-US" smtClean="0"/>
              <a:t>‹#›</a:t>
            </a:fld>
            <a:endParaRPr lang="en-US"/>
          </a:p>
        </p:txBody>
      </p:sp>
    </p:spTree>
    <p:extLst>
      <p:ext uri="{BB962C8B-B14F-4D97-AF65-F5344CB8AC3E}">
        <p14:creationId xmlns:p14="http://schemas.microsoft.com/office/powerpoint/2010/main" val="1357541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0F1A-B72F-F486-5966-3F44EC4BA6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72BFC2-79F5-2426-1128-8730DB9912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784D48-DAA0-7653-2915-21DB6AAB7A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EACD13-C504-40F1-B6E9-4E5492D6C7D0}" type="datetimeFigureOut">
              <a:rPr lang="en-US" smtClean="0"/>
              <a:t>9/11/2026</a:t>
            </a:fld>
            <a:endParaRPr lang="en-US"/>
          </a:p>
        </p:txBody>
      </p:sp>
      <p:sp>
        <p:nvSpPr>
          <p:cNvPr id="5" name="Footer Placeholder 4">
            <a:extLst>
              <a:ext uri="{FF2B5EF4-FFF2-40B4-BE49-F238E27FC236}">
                <a16:creationId xmlns:a16="http://schemas.microsoft.com/office/drawing/2014/main" id="{C74597E1-0735-B5E0-517B-92BC46D044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94EE706-BFB2-147F-0805-0E157F80A9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B2ECC-9E61-44D5-91EF-C21AC8BA8B31}" type="slidenum">
              <a:rPr lang="en-US" smtClean="0"/>
              <a:t>‹#›</a:t>
            </a:fld>
            <a:endParaRPr lang="en-US"/>
          </a:p>
        </p:txBody>
      </p:sp>
    </p:spTree>
    <p:extLst>
      <p:ext uri="{BB962C8B-B14F-4D97-AF65-F5344CB8AC3E}">
        <p14:creationId xmlns:p14="http://schemas.microsoft.com/office/powerpoint/2010/main" val="1323227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geeksforgeeks.org/html/static-website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html/dynamic-website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3E3EA-7092-D0C1-C44E-28EBBA5BF1F2}"/>
              </a:ext>
            </a:extLst>
          </p:cNvPr>
          <p:cNvSpPr>
            <a:spLocks noGrp="1"/>
          </p:cNvSpPr>
          <p:nvPr>
            <p:ph type="ctrTitle"/>
          </p:nvPr>
        </p:nvSpPr>
        <p:spPr/>
        <p:txBody>
          <a:bodyPr/>
          <a:lstStyle/>
          <a:p>
            <a:br>
              <a:rPr lang="en-US" b="1" dirty="0"/>
            </a:br>
            <a:endParaRPr lang="en-US" dirty="0"/>
          </a:p>
        </p:txBody>
      </p:sp>
      <p:sp>
        <p:nvSpPr>
          <p:cNvPr id="3" name="Subtitle 2">
            <a:extLst>
              <a:ext uri="{FF2B5EF4-FFF2-40B4-BE49-F238E27FC236}">
                <a16:creationId xmlns:a16="http://schemas.microsoft.com/office/drawing/2014/main" id="{E1E05460-2E09-34D8-597E-7BC95D6AE50C}"/>
              </a:ext>
            </a:extLst>
          </p:cNvPr>
          <p:cNvSpPr>
            <a:spLocks noGrp="1"/>
          </p:cNvSpPr>
          <p:nvPr>
            <p:ph type="subTitle" idx="1"/>
          </p:nvPr>
        </p:nvSpPr>
        <p:spPr>
          <a:xfrm>
            <a:off x="1605481" y="1759249"/>
            <a:ext cx="9144000" cy="3501428"/>
          </a:xfrm>
        </p:spPr>
        <p:txBody>
          <a:bodyPr>
            <a:normAutofit/>
          </a:bodyPr>
          <a:lstStyle/>
          <a:p>
            <a:r>
              <a:rPr lang="en-US" sz="8000" b="1" dirty="0"/>
              <a:t>Application Layer</a:t>
            </a:r>
          </a:p>
        </p:txBody>
      </p:sp>
    </p:spTree>
    <p:extLst>
      <p:ext uri="{BB962C8B-B14F-4D97-AF65-F5344CB8AC3E}">
        <p14:creationId xmlns:p14="http://schemas.microsoft.com/office/powerpoint/2010/main" val="3347580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E3BAF-FFF2-9D11-13AC-754FFBE3E082}"/>
              </a:ext>
            </a:extLst>
          </p:cNvPr>
          <p:cNvSpPr>
            <a:spLocks noGrp="1"/>
          </p:cNvSpPr>
          <p:nvPr>
            <p:ph type="title"/>
          </p:nvPr>
        </p:nvSpPr>
        <p:spPr/>
        <p:txBody>
          <a:bodyPr/>
          <a:lstStyle/>
          <a:p>
            <a:r>
              <a:rPr lang="en-US" b="1" dirty="0"/>
              <a:t>What are Static Web Pages?</a:t>
            </a:r>
            <a:endParaRPr lang="en-US" dirty="0"/>
          </a:p>
        </p:txBody>
      </p:sp>
      <p:sp>
        <p:nvSpPr>
          <p:cNvPr id="3" name="Content Placeholder 2">
            <a:extLst>
              <a:ext uri="{FF2B5EF4-FFF2-40B4-BE49-F238E27FC236}">
                <a16:creationId xmlns:a16="http://schemas.microsoft.com/office/drawing/2014/main" id="{A50EBEB8-97BE-387D-34E3-92242203BD48}"/>
              </a:ext>
            </a:extLst>
          </p:cNvPr>
          <p:cNvSpPr>
            <a:spLocks noGrp="1"/>
          </p:cNvSpPr>
          <p:nvPr>
            <p:ph idx="1"/>
          </p:nvPr>
        </p:nvSpPr>
        <p:spPr/>
        <p:txBody>
          <a:bodyPr/>
          <a:lstStyle/>
          <a:p>
            <a:r>
              <a:rPr lang="en-US" dirty="0"/>
              <a:t>Static Web pages are very simple. </a:t>
            </a:r>
          </a:p>
          <a:p>
            <a:r>
              <a:rPr lang="en-US" dirty="0"/>
              <a:t>It is written in languages such as HTML, JavaScript, CSS, etc. </a:t>
            </a:r>
          </a:p>
          <a:p>
            <a:r>
              <a:rPr lang="en-US" dirty="0"/>
              <a:t>For static web pages when a server receives a request for a web page, then the server sends the response to the client without doing any additional process. </a:t>
            </a:r>
          </a:p>
          <a:p>
            <a:r>
              <a:rPr lang="en-US" dirty="0"/>
              <a:t>These web pages are seen through a web browser. </a:t>
            </a:r>
          </a:p>
          <a:p>
            <a:r>
              <a:rPr lang="en-US" dirty="0"/>
              <a:t>In </a:t>
            </a:r>
            <a:r>
              <a:rPr lang="en-US" u="sng" dirty="0">
                <a:hlinkClick r:id="rId2"/>
              </a:rPr>
              <a:t>static web pages</a:t>
            </a:r>
            <a:r>
              <a:rPr lang="en-US" dirty="0"/>
              <a:t>, Pages will remain the same until someone changes it manually. </a:t>
            </a:r>
          </a:p>
        </p:txBody>
      </p:sp>
    </p:spTree>
    <p:extLst>
      <p:ext uri="{BB962C8B-B14F-4D97-AF65-F5344CB8AC3E}">
        <p14:creationId xmlns:p14="http://schemas.microsoft.com/office/powerpoint/2010/main" val="890278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C7E210C-F871-0E07-18E7-F4F3CEEA36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9326" y="954506"/>
            <a:ext cx="8220074" cy="4312819"/>
          </a:xfrm>
          <a:prstGeom prst="rect">
            <a:avLst/>
          </a:prstGeom>
        </p:spPr>
      </p:pic>
    </p:spTree>
    <p:extLst>
      <p:ext uri="{BB962C8B-B14F-4D97-AF65-F5344CB8AC3E}">
        <p14:creationId xmlns:p14="http://schemas.microsoft.com/office/powerpoint/2010/main" val="2000233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996A2-9471-460A-B4F3-161392F9F9E5}"/>
              </a:ext>
            </a:extLst>
          </p:cNvPr>
          <p:cNvSpPr>
            <a:spLocks noGrp="1"/>
          </p:cNvSpPr>
          <p:nvPr>
            <p:ph type="title"/>
          </p:nvPr>
        </p:nvSpPr>
        <p:spPr/>
        <p:txBody>
          <a:bodyPr/>
          <a:lstStyle/>
          <a:p>
            <a:r>
              <a:rPr lang="en-US" b="1" dirty="0"/>
              <a:t>What are Dynamic Web Pages?</a:t>
            </a:r>
            <a:br>
              <a:rPr lang="en-US" b="1" dirty="0"/>
            </a:br>
            <a:endParaRPr lang="en-US" dirty="0"/>
          </a:p>
        </p:txBody>
      </p:sp>
      <p:sp>
        <p:nvSpPr>
          <p:cNvPr id="3" name="Content Placeholder 2">
            <a:extLst>
              <a:ext uri="{FF2B5EF4-FFF2-40B4-BE49-F238E27FC236}">
                <a16:creationId xmlns:a16="http://schemas.microsoft.com/office/drawing/2014/main" id="{0A7F9953-22A1-1838-E037-43770E859499}"/>
              </a:ext>
            </a:extLst>
          </p:cNvPr>
          <p:cNvSpPr>
            <a:spLocks noGrp="1"/>
          </p:cNvSpPr>
          <p:nvPr>
            <p:ph idx="1"/>
          </p:nvPr>
        </p:nvSpPr>
        <p:spPr/>
        <p:txBody>
          <a:bodyPr/>
          <a:lstStyle/>
          <a:p>
            <a:r>
              <a:rPr lang="en-US" dirty="0"/>
              <a:t>Dynamic Web Pages are written in languages such as CGI, AJAX, ASP, ASP.NET, etc. </a:t>
            </a:r>
          </a:p>
          <a:p>
            <a:r>
              <a:rPr lang="en-US" dirty="0"/>
              <a:t>In dynamic web pages, the Content of pages is different for different visitors. </a:t>
            </a:r>
          </a:p>
          <a:p>
            <a:r>
              <a:rPr lang="en-US" dirty="0"/>
              <a:t>It takes more time to load than the static web page. </a:t>
            </a:r>
          </a:p>
          <a:p>
            <a:r>
              <a:rPr lang="en-US" u="sng" dirty="0">
                <a:hlinkClick r:id="rId2"/>
              </a:rPr>
              <a:t>Dynamic web pages</a:t>
            </a:r>
            <a:r>
              <a:rPr lang="en-US" dirty="0"/>
              <a:t> are used where the information is changed frequently, for example, stock prices, weather information, etc. </a:t>
            </a:r>
          </a:p>
        </p:txBody>
      </p:sp>
    </p:spTree>
    <p:extLst>
      <p:ext uri="{BB962C8B-B14F-4D97-AF65-F5344CB8AC3E}">
        <p14:creationId xmlns:p14="http://schemas.microsoft.com/office/powerpoint/2010/main" val="2956884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117D124-7204-CC49-74C4-9E388591F7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3732" y="1400175"/>
            <a:ext cx="7220393" cy="4706438"/>
          </a:xfrm>
          <a:prstGeom prst="rect">
            <a:avLst/>
          </a:prstGeom>
        </p:spPr>
      </p:pic>
    </p:spTree>
    <p:extLst>
      <p:ext uri="{BB962C8B-B14F-4D97-AF65-F5344CB8AC3E}">
        <p14:creationId xmlns:p14="http://schemas.microsoft.com/office/powerpoint/2010/main" val="3937215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67BBB5B-4FB0-2804-64BA-3AA201B42682}"/>
              </a:ext>
            </a:extLst>
          </p:cNvPr>
          <p:cNvGraphicFramePr>
            <a:graphicFrameLocks noGrp="1"/>
          </p:cNvGraphicFramePr>
          <p:nvPr>
            <p:ph idx="1"/>
            <p:extLst>
              <p:ext uri="{D42A27DB-BD31-4B8C-83A1-F6EECF244321}">
                <p14:modId xmlns:p14="http://schemas.microsoft.com/office/powerpoint/2010/main" val="1161082816"/>
              </p:ext>
            </p:extLst>
          </p:nvPr>
        </p:nvGraphicFramePr>
        <p:xfrm>
          <a:off x="995881" y="1213163"/>
          <a:ext cx="10511073" cy="5477216"/>
        </p:xfrm>
        <a:graphic>
          <a:graphicData uri="http://schemas.openxmlformats.org/drawingml/2006/table">
            <a:tbl>
              <a:tblPr firstRow="1" bandRow="1">
                <a:tableStyleId>{BC89EF96-8CEA-46FF-86C4-4CE0E7609802}</a:tableStyleId>
              </a:tblPr>
              <a:tblGrid>
                <a:gridCol w="5264456">
                  <a:extLst>
                    <a:ext uri="{9D8B030D-6E8A-4147-A177-3AD203B41FA5}">
                      <a16:colId xmlns:a16="http://schemas.microsoft.com/office/drawing/2014/main" val="1614368362"/>
                    </a:ext>
                  </a:extLst>
                </a:gridCol>
                <a:gridCol w="5246617">
                  <a:extLst>
                    <a:ext uri="{9D8B030D-6E8A-4147-A177-3AD203B41FA5}">
                      <a16:colId xmlns:a16="http://schemas.microsoft.com/office/drawing/2014/main" val="2153205568"/>
                    </a:ext>
                  </a:extLst>
                </a:gridCol>
              </a:tblGrid>
              <a:tr h="542271">
                <a:tc>
                  <a:txBody>
                    <a:bodyPr/>
                    <a:lstStyle/>
                    <a:p>
                      <a:pPr algn="ctr"/>
                      <a:r>
                        <a:rPr lang="en-US" sz="3200" b="1" i="0" kern="1200" dirty="0">
                          <a:solidFill>
                            <a:schemeClr val="tx1"/>
                          </a:solidFill>
                          <a:effectLst/>
                          <a:latin typeface="+mn-lt"/>
                          <a:ea typeface="+mn-ea"/>
                          <a:cs typeface="+mn-cs"/>
                        </a:rPr>
                        <a:t>Static Web Page</a:t>
                      </a:r>
                      <a:endParaRPr lang="en-US" sz="3200" dirty="0"/>
                    </a:p>
                  </a:txBody>
                  <a:tcPr/>
                </a:tc>
                <a:tc>
                  <a:txBody>
                    <a:bodyPr/>
                    <a:lstStyle/>
                    <a:p>
                      <a:pPr algn="ctr"/>
                      <a:r>
                        <a:rPr lang="en-US" sz="3200" b="1" i="0" kern="1200" dirty="0">
                          <a:solidFill>
                            <a:schemeClr val="tx1"/>
                          </a:solidFill>
                          <a:effectLst/>
                          <a:latin typeface="+mn-lt"/>
                          <a:ea typeface="+mn-ea"/>
                          <a:cs typeface="+mn-cs"/>
                        </a:rPr>
                        <a:t>Dynamic Web Page</a:t>
                      </a:r>
                      <a:endParaRPr lang="en-US" sz="3200" dirty="0"/>
                    </a:p>
                  </a:txBody>
                  <a:tcPr/>
                </a:tc>
                <a:extLst>
                  <a:ext uri="{0D108BD9-81ED-4DB2-BD59-A6C34878D82A}">
                    <a16:rowId xmlns:a16="http://schemas.microsoft.com/office/drawing/2014/main" val="3566156075"/>
                  </a:ext>
                </a:extLst>
              </a:tr>
              <a:tr h="599352">
                <a:tc>
                  <a:txBody>
                    <a:bodyPr/>
                    <a:lstStyle/>
                    <a:p>
                      <a:r>
                        <a:rPr lang="en-US" sz="1800" b="0" i="0" kern="1200" dirty="0">
                          <a:solidFill>
                            <a:schemeClr val="tx1"/>
                          </a:solidFill>
                          <a:effectLst/>
                          <a:latin typeface="+mn-lt"/>
                          <a:ea typeface="+mn-ea"/>
                          <a:cs typeface="+mn-cs"/>
                        </a:rPr>
                        <a:t>In static web pages, Pages will remain same until someone changes it manually.</a:t>
                      </a:r>
                      <a:endParaRPr lang="en-US" dirty="0"/>
                    </a:p>
                  </a:txBody>
                  <a:tcPr/>
                </a:tc>
                <a:tc>
                  <a:txBody>
                    <a:bodyPr/>
                    <a:lstStyle/>
                    <a:p>
                      <a:r>
                        <a:rPr lang="en-US" sz="1800" b="0" i="0" kern="1200" dirty="0">
                          <a:solidFill>
                            <a:schemeClr val="tx1"/>
                          </a:solidFill>
                          <a:effectLst/>
                          <a:latin typeface="+mn-lt"/>
                          <a:ea typeface="+mn-ea"/>
                          <a:cs typeface="+mn-cs"/>
                        </a:rPr>
                        <a:t>In dynamic web pages, Content of pages are different for different visitors.</a:t>
                      </a:r>
                      <a:endParaRPr lang="en-US" dirty="0"/>
                    </a:p>
                  </a:txBody>
                  <a:tcPr/>
                </a:tc>
                <a:extLst>
                  <a:ext uri="{0D108BD9-81ED-4DB2-BD59-A6C34878D82A}">
                    <a16:rowId xmlns:a16="http://schemas.microsoft.com/office/drawing/2014/main" val="1543345568"/>
                  </a:ext>
                </a:extLst>
              </a:tr>
              <a:tr h="599352">
                <a:tc>
                  <a:txBody>
                    <a:bodyPr/>
                    <a:lstStyle/>
                    <a:p>
                      <a:r>
                        <a:rPr lang="en-US" sz="1800" b="0" i="0" kern="1200" dirty="0">
                          <a:solidFill>
                            <a:schemeClr val="tx1"/>
                          </a:solidFill>
                          <a:effectLst/>
                          <a:latin typeface="+mn-lt"/>
                          <a:ea typeface="+mn-ea"/>
                          <a:cs typeface="+mn-cs"/>
                        </a:rPr>
                        <a:t>In static web pages, Information are change rarely.</a:t>
                      </a:r>
                      <a:endParaRPr lang="en-US" dirty="0"/>
                    </a:p>
                  </a:txBody>
                  <a:tcPr/>
                </a:tc>
                <a:tc>
                  <a:txBody>
                    <a:bodyPr/>
                    <a:lstStyle/>
                    <a:p>
                      <a:r>
                        <a:rPr lang="en-US" sz="1800" b="0" i="0" kern="1200" dirty="0">
                          <a:solidFill>
                            <a:schemeClr val="tx1"/>
                          </a:solidFill>
                          <a:effectLst/>
                          <a:latin typeface="+mn-lt"/>
                          <a:ea typeface="+mn-ea"/>
                          <a:cs typeface="+mn-cs"/>
                        </a:rPr>
                        <a:t>In dynamic web page, Information are change frequently.</a:t>
                      </a:r>
                      <a:endParaRPr lang="en-US" dirty="0"/>
                    </a:p>
                  </a:txBody>
                  <a:tcPr/>
                </a:tc>
                <a:extLst>
                  <a:ext uri="{0D108BD9-81ED-4DB2-BD59-A6C34878D82A}">
                    <a16:rowId xmlns:a16="http://schemas.microsoft.com/office/drawing/2014/main" val="1726065367"/>
                  </a:ext>
                </a:extLst>
              </a:tr>
              <a:tr h="528808">
                <a:tc>
                  <a:txBody>
                    <a:bodyPr/>
                    <a:lstStyle/>
                    <a:p>
                      <a:r>
                        <a:rPr lang="en-US" sz="1800" b="0" i="0" kern="1200" dirty="0">
                          <a:solidFill>
                            <a:schemeClr val="tx1"/>
                          </a:solidFill>
                          <a:effectLst/>
                          <a:latin typeface="+mn-lt"/>
                          <a:ea typeface="+mn-ea"/>
                          <a:cs typeface="+mn-cs"/>
                        </a:rPr>
                        <a:t>Static Web Pages are simple in terms of complexity.</a:t>
                      </a:r>
                      <a:endParaRPr lang="en-US" dirty="0"/>
                    </a:p>
                  </a:txBody>
                  <a:tcPr/>
                </a:tc>
                <a:tc>
                  <a:txBody>
                    <a:bodyPr/>
                    <a:lstStyle/>
                    <a:p>
                      <a:r>
                        <a:rPr lang="en-US" sz="1800" b="0" i="0" kern="1200" dirty="0">
                          <a:solidFill>
                            <a:schemeClr val="tx1"/>
                          </a:solidFill>
                          <a:effectLst/>
                          <a:latin typeface="+mn-lt"/>
                          <a:ea typeface="+mn-ea"/>
                          <a:cs typeface="+mn-cs"/>
                        </a:rPr>
                        <a:t>Dynamic web pages are complicated.</a:t>
                      </a:r>
                      <a:endParaRPr lang="en-US" dirty="0"/>
                    </a:p>
                  </a:txBody>
                  <a:tcPr/>
                </a:tc>
                <a:extLst>
                  <a:ext uri="{0D108BD9-81ED-4DB2-BD59-A6C34878D82A}">
                    <a16:rowId xmlns:a16="http://schemas.microsoft.com/office/drawing/2014/main" val="2791898728"/>
                  </a:ext>
                </a:extLst>
              </a:tr>
              <a:tr h="599352">
                <a:tc>
                  <a:txBody>
                    <a:bodyPr/>
                    <a:lstStyle/>
                    <a:p>
                      <a:r>
                        <a:rPr lang="en-US" sz="1800" b="0" i="0" kern="1200" dirty="0">
                          <a:solidFill>
                            <a:schemeClr val="tx1"/>
                          </a:solidFill>
                          <a:effectLst/>
                          <a:latin typeface="+mn-lt"/>
                          <a:ea typeface="+mn-ea"/>
                          <a:cs typeface="+mn-cs"/>
                        </a:rPr>
                        <a:t>Static Web Page takes less time for loading than dynamic web page.</a:t>
                      </a:r>
                      <a:endParaRPr lang="en-US" dirty="0"/>
                    </a:p>
                  </a:txBody>
                  <a:tcPr/>
                </a:tc>
                <a:tc>
                  <a:txBody>
                    <a:bodyPr/>
                    <a:lstStyle/>
                    <a:p>
                      <a:r>
                        <a:rPr lang="en-US" sz="1800" b="0" i="0" kern="1200" dirty="0">
                          <a:solidFill>
                            <a:schemeClr val="tx1"/>
                          </a:solidFill>
                          <a:effectLst/>
                          <a:latin typeface="+mn-lt"/>
                          <a:ea typeface="+mn-ea"/>
                          <a:cs typeface="+mn-cs"/>
                        </a:rPr>
                        <a:t>Dynamic web page takes more time for loading.</a:t>
                      </a:r>
                      <a:endParaRPr lang="en-US" dirty="0"/>
                    </a:p>
                  </a:txBody>
                  <a:tcPr/>
                </a:tc>
                <a:extLst>
                  <a:ext uri="{0D108BD9-81ED-4DB2-BD59-A6C34878D82A}">
                    <a16:rowId xmlns:a16="http://schemas.microsoft.com/office/drawing/2014/main" val="1081511300"/>
                  </a:ext>
                </a:extLst>
              </a:tr>
              <a:tr h="528808">
                <a:tc>
                  <a:txBody>
                    <a:bodyPr/>
                    <a:lstStyle/>
                    <a:p>
                      <a:r>
                        <a:rPr lang="en-US" sz="1800" b="0" i="0" kern="1200" dirty="0">
                          <a:solidFill>
                            <a:schemeClr val="tx1"/>
                          </a:solidFill>
                          <a:effectLst/>
                          <a:latin typeface="+mn-lt"/>
                          <a:ea typeface="+mn-ea"/>
                          <a:cs typeface="+mn-cs"/>
                        </a:rPr>
                        <a:t>In Static Web Pages, database is not used.</a:t>
                      </a:r>
                      <a:endParaRPr lang="en-US" dirty="0"/>
                    </a:p>
                  </a:txBody>
                  <a:tcPr/>
                </a:tc>
                <a:tc>
                  <a:txBody>
                    <a:bodyPr/>
                    <a:lstStyle/>
                    <a:p>
                      <a:r>
                        <a:rPr lang="en-US" sz="1800" b="0" i="0" kern="1200" dirty="0">
                          <a:solidFill>
                            <a:schemeClr val="tx1"/>
                          </a:solidFill>
                          <a:effectLst/>
                          <a:latin typeface="+mn-lt"/>
                          <a:ea typeface="+mn-ea"/>
                          <a:cs typeface="+mn-cs"/>
                        </a:rPr>
                        <a:t>In dynamic web pages, database is used.</a:t>
                      </a:r>
                      <a:endParaRPr lang="en-US" dirty="0"/>
                    </a:p>
                  </a:txBody>
                  <a:tcPr/>
                </a:tc>
                <a:extLst>
                  <a:ext uri="{0D108BD9-81ED-4DB2-BD59-A6C34878D82A}">
                    <a16:rowId xmlns:a16="http://schemas.microsoft.com/office/drawing/2014/main" val="448889074"/>
                  </a:ext>
                </a:extLst>
              </a:tr>
              <a:tr h="599352">
                <a:tc>
                  <a:txBody>
                    <a:bodyPr/>
                    <a:lstStyle/>
                    <a:p>
                      <a:r>
                        <a:rPr lang="en-US" sz="1800" b="0" i="0" kern="1200" dirty="0">
                          <a:solidFill>
                            <a:schemeClr val="tx1"/>
                          </a:solidFill>
                          <a:effectLst/>
                          <a:latin typeface="+mn-lt"/>
                          <a:ea typeface="+mn-ea"/>
                          <a:cs typeface="+mn-cs"/>
                        </a:rPr>
                        <a:t>Static web pages are written in languages such as: HTML, JavaScript, CSS, etc.</a:t>
                      </a:r>
                      <a:endParaRPr lang="en-US" dirty="0"/>
                    </a:p>
                  </a:txBody>
                  <a:tcPr/>
                </a:tc>
                <a:tc>
                  <a:txBody>
                    <a:bodyPr/>
                    <a:lstStyle/>
                    <a:p>
                      <a:r>
                        <a:rPr lang="en-US" sz="1800" b="0" i="0" kern="1200" dirty="0">
                          <a:solidFill>
                            <a:schemeClr val="tx1"/>
                          </a:solidFill>
                          <a:effectLst/>
                          <a:latin typeface="+mn-lt"/>
                          <a:ea typeface="+mn-ea"/>
                          <a:cs typeface="+mn-cs"/>
                        </a:rPr>
                        <a:t>Dynamic web pages are written in languages such as: CGI, AJAX, ASP, ASP.NET, etc.</a:t>
                      </a:r>
                      <a:endParaRPr lang="en-US" dirty="0"/>
                    </a:p>
                  </a:txBody>
                  <a:tcPr/>
                </a:tc>
                <a:extLst>
                  <a:ext uri="{0D108BD9-81ED-4DB2-BD59-A6C34878D82A}">
                    <a16:rowId xmlns:a16="http://schemas.microsoft.com/office/drawing/2014/main" val="2397585911"/>
                  </a:ext>
                </a:extLst>
              </a:tr>
              <a:tr h="599352">
                <a:tc>
                  <a:txBody>
                    <a:bodyPr/>
                    <a:lstStyle/>
                    <a:p>
                      <a:r>
                        <a:rPr lang="en-US" sz="1800" b="0" i="0" kern="1200" dirty="0">
                          <a:solidFill>
                            <a:schemeClr val="tx1"/>
                          </a:solidFill>
                          <a:effectLst/>
                          <a:latin typeface="+mn-lt"/>
                          <a:ea typeface="+mn-ea"/>
                          <a:cs typeface="+mn-cs"/>
                        </a:rPr>
                        <a:t>Static web pages does not contain any application program .</a:t>
                      </a:r>
                      <a:endParaRPr lang="en-US" dirty="0"/>
                    </a:p>
                  </a:txBody>
                  <a:tcPr/>
                </a:tc>
                <a:tc>
                  <a:txBody>
                    <a:bodyPr/>
                    <a:lstStyle/>
                    <a:p>
                      <a:r>
                        <a:rPr lang="en-US" sz="1800" b="0" i="0" kern="1200" dirty="0">
                          <a:solidFill>
                            <a:schemeClr val="tx1"/>
                          </a:solidFill>
                          <a:effectLst/>
                          <a:latin typeface="+mn-lt"/>
                          <a:ea typeface="+mn-ea"/>
                          <a:cs typeface="+mn-cs"/>
                        </a:rPr>
                        <a:t>Dynamic web pages contains application program for different services.</a:t>
                      </a:r>
                      <a:endParaRPr lang="en-US" dirty="0"/>
                    </a:p>
                  </a:txBody>
                  <a:tcPr/>
                </a:tc>
                <a:extLst>
                  <a:ext uri="{0D108BD9-81ED-4DB2-BD59-A6C34878D82A}">
                    <a16:rowId xmlns:a16="http://schemas.microsoft.com/office/drawing/2014/main" val="2180834073"/>
                  </a:ext>
                </a:extLst>
              </a:tr>
              <a:tr h="599352">
                <a:tc>
                  <a:txBody>
                    <a:bodyPr/>
                    <a:lstStyle/>
                    <a:p>
                      <a:r>
                        <a:rPr lang="en-US" sz="1800" b="0" i="0" kern="1200" dirty="0">
                          <a:solidFill>
                            <a:schemeClr val="tx1"/>
                          </a:solidFill>
                          <a:effectLst/>
                          <a:latin typeface="+mn-lt"/>
                          <a:ea typeface="+mn-ea"/>
                          <a:cs typeface="+mn-cs"/>
                        </a:rPr>
                        <a:t>Static web pages require less work and cost in designing them.</a:t>
                      </a:r>
                      <a:endParaRPr lang="en-US" dirty="0"/>
                    </a:p>
                  </a:txBody>
                  <a:tcPr/>
                </a:tc>
                <a:tc>
                  <a:txBody>
                    <a:bodyPr/>
                    <a:lstStyle/>
                    <a:p>
                      <a:r>
                        <a:rPr lang="en-US" sz="1800" b="0" i="0" kern="1200" dirty="0">
                          <a:solidFill>
                            <a:schemeClr val="tx1"/>
                          </a:solidFill>
                          <a:effectLst/>
                          <a:latin typeface="+mn-lt"/>
                          <a:ea typeface="+mn-ea"/>
                          <a:cs typeface="+mn-cs"/>
                        </a:rPr>
                        <a:t>Dynamic web pages require comparatively more work and cost in designing them.</a:t>
                      </a:r>
                      <a:endParaRPr lang="en-US" dirty="0"/>
                    </a:p>
                  </a:txBody>
                  <a:tcPr/>
                </a:tc>
                <a:extLst>
                  <a:ext uri="{0D108BD9-81ED-4DB2-BD59-A6C34878D82A}">
                    <a16:rowId xmlns:a16="http://schemas.microsoft.com/office/drawing/2014/main" val="1496761276"/>
                  </a:ext>
                </a:extLst>
              </a:tr>
            </a:tbl>
          </a:graphicData>
        </a:graphic>
      </p:graphicFrame>
      <p:sp>
        <p:nvSpPr>
          <p:cNvPr id="7" name="TextBox 6">
            <a:extLst>
              <a:ext uri="{FF2B5EF4-FFF2-40B4-BE49-F238E27FC236}">
                <a16:creationId xmlns:a16="http://schemas.microsoft.com/office/drawing/2014/main" id="{5665B356-0AEE-241C-90AA-502851B2037E}"/>
              </a:ext>
            </a:extLst>
          </p:cNvPr>
          <p:cNvSpPr txBox="1"/>
          <p:nvPr/>
        </p:nvSpPr>
        <p:spPr>
          <a:xfrm>
            <a:off x="814813" y="570368"/>
            <a:ext cx="10592554" cy="369332"/>
          </a:xfrm>
          <a:prstGeom prst="rect">
            <a:avLst/>
          </a:prstGeom>
          <a:noFill/>
        </p:spPr>
        <p:txBody>
          <a:bodyPr wrap="square" rtlCol="0">
            <a:spAutoFit/>
          </a:bodyPr>
          <a:lstStyle/>
          <a:p>
            <a:r>
              <a:rPr lang="en-US" dirty="0"/>
              <a:t>4a) Differentiate between static web objects and dynamic web pages</a:t>
            </a:r>
          </a:p>
        </p:txBody>
      </p:sp>
    </p:spTree>
    <p:extLst>
      <p:ext uri="{BB962C8B-B14F-4D97-AF65-F5344CB8AC3E}">
        <p14:creationId xmlns:p14="http://schemas.microsoft.com/office/powerpoint/2010/main" val="1492354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36960-D77A-3B0B-5516-3B1FD7ACE6E2}"/>
              </a:ext>
            </a:extLst>
          </p:cNvPr>
          <p:cNvSpPr>
            <a:spLocks noGrp="1"/>
          </p:cNvSpPr>
          <p:nvPr>
            <p:ph type="title"/>
          </p:nvPr>
        </p:nvSpPr>
        <p:spPr/>
        <p:txBody>
          <a:bodyPr/>
          <a:lstStyle/>
          <a:p>
            <a:r>
              <a:rPr lang="en-US" dirty="0"/>
              <a:t>4b)Explain the concept of web Applications with suitable examples.</a:t>
            </a:r>
          </a:p>
        </p:txBody>
      </p:sp>
      <p:sp>
        <p:nvSpPr>
          <p:cNvPr id="3" name="Content Placeholder 2">
            <a:extLst>
              <a:ext uri="{FF2B5EF4-FFF2-40B4-BE49-F238E27FC236}">
                <a16:creationId xmlns:a16="http://schemas.microsoft.com/office/drawing/2014/main" id="{696AA3C5-9156-5FFA-22B5-7F8C71A76057}"/>
              </a:ext>
            </a:extLst>
          </p:cNvPr>
          <p:cNvSpPr>
            <a:spLocks noGrp="1"/>
          </p:cNvSpPr>
          <p:nvPr>
            <p:ph idx="1"/>
          </p:nvPr>
        </p:nvSpPr>
        <p:spPr/>
        <p:txBody>
          <a:bodyPr/>
          <a:lstStyle/>
          <a:p>
            <a:pPr marL="0" indent="0">
              <a:buNone/>
            </a:pPr>
            <a:r>
              <a:rPr lang="en-US" b="1" dirty="0"/>
              <a:t>Web Applications</a:t>
            </a:r>
          </a:p>
          <a:p>
            <a:r>
              <a:rPr lang="en-US" dirty="0"/>
              <a:t>A </a:t>
            </a:r>
            <a:r>
              <a:rPr lang="en-US" b="1" dirty="0"/>
              <a:t>web application</a:t>
            </a:r>
            <a:r>
              <a:rPr lang="en-US" dirty="0"/>
              <a:t> is a software application that runs on a </a:t>
            </a:r>
            <a:r>
              <a:rPr lang="en-US" b="1" dirty="0"/>
              <a:t>web server</a:t>
            </a:r>
            <a:r>
              <a:rPr lang="en-US" dirty="0"/>
              <a:t> and is accessed by users through a </a:t>
            </a:r>
            <a:r>
              <a:rPr lang="en-US" b="1" dirty="0"/>
              <a:t>web browser</a:t>
            </a:r>
            <a:r>
              <a:rPr lang="en-US" dirty="0"/>
              <a:t> over a network such as the Internet. Unlike traditional desktop applications, a web application generally does not require the user to install the complete application on their device.</a:t>
            </a:r>
          </a:p>
          <a:p>
            <a:endParaRPr lang="en-US" dirty="0"/>
          </a:p>
        </p:txBody>
      </p:sp>
    </p:spTree>
    <p:extLst>
      <p:ext uri="{BB962C8B-B14F-4D97-AF65-F5344CB8AC3E}">
        <p14:creationId xmlns:p14="http://schemas.microsoft.com/office/powerpoint/2010/main" val="4208951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EE1C1-38D5-C419-DBE5-06BE8647A8DD}"/>
              </a:ext>
            </a:extLst>
          </p:cNvPr>
          <p:cNvSpPr>
            <a:spLocks noGrp="1"/>
          </p:cNvSpPr>
          <p:nvPr>
            <p:ph type="title"/>
          </p:nvPr>
        </p:nvSpPr>
        <p:spPr/>
        <p:txBody>
          <a:bodyPr/>
          <a:lstStyle/>
          <a:p>
            <a:r>
              <a:rPr lang="en-US" b="1" dirty="0"/>
              <a:t>Suitable Examples</a:t>
            </a:r>
            <a:br>
              <a:rPr lang="en-US" b="1" dirty="0"/>
            </a:br>
            <a:endParaRPr lang="en-US" dirty="0"/>
          </a:p>
        </p:txBody>
      </p:sp>
      <p:sp>
        <p:nvSpPr>
          <p:cNvPr id="3" name="Content Placeholder 2">
            <a:extLst>
              <a:ext uri="{FF2B5EF4-FFF2-40B4-BE49-F238E27FC236}">
                <a16:creationId xmlns:a16="http://schemas.microsoft.com/office/drawing/2014/main" id="{73DC3382-FA26-AF48-7850-DE301C722C32}"/>
              </a:ext>
            </a:extLst>
          </p:cNvPr>
          <p:cNvSpPr>
            <a:spLocks noGrp="1"/>
          </p:cNvSpPr>
          <p:nvPr>
            <p:ph idx="1"/>
          </p:nvPr>
        </p:nvSpPr>
        <p:spPr/>
        <p:txBody>
          <a:bodyPr>
            <a:normAutofit fontScale="70000" lnSpcReduction="20000"/>
          </a:bodyPr>
          <a:lstStyle/>
          <a:p>
            <a:pPr lvl="0"/>
            <a:r>
              <a:rPr lang="en-US" b="1" dirty="0"/>
              <a:t>Online Banking</a:t>
            </a:r>
            <a:br>
              <a:rPr lang="en-US" dirty="0"/>
            </a:br>
            <a:r>
              <a:rPr lang="en-US" dirty="0"/>
              <a:t>Users can check balances, transfer money, and view transactions through a browser.</a:t>
            </a:r>
          </a:p>
          <a:p>
            <a:pPr lvl="0"/>
            <a:r>
              <a:rPr lang="en-US" b="1" dirty="0"/>
              <a:t>E-Commerce</a:t>
            </a:r>
            <a:br>
              <a:rPr lang="en-US" dirty="0"/>
            </a:br>
            <a:r>
              <a:rPr lang="en-US" dirty="0"/>
              <a:t>Websites such as online shopping platforms allow users to search for products, add items to a cart, and place orders.</a:t>
            </a:r>
          </a:p>
          <a:p>
            <a:pPr lvl="0"/>
            <a:r>
              <a:rPr lang="en-US" b="1" dirty="0"/>
              <a:t>Webmail</a:t>
            </a:r>
            <a:br>
              <a:rPr lang="en-US" dirty="0"/>
            </a:br>
            <a:r>
              <a:rPr lang="en-US" dirty="0"/>
              <a:t>Email services allow users to send, receive, and manage emails through a web browser.</a:t>
            </a:r>
          </a:p>
          <a:p>
            <a:pPr lvl="0"/>
            <a:r>
              <a:rPr lang="en-US" b="1" dirty="0"/>
              <a:t>Social Media</a:t>
            </a:r>
            <a:br>
              <a:rPr lang="en-US" dirty="0"/>
            </a:br>
            <a:r>
              <a:rPr lang="en-US" dirty="0"/>
              <a:t>Users can create posts, send messages, share images, and interact with other users.</a:t>
            </a:r>
          </a:p>
          <a:p>
            <a:pPr lvl="0"/>
            <a:r>
              <a:rPr lang="en-US" b="1" dirty="0"/>
              <a:t>Online Learning</a:t>
            </a:r>
            <a:br>
              <a:rPr lang="en-US" dirty="0"/>
            </a:br>
            <a:r>
              <a:rPr lang="en-US" dirty="0"/>
              <a:t>Educational platforms provide lectures, assignments, quizzes, and learning materials through web applications.</a:t>
            </a:r>
          </a:p>
          <a:p>
            <a:pPr lvl="0"/>
            <a:r>
              <a:rPr lang="en-US" b="1" dirty="0"/>
              <a:t>Online Ticket Booking</a:t>
            </a:r>
            <a:br>
              <a:rPr lang="en-US" dirty="0"/>
            </a:br>
            <a:r>
              <a:rPr lang="en-US" dirty="0"/>
              <a:t>Users can search for available flights, trains, buses, or movie tickets and make reservations online.</a:t>
            </a:r>
          </a:p>
          <a:p>
            <a:endParaRPr lang="en-US" dirty="0"/>
          </a:p>
        </p:txBody>
      </p:sp>
    </p:spTree>
    <p:extLst>
      <p:ext uri="{BB962C8B-B14F-4D97-AF65-F5344CB8AC3E}">
        <p14:creationId xmlns:p14="http://schemas.microsoft.com/office/powerpoint/2010/main" val="1211591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8DD88-689D-BDD4-D59E-8B7A69F64460}"/>
              </a:ext>
            </a:extLst>
          </p:cNvPr>
          <p:cNvSpPr>
            <a:spLocks noGrp="1"/>
          </p:cNvSpPr>
          <p:nvPr>
            <p:ph type="title"/>
          </p:nvPr>
        </p:nvSpPr>
        <p:spPr/>
        <p:txBody>
          <a:bodyPr>
            <a:normAutofit fontScale="90000"/>
          </a:bodyPr>
          <a:lstStyle/>
          <a:p>
            <a:r>
              <a:rPr lang="en-US" dirty="0"/>
              <a:t>5a) Explain  the working of  HTTP  and HTTPS </a:t>
            </a:r>
            <a:r>
              <a:rPr lang="en-US" dirty="0" err="1"/>
              <a:t>protocols.Compare</a:t>
            </a:r>
            <a:r>
              <a:rPr lang="en-US" dirty="0"/>
              <a:t> them with respect to </a:t>
            </a:r>
            <a:r>
              <a:rPr lang="en-US" dirty="0" err="1"/>
              <a:t>communication,security</a:t>
            </a:r>
            <a:r>
              <a:rPr lang="en-US" dirty="0"/>
              <a:t> and applications</a:t>
            </a:r>
          </a:p>
        </p:txBody>
      </p:sp>
      <p:sp>
        <p:nvSpPr>
          <p:cNvPr id="3" name="Content Placeholder 2">
            <a:extLst>
              <a:ext uri="{FF2B5EF4-FFF2-40B4-BE49-F238E27FC236}">
                <a16:creationId xmlns:a16="http://schemas.microsoft.com/office/drawing/2014/main" id="{5EE191AC-7643-1834-34BC-760CE78BCB4A}"/>
              </a:ext>
            </a:extLst>
          </p:cNvPr>
          <p:cNvSpPr>
            <a:spLocks noGrp="1"/>
          </p:cNvSpPr>
          <p:nvPr>
            <p:ph idx="1"/>
          </p:nvPr>
        </p:nvSpPr>
        <p:spPr/>
        <p:txBody>
          <a:bodyPr/>
          <a:lstStyle/>
          <a:p>
            <a:r>
              <a:rPr lang="en-US" dirty="0"/>
              <a:t>HTTPS is just HTTP with encryption. </a:t>
            </a:r>
          </a:p>
          <a:p>
            <a:r>
              <a:rPr lang="en-US" dirty="0"/>
              <a:t>The primary distinction between these two names is that HTTPS is more secure than HTTP since it uses TLS (SSL) encryption for all HTTP requests and responses, even the standard ones. </a:t>
            </a:r>
          </a:p>
          <a:p>
            <a:pPr marL="0" indent="0">
              <a:buNone/>
            </a:pPr>
            <a:r>
              <a:rPr lang="en-US" b="1" dirty="0" err="1"/>
              <a:t>HyperText</a:t>
            </a:r>
            <a:r>
              <a:rPr lang="en-US" b="1" dirty="0"/>
              <a:t> Transfer Protocol (HTTP)</a:t>
            </a:r>
          </a:p>
          <a:p>
            <a:r>
              <a:rPr lang="en-US" dirty="0"/>
              <a:t>Being a stateless application-layer protocol, HTTP does not retain session information between requests, which limits its ability to handle complex client-server interactions without additional mechanisms like cookies or sessions.</a:t>
            </a:r>
          </a:p>
        </p:txBody>
      </p:sp>
    </p:spTree>
    <p:extLst>
      <p:ext uri="{BB962C8B-B14F-4D97-AF65-F5344CB8AC3E}">
        <p14:creationId xmlns:p14="http://schemas.microsoft.com/office/powerpoint/2010/main" val="3621494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F2D52-040F-0BCD-4A44-3933EFBA4CFD}"/>
              </a:ext>
            </a:extLst>
          </p:cNvPr>
          <p:cNvSpPr>
            <a:spLocks noGrp="1"/>
          </p:cNvSpPr>
          <p:nvPr>
            <p:ph idx="1"/>
          </p:nvPr>
        </p:nvSpPr>
        <p:spPr>
          <a:xfrm>
            <a:off x="838200" y="932507"/>
            <a:ext cx="10515600" cy="5244456"/>
          </a:xfrm>
        </p:spPr>
        <p:txBody>
          <a:bodyPr>
            <a:normAutofit lnSpcReduction="10000"/>
          </a:bodyPr>
          <a:lstStyle/>
          <a:p>
            <a:pPr lvl="0" fontAlgn="base"/>
            <a:r>
              <a:rPr lang="en-US" dirty="0" err="1"/>
              <a:t>HyperText</a:t>
            </a:r>
            <a:r>
              <a:rPr lang="en-US" dirty="0"/>
              <a:t> Transfer Protocol (HTTP) is a protocol used which transfer hypertext over the Web.</a:t>
            </a:r>
          </a:p>
          <a:p>
            <a:pPr lvl="0" fontAlgn="base"/>
            <a:r>
              <a:rPr lang="en-US" dirty="0"/>
              <a:t>HTTP has been the most widely used protocol for data transfer over the Web.</a:t>
            </a:r>
          </a:p>
          <a:p>
            <a:pPr lvl="0" fontAlgn="base"/>
            <a:r>
              <a:rPr lang="en-US" dirty="0"/>
              <a:t>Hyper-text exchanged using HTTP goes as plain text which makes it less secure.</a:t>
            </a:r>
          </a:p>
          <a:p>
            <a:pPr lvl="0" fontAlgn="base"/>
            <a:r>
              <a:rPr lang="en-US" dirty="0"/>
              <a:t>The web server delivers data to the user in the form of web pages when the user initiates an HTTP request.</a:t>
            </a:r>
          </a:p>
          <a:p>
            <a:pPr lvl="0" fontAlgn="base"/>
            <a:r>
              <a:rPr lang="en-US" dirty="0"/>
              <a:t>Connection between the web browser and the server ends after the transaction is finished. This makes HTTP a stateless protocol.</a:t>
            </a:r>
          </a:p>
          <a:p>
            <a:pPr marL="0" indent="0">
              <a:buNone/>
            </a:pPr>
            <a:br>
              <a:rPr lang="en-US" dirty="0"/>
            </a:br>
            <a:endParaRPr lang="en-US" dirty="0"/>
          </a:p>
        </p:txBody>
      </p:sp>
    </p:spTree>
    <p:extLst>
      <p:ext uri="{BB962C8B-B14F-4D97-AF65-F5344CB8AC3E}">
        <p14:creationId xmlns:p14="http://schemas.microsoft.com/office/powerpoint/2010/main" val="1077385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EA87020-C903-242A-4607-D0A3A87036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1744" y="2559515"/>
            <a:ext cx="8828511" cy="2883557"/>
          </a:xfrm>
          <a:prstGeom prst="rect">
            <a:avLst/>
          </a:prstGeom>
        </p:spPr>
      </p:pic>
    </p:spTree>
    <p:extLst>
      <p:ext uri="{BB962C8B-B14F-4D97-AF65-F5344CB8AC3E}">
        <p14:creationId xmlns:p14="http://schemas.microsoft.com/office/powerpoint/2010/main" val="3777115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6B52C-B4F6-FB75-36AB-27692E39A61D}"/>
              </a:ext>
            </a:extLst>
          </p:cNvPr>
          <p:cNvSpPr>
            <a:spLocks noGrp="1"/>
          </p:cNvSpPr>
          <p:nvPr>
            <p:ph type="title"/>
          </p:nvPr>
        </p:nvSpPr>
        <p:spPr/>
        <p:txBody>
          <a:bodyPr>
            <a:normAutofit fontScale="90000"/>
          </a:bodyPr>
          <a:lstStyle/>
          <a:p>
            <a:r>
              <a:rPr lang="en-US" b="1" dirty="0"/>
              <a:t>Hypertext Transfer Protocol Secure (HTTPS)</a:t>
            </a:r>
            <a:br>
              <a:rPr lang="en-US" b="1" dirty="0"/>
            </a:br>
            <a:endParaRPr lang="en-US" dirty="0"/>
          </a:p>
        </p:txBody>
      </p:sp>
      <p:sp>
        <p:nvSpPr>
          <p:cNvPr id="3" name="Content Placeholder 2">
            <a:extLst>
              <a:ext uri="{FF2B5EF4-FFF2-40B4-BE49-F238E27FC236}">
                <a16:creationId xmlns:a16="http://schemas.microsoft.com/office/drawing/2014/main" id="{165CCA71-0E7E-2921-DFA1-CE763563824B}"/>
              </a:ext>
            </a:extLst>
          </p:cNvPr>
          <p:cNvSpPr>
            <a:spLocks noGrp="1"/>
          </p:cNvSpPr>
          <p:nvPr>
            <p:ph idx="1"/>
          </p:nvPr>
        </p:nvSpPr>
        <p:spPr/>
        <p:txBody>
          <a:bodyPr>
            <a:normAutofit fontScale="92500" lnSpcReduction="10000"/>
          </a:bodyPr>
          <a:lstStyle/>
          <a:p>
            <a:r>
              <a:rPr lang="en-US" dirty="0"/>
              <a:t>HTTPS ensures end-to-end encryption and authentication by leveraging TLS/SSL, safe guarding data from eavesdropping and tampering during transmission.</a:t>
            </a:r>
          </a:p>
          <a:p>
            <a:pPr lvl="0" fontAlgn="base"/>
            <a:r>
              <a:rPr lang="en-US" dirty="0"/>
              <a:t>HTTPS is used for secure communication as Hypertext Transfer Protocol (HTTP) doesn't.</a:t>
            </a:r>
          </a:p>
          <a:p>
            <a:pPr lvl="0" fontAlgn="base"/>
            <a:r>
              <a:rPr lang="en-US" dirty="0"/>
              <a:t>Data can be transferred using this protocol in an encrypted format.</a:t>
            </a:r>
          </a:p>
          <a:p>
            <a:pPr lvl="0" fontAlgn="base"/>
            <a:r>
              <a:rPr lang="en-US" dirty="0"/>
              <a:t>The HTTPS protocol is mostly utilized in situations when entering login credentials is necessary. Modern browsers like Chrome distinguish between the HTTP and HTTPS protocols based on distinct markings.</a:t>
            </a:r>
          </a:p>
          <a:p>
            <a:pPr lvl="0" fontAlgn="base"/>
            <a:r>
              <a:rPr lang="en-US" dirty="0"/>
              <a:t>HTTPS employs an encryption mechanism called Secure Sockets Layer (SSL), also known as Transport Layer Security, to enable encryption. </a:t>
            </a:r>
          </a:p>
          <a:p>
            <a:endParaRPr lang="en-US" dirty="0"/>
          </a:p>
        </p:txBody>
      </p:sp>
    </p:spTree>
    <p:extLst>
      <p:ext uri="{BB962C8B-B14F-4D97-AF65-F5344CB8AC3E}">
        <p14:creationId xmlns:p14="http://schemas.microsoft.com/office/powerpoint/2010/main" val="3737614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F45B835-D802-98DC-9C0C-1F505A6D1809}"/>
              </a:ext>
            </a:extLst>
          </p:cNvPr>
          <p:cNvGraphicFramePr>
            <a:graphicFrameLocks noGrp="1"/>
          </p:cNvGraphicFramePr>
          <p:nvPr>
            <p:ph idx="1"/>
            <p:extLst>
              <p:ext uri="{D42A27DB-BD31-4B8C-83A1-F6EECF244321}">
                <p14:modId xmlns:p14="http://schemas.microsoft.com/office/powerpoint/2010/main" val="1465243884"/>
              </p:ext>
            </p:extLst>
          </p:nvPr>
        </p:nvGraphicFramePr>
        <p:xfrm>
          <a:off x="838200" y="1004935"/>
          <a:ext cx="10515597" cy="5042778"/>
        </p:xfrm>
        <a:graphic>
          <a:graphicData uri="http://schemas.openxmlformats.org/drawingml/2006/table">
            <a:tbl>
              <a:tblPr firstRow="1" bandRow="1">
                <a:tableStyleId>{69CF1AB2-1976-4502-BF36-3FF5EA218861}</a:tableStyleId>
              </a:tblPr>
              <a:tblGrid>
                <a:gridCol w="3505199">
                  <a:extLst>
                    <a:ext uri="{9D8B030D-6E8A-4147-A177-3AD203B41FA5}">
                      <a16:colId xmlns:a16="http://schemas.microsoft.com/office/drawing/2014/main" val="1067427715"/>
                    </a:ext>
                  </a:extLst>
                </a:gridCol>
                <a:gridCol w="3505199">
                  <a:extLst>
                    <a:ext uri="{9D8B030D-6E8A-4147-A177-3AD203B41FA5}">
                      <a16:colId xmlns:a16="http://schemas.microsoft.com/office/drawing/2014/main" val="2333328127"/>
                    </a:ext>
                  </a:extLst>
                </a:gridCol>
                <a:gridCol w="3505199">
                  <a:extLst>
                    <a:ext uri="{9D8B030D-6E8A-4147-A177-3AD203B41FA5}">
                      <a16:colId xmlns:a16="http://schemas.microsoft.com/office/drawing/2014/main" val="379596979"/>
                    </a:ext>
                  </a:extLst>
                </a:gridCol>
              </a:tblGrid>
              <a:tr h="840463">
                <a:tc>
                  <a:txBody>
                    <a:bodyPr/>
                    <a:lstStyle/>
                    <a:p>
                      <a:pPr marL="0" marR="0" algn="ctr" fontAlgn="base">
                        <a:spcBef>
                          <a:spcPts val="1875"/>
                        </a:spcBef>
                        <a:spcAft>
                          <a:spcPts val="1875"/>
                        </a:spcAft>
                        <a:buNone/>
                      </a:pPr>
                      <a:r>
                        <a:rPr lang="en-US" sz="1400" b="1" i="0" spc="12" dirty="0">
                          <a:solidFill>
                            <a:srgbClr val="273239"/>
                          </a:solidFill>
                          <a:effectLst/>
                          <a:latin typeface="Nunito" pitchFamily="2" charset="0"/>
                        </a:rPr>
                        <a:t>Feature</a:t>
                      </a:r>
                      <a:endParaRPr lang="en-US" sz="1400" b="1" i="0" spc="10" dirty="0">
                        <a:solidFill>
                          <a:srgbClr val="273239"/>
                        </a:solidFill>
                        <a:effectLst/>
                        <a:latin typeface="Nunito" pitchFamily="2" charset="0"/>
                      </a:endParaRPr>
                    </a:p>
                  </a:txBody>
                  <a:tcPr marL="38100" marR="38100" marT="95250" marB="95250" anchor="ctr"/>
                </a:tc>
                <a:tc>
                  <a:txBody>
                    <a:bodyPr/>
                    <a:lstStyle/>
                    <a:p>
                      <a:pPr marL="0" marR="0" algn="ctr" fontAlgn="base">
                        <a:spcBef>
                          <a:spcPts val="1875"/>
                        </a:spcBef>
                        <a:spcAft>
                          <a:spcPts val="1875"/>
                        </a:spcAft>
                        <a:buNone/>
                      </a:pPr>
                      <a:r>
                        <a:rPr lang="en-US" sz="1400" b="1" i="0" spc="12">
                          <a:solidFill>
                            <a:srgbClr val="273239"/>
                          </a:solidFill>
                          <a:effectLst/>
                          <a:latin typeface="Nunito" pitchFamily="2" charset="0"/>
                        </a:rPr>
                        <a:t>HTTP</a:t>
                      </a:r>
                      <a:endParaRPr lang="en-US" sz="1400" b="1" i="0" spc="10">
                        <a:solidFill>
                          <a:srgbClr val="273239"/>
                        </a:solidFill>
                        <a:effectLst/>
                        <a:latin typeface="Nunito" pitchFamily="2" charset="0"/>
                      </a:endParaRPr>
                    </a:p>
                  </a:txBody>
                  <a:tcPr marL="95250" marR="95250" marT="95250" marB="95250" anchor="ctr"/>
                </a:tc>
                <a:tc>
                  <a:txBody>
                    <a:bodyPr/>
                    <a:lstStyle/>
                    <a:p>
                      <a:pPr marL="0" marR="0" algn="ctr" fontAlgn="base">
                        <a:spcBef>
                          <a:spcPts val="1875"/>
                        </a:spcBef>
                        <a:spcAft>
                          <a:spcPts val="1875"/>
                        </a:spcAft>
                        <a:buNone/>
                      </a:pPr>
                      <a:r>
                        <a:rPr lang="en-US" sz="1400" b="1" i="0" spc="12" dirty="0">
                          <a:solidFill>
                            <a:srgbClr val="273239"/>
                          </a:solidFill>
                          <a:effectLst/>
                          <a:latin typeface="Nunito" pitchFamily="2" charset="0"/>
                        </a:rPr>
                        <a:t>HTTPS</a:t>
                      </a:r>
                      <a:endParaRPr lang="en-US" sz="1400" b="1" i="0" spc="10" dirty="0">
                        <a:solidFill>
                          <a:srgbClr val="273239"/>
                        </a:solidFill>
                        <a:effectLst/>
                        <a:latin typeface="Nunito" pitchFamily="2" charset="0"/>
                      </a:endParaRPr>
                    </a:p>
                  </a:txBody>
                  <a:tcPr marL="95250" marR="95250" marT="95250" marB="95250" anchor="ctr"/>
                </a:tc>
                <a:extLst>
                  <a:ext uri="{0D108BD9-81ED-4DB2-BD59-A6C34878D82A}">
                    <a16:rowId xmlns:a16="http://schemas.microsoft.com/office/drawing/2014/main" val="4192774236"/>
                  </a:ext>
                </a:extLst>
              </a:tr>
              <a:tr h="840463">
                <a:tc>
                  <a:txBody>
                    <a:bodyPr/>
                    <a:lstStyle/>
                    <a:p>
                      <a:pPr marL="0" marR="0" algn="ctr" fontAlgn="ctr">
                        <a:spcBef>
                          <a:spcPts val="1875"/>
                        </a:spcBef>
                        <a:spcAft>
                          <a:spcPts val="1875"/>
                        </a:spcAft>
                        <a:buNone/>
                      </a:pPr>
                      <a:r>
                        <a:rPr lang="en-US" sz="1250" b="1" i="0" spc="10" dirty="0">
                          <a:solidFill>
                            <a:srgbClr val="273239"/>
                          </a:solidFill>
                          <a:effectLst/>
                          <a:latin typeface="Nunito" pitchFamily="2" charset="0"/>
                        </a:rPr>
                        <a:t>Security</a:t>
                      </a:r>
                      <a:endParaRPr lang="en-US" sz="1250" b="0" i="0" spc="10" dirty="0">
                        <a:solidFill>
                          <a:srgbClr val="273239"/>
                        </a:solidFill>
                        <a:effectLst/>
                        <a:latin typeface="Nunito" pitchFamily="2" charset="0"/>
                      </a:endParaRPr>
                    </a:p>
                  </a:txBody>
                  <a:tcPr marL="95250" marR="95250" marT="133350" marB="133350" anchor="ctr"/>
                </a:tc>
                <a:tc>
                  <a:txBody>
                    <a:bodyPr/>
                    <a:lstStyle/>
                    <a:p>
                      <a:pPr marL="0" marR="0" algn="ctr" fontAlgn="ctr">
                        <a:spcBef>
                          <a:spcPts val="1875"/>
                        </a:spcBef>
                        <a:spcAft>
                          <a:spcPts val="1875"/>
                        </a:spcAft>
                        <a:buNone/>
                      </a:pPr>
                      <a:r>
                        <a:rPr lang="en-US" sz="1250" b="0" i="0" spc="12">
                          <a:solidFill>
                            <a:srgbClr val="273239"/>
                          </a:solidFill>
                          <a:effectLst/>
                          <a:latin typeface="Nunito" pitchFamily="2" charset="0"/>
                        </a:rPr>
                        <a:t>Data is sent as plain text — easy to intercept.</a:t>
                      </a:r>
                      <a:endParaRPr lang="en-US" sz="1250" b="0" i="0" spc="10">
                        <a:solidFill>
                          <a:srgbClr val="273239"/>
                        </a:solidFill>
                        <a:effectLst/>
                        <a:latin typeface="Nunito" pitchFamily="2" charset="0"/>
                      </a:endParaRPr>
                    </a:p>
                  </a:txBody>
                  <a:tcPr marL="95250" marR="95250" marT="133350" marB="133350" anchor="ctr"/>
                </a:tc>
                <a:tc>
                  <a:txBody>
                    <a:bodyPr/>
                    <a:lstStyle/>
                    <a:p>
                      <a:pPr marL="0" marR="0" algn="ctr" fontAlgn="ctr">
                        <a:spcBef>
                          <a:spcPts val="1875"/>
                        </a:spcBef>
                        <a:spcAft>
                          <a:spcPts val="1875"/>
                        </a:spcAft>
                        <a:buNone/>
                      </a:pPr>
                      <a:r>
                        <a:rPr lang="en-US" sz="1250" b="0" i="0" spc="12" dirty="0">
                          <a:solidFill>
                            <a:srgbClr val="273239"/>
                          </a:solidFill>
                          <a:effectLst/>
                          <a:latin typeface="Nunito" pitchFamily="2" charset="0"/>
                        </a:rPr>
                        <a:t>Data is encrypted — safer from hackers.</a:t>
                      </a:r>
                      <a:endParaRPr lang="en-US" sz="1250" b="0" i="0" spc="10" dirty="0">
                        <a:solidFill>
                          <a:srgbClr val="273239"/>
                        </a:solidFill>
                        <a:effectLst/>
                        <a:latin typeface="Nunito" pitchFamily="2" charset="0"/>
                      </a:endParaRPr>
                    </a:p>
                  </a:txBody>
                  <a:tcPr marL="95250" marR="95250" marT="133350" marB="133350" anchor="ctr"/>
                </a:tc>
                <a:extLst>
                  <a:ext uri="{0D108BD9-81ED-4DB2-BD59-A6C34878D82A}">
                    <a16:rowId xmlns:a16="http://schemas.microsoft.com/office/drawing/2014/main" val="30232309"/>
                  </a:ext>
                </a:extLst>
              </a:tr>
              <a:tr h="840463">
                <a:tc>
                  <a:txBody>
                    <a:bodyPr/>
                    <a:lstStyle/>
                    <a:p>
                      <a:pPr marL="0" marR="0" algn="ctr" fontAlgn="ctr">
                        <a:spcBef>
                          <a:spcPts val="1875"/>
                        </a:spcBef>
                        <a:spcAft>
                          <a:spcPts val="1875"/>
                        </a:spcAft>
                        <a:buNone/>
                      </a:pPr>
                      <a:r>
                        <a:rPr lang="en-US" sz="1250" b="1" i="0" spc="10" dirty="0">
                          <a:solidFill>
                            <a:srgbClr val="273239"/>
                          </a:solidFill>
                          <a:effectLst/>
                          <a:latin typeface="Nunito" pitchFamily="2" charset="0"/>
                        </a:rPr>
                        <a:t>Port</a:t>
                      </a:r>
                      <a:endParaRPr lang="en-US" sz="1250" b="0" i="0" spc="10" dirty="0">
                        <a:solidFill>
                          <a:srgbClr val="273239"/>
                        </a:solidFill>
                        <a:effectLst/>
                        <a:latin typeface="Nunito" pitchFamily="2" charset="0"/>
                      </a:endParaRPr>
                    </a:p>
                  </a:txBody>
                  <a:tcPr marL="95250" marR="95250" marT="133350" marB="133350" anchor="ctr"/>
                </a:tc>
                <a:tc>
                  <a:txBody>
                    <a:bodyPr/>
                    <a:lstStyle/>
                    <a:p>
                      <a:pPr marL="0" marR="0" algn="ctr" fontAlgn="ctr">
                        <a:spcBef>
                          <a:spcPts val="1875"/>
                        </a:spcBef>
                        <a:spcAft>
                          <a:spcPts val="1875"/>
                        </a:spcAft>
                        <a:buNone/>
                      </a:pPr>
                      <a:r>
                        <a:rPr lang="en-US" sz="1250" b="0" i="0" spc="12">
                          <a:solidFill>
                            <a:srgbClr val="273239"/>
                          </a:solidFill>
                          <a:effectLst/>
                          <a:latin typeface="Nunito" pitchFamily="2" charset="0"/>
                        </a:rPr>
                        <a:t>Uses port 80 by default.</a:t>
                      </a:r>
                      <a:endParaRPr lang="en-US" sz="1250" b="0" i="0" spc="10">
                        <a:solidFill>
                          <a:srgbClr val="273239"/>
                        </a:solidFill>
                        <a:effectLst/>
                        <a:latin typeface="Nunito" pitchFamily="2" charset="0"/>
                      </a:endParaRPr>
                    </a:p>
                  </a:txBody>
                  <a:tcPr marL="95250" marR="95250" marT="133350" marB="133350" anchor="ctr"/>
                </a:tc>
                <a:tc>
                  <a:txBody>
                    <a:bodyPr/>
                    <a:lstStyle/>
                    <a:p>
                      <a:pPr marL="0" marR="0" algn="ctr" fontAlgn="ctr">
                        <a:spcBef>
                          <a:spcPts val="1875"/>
                        </a:spcBef>
                        <a:spcAft>
                          <a:spcPts val="1875"/>
                        </a:spcAft>
                        <a:buNone/>
                      </a:pPr>
                      <a:r>
                        <a:rPr lang="en-US" sz="1250" b="0" i="0" spc="12">
                          <a:solidFill>
                            <a:srgbClr val="273239"/>
                          </a:solidFill>
                          <a:effectLst/>
                          <a:latin typeface="Nunito" pitchFamily="2" charset="0"/>
                        </a:rPr>
                        <a:t>Uses port 443 by default.</a:t>
                      </a:r>
                      <a:endParaRPr lang="en-US" sz="1250" b="0" i="0" spc="10">
                        <a:solidFill>
                          <a:srgbClr val="273239"/>
                        </a:solidFill>
                        <a:effectLst/>
                        <a:latin typeface="Nunito" pitchFamily="2" charset="0"/>
                      </a:endParaRPr>
                    </a:p>
                  </a:txBody>
                  <a:tcPr marL="95250" marR="95250" marT="133350" marB="133350" anchor="ctr"/>
                </a:tc>
                <a:extLst>
                  <a:ext uri="{0D108BD9-81ED-4DB2-BD59-A6C34878D82A}">
                    <a16:rowId xmlns:a16="http://schemas.microsoft.com/office/drawing/2014/main" val="600636198"/>
                  </a:ext>
                </a:extLst>
              </a:tr>
              <a:tr h="840463">
                <a:tc>
                  <a:txBody>
                    <a:bodyPr/>
                    <a:lstStyle/>
                    <a:p>
                      <a:pPr marL="0" marR="0" algn="ctr" fontAlgn="ctr">
                        <a:spcBef>
                          <a:spcPts val="1875"/>
                        </a:spcBef>
                        <a:spcAft>
                          <a:spcPts val="1875"/>
                        </a:spcAft>
                        <a:buNone/>
                      </a:pPr>
                      <a:r>
                        <a:rPr lang="en-US" sz="1250" b="1" i="0" spc="10">
                          <a:solidFill>
                            <a:srgbClr val="273239"/>
                          </a:solidFill>
                          <a:effectLst/>
                          <a:latin typeface="Nunito" pitchFamily="2" charset="0"/>
                        </a:rPr>
                        <a:t>Trust</a:t>
                      </a:r>
                      <a:endParaRPr lang="en-US" sz="1250" b="0" i="0" spc="10">
                        <a:solidFill>
                          <a:srgbClr val="273239"/>
                        </a:solidFill>
                        <a:effectLst/>
                        <a:latin typeface="Nunito" pitchFamily="2" charset="0"/>
                      </a:endParaRPr>
                    </a:p>
                  </a:txBody>
                  <a:tcPr marL="95250" marR="95250" marT="133350" marB="133350" anchor="ctr"/>
                </a:tc>
                <a:tc>
                  <a:txBody>
                    <a:bodyPr/>
                    <a:lstStyle/>
                    <a:p>
                      <a:pPr marL="0" marR="0" algn="ctr" fontAlgn="ctr">
                        <a:spcBef>
                          <a:spcPts val="1875"/>
                        </a:spcBef>
                        <a:spcAft>
                          <a:spcPts val="1875"/>
                        </a:spcAft>
                        <a:buNone/>
                      </a:pPr>
                      <a:r>
                        <a:rPr lang="en-US" sz="1250" b="0" i="0" spc="12">
                          <a:solidFill>
                            <a:srgbClr val="273239"/>
                          </a:solidFill>
                          <a:effectLst/>
                          <a:latin typeface="Nunito" pitchFamily="2" charset="0"/>
                        </a:rPr>
                        <a:t>Browsers may label it “Not Secure.”</a:t>
                      </a:r>
                      <a:endParaRPr lang="en-US" sz="1250" b="0" i="0" spc="10">
                        <a:solidFill>
                          <a:srgbClr val="273239"/>
                        </a:solidFill>
                        <a:effectLst/>
                        <a:latin typeface="Nunito" pitchFamily="2" charset="0"/>
                      </a:endParaRPr>
                    </a:p>
                  </a:txBody>
                  <a:tcPr marL="95250" marR="95250" marT="133350" marB="133350" anchor="ctr"/>
                </a:tc>
                <a:tc>
                  <a:txBody>
                    <a:bodyPr/>
                    <a:lstStyle/>
                    <a:p>
                      <a:pPr marL="0" marR="0" algn="ctr" fontAlgn="ctr">
                        <a:spcBef>
                          <a:spcPts val="1875"/>
                        </a:spcBef>
                        <a:spcAft>
                          <a:spcPts val="1875"/>
                        </a:spcAft>
                        <a:buNone/>
                      </a:pPr>
                      <a:r>
                        <a:rPr lang="en-US" sz="1250" b="0" i="0" spc="12">
                          <a:solidFill>
                            <a:srgbClr val="273239"/>
                          </a:solidFill>
                          <a:effectLst/>
                          <a:latin typeface="Nunito" pitchFamily="2" charset="0"/>
                        </a:rPr>
                        <a:t>Shows a padlock in the address bar.</a:t>
                      </a:r>
                      <a:endParaRPr lang="en-US" sz="1250" b="0" i="0" spc="10">
                        <a:solidFill>
                          <a:srgbClr val="273239"/>
                        </a:solidFill>
                        <a:effectLst/>
                        <a:latin typeface="Nunito" pitchFamily="2" charset="0"/>
                      </a:endParaRPr>
                    </a:p>
                  </a:txBody>
                  <a:tcPr marL="95250" marR="95250" marT="133350" marB="133350" anchor="ctr"/>
                </a:tc>
                <a:extLst>
                  <a:ext uri="{0D108BD9-81ED-4DB2-BD59-A6C34878D82A}">
                    <a16:rowId xmlns:a16="http://schemas.microsoft.com/office/drawing/2014/main" val="2269164640"/>
                  </a:ext>
                </a:extLst>
              </a:tr>
              <a:tr h="840463">
                <a:tc>
                  <a:txBody>
                    <a:bodyPr/>
                    <a:lstStyle/>
                    <a:p>
                      <a:pPr marL="0" marR="0" algn="ctr" fontAlgn="ctr">
                        <a:spcBef>
                          <a:spcPts val="1875"/>
                        </a:spcBef>
                        <a:spcAft>
                          <a:spcPts val="1875"/>
                        </a:spcAft>
                        <a:buNone/>
                      </a:pPr>
                      <a:r>
                        <a:rPr lang="en-US" sz="1250" b="1" i="0" spc="10">
                          <a:solidFill>
                            <a:srgbClr val="273239"/>
                          </a:solidFill>
                          <a:effectLst/>
                          <a:latin typeface="Nunito" pitchFamily="2" charset="0"/>
                        </a:rPr>
                        <a:t>Speed</a:t>
                      </a:r>
                      <a:endParaRPr lang="en-US" sz="1250" b="0" i="0" spc="10">
                        <a:solidFill>
                          <a:srgbClr val="273239"/>
                        </a:solidFill>
                        <a:effectLst/>
                        <a:latin typeface="Nunito" pitchFamily="2" charset="0"/>
                      </a:endParaRPr>
                    </a:p>
                  </a:txBody>
                  <a:tcPr marL="95250" marR="95250" marT="133350" marB="133350" anchor="ctr"/>
                </a:tc>
                <a:tc>
                  <a:txBody>
                    <a:bodyPr/>
                    <a:lstStyle/>
                    <a:p>
                      <a:pPr marL="0" marR="0" algn="ctr" fontAlgn="ctr">
                        <a:spcBef>
                          <a:spcPts val="1875"/>
                        </a:spcBef>
                        <a:spcAft>
                          <a:spcPts val="1875"/>
                        </a:spcAft>
                        <a:buNone/>
                      </a:pPr>
                      <a:r>
                        <a:rPr lang="en-US" sz="1250" b="0" i="0" spc="12">
                          <a:solidFill>
                            <a:srgbClr val="273239"/>
                          </a:solidFill>
                          <a:effectLst/>
                          <a:latin typeface="Nunito" pitchFamily="2" charset="0"/>
                        </a:rPr>
                        <a:t>Slightly slower on old systems.</a:t>
                      </a:r>
                      <a:endParaRPr lang="en-US" sz="1250" b="0" i="0" spc="10">
                        <a:solidFill>
                          <a:srgbClr val="273239"/>
                        </a:solidFill>
                        <a:effectLst/>
                        <a:latin typeface="Nunito" pitchFamily="2" charset="0"/>
                      </a:endParaRPr>
                    </a:p>
                  </a:txBody>
                  <a:tcPr marL="95250" marR="95250" marT="133350" marB="133350" anchor="ctr"/>
                </a:tc>
                <a:tc>
                  <a:txBody>
                    <a:bodyPr/>
                    <a:lstStyle/>
                    <a:p>
                      <a:pPr marL="0" marR="0" algn="ctr" fontAlgn="ctr">
                        <a:spcBef>
                          <a:spcPts val="1875"/>
                        </a:spcBef>
                        <a:spcAft>
                          <a:spcPts val="1875"/>
                        </a:spcAft>
                        <a:buNone/>
                      </a:pPr>
                      <a:r>
                        <a:rPr lang="en-US" sz="1250" b="0" i="0" spc="12">
                          <a:solidFill>
                            <a:srgbClr val="273239"/>
                          </a:solidFill>
                          <a:effectLst/>
                          <a:latin typeface="Nunito" pitchFamily="2" charset="0"/>
                        </a:rPr>
                        <a:t>Often faster due to newer protocols and optimizations.</a:t>
                      </a:r>
                      <a:endParaRPr lang="en-US" sz="1250" b="0" i="0" spc="10">
                        <a:solidFill>
                          <a:srgbClr val="273239"/>
                        </a:solidFill>
                        <a:effectLst/>
                        <a:latin typeface="Nunito" pitchFamily="2" charset="0"/>
                      </a:endParaRPr>
                    </a:p>
                  </a:txBody>
                  <a:tcPr marL="95250" marR="95250" marT="133350" marB="133350" anchor="ctr"/>
                </a:tc>
                <a:extLst>
                  <a:ext uri="{0D108BD9-81ED-4DB2-BD59-A6C34878D82A}">
                    <a16:rowId xmlns:a16="http://schemas.microsoft.com/office/drawing/2014/main" val="2982718253"/>
                  </a:ext>
                </a:extLst>
              </a:tr>
              <a:tr h="840463">
                <a:tc>
                  <a:txBody>
                    <a:bodyPr/>
                    <a:lstStyle/>
                    <a:p>
                      <a:pPr marL="0" marR="0" algn="ctr" fontAlgn="ctr">
                        <a:spcBef>
                          <a:spcPts val="1875"/>
                        </a:spcBef>
                        <a:spcAft>
                          <a:spcPts val="1875"/>
                        </a:spcAft>
                        <a:buNone/>
                      </a:pPr>
                      <a:r>
                        <a:rPr lang="en-US" sz="1250" b="1" i="0" spc="10">
                          <a:solidFill>
                            <a:srgbClr val="273239"/>
                          </a:solidFill>
                          <a:effectLst/>
                          <a:latin typeface="Nunito" pitchFamily="2" charset="0"/>
                        </a:rPr>
                        <a:t>Use case</a:t>
                      </a:r>
                      <a:endParaRPr lang="en-US" sz="1250" b="0" i="0" spc="10">
                        <a:solidFill>
                          <a:srgbClr val="273239"/>
                        </a:solidFill>
                        <a:effectLst/>
                        <a:latin typeface="Nunito" pitchFamily="2" charset="0"/>
                      </a:endParaRPr>
                    </a:p>
                  </a:txBody>
                  <a:tcPr marL="95250" marR="95250" marT="133350" marB="133350" anchor="ctr"/>
                </a:tc>
                <a:tc>
                  <a:txBody>
                    <a:bodyPr/>
                    <a:lstStyle/>
                    <a:p>
                      <a:pPr marL="0" marR="0" algn="ctr" fontAlgn="ctr">
                        <a:spcBef>
                          <a:spcPts val="1875"/>
                        </a:spcBef>
                        <a:spcAft>
                          <a:spcPts val="1875"/>
                        </a:spcAft>
                        <a:buNone/>
                      </a:pPr>
                      <a:r>
                        <a:rPr lang="en-US" sz="1250" b="0" i="0" spc="12">
                          <a:solidFill>
                            <a:srgbClr val="273239"/>
                          </a:solidFill>
                          <a:effectLst/>
                          <a:latin typeface="Nunito" pitchFamily="2" charset="0"/>
                        </a:rPr>
                        <a:t>Suitable for public or non-sensitive info.</a:t>
                      </a:r>
                      <a:endParaRPr lang="en-US" sz="1250" b="0" i="0" spc="10">
                        <a:solidFill>
                          <a:srgbClr val="273239"/>
                        </a:solidFill>
                        <a:effectLst/>
                        <a:latin typeface="Nunito" pitchFamily="2" charset="0"/>
                      </a:endParaRPr>
                    </a:p>
                  </a:txBody>
                  <a:tcPr marL="95250" marR="95250" marT="133350" marB="133350" anchor="ctr"/>
                </a:tc>
                <a:tc>
                  <a:txBody>
                    <a:bodyPr/>
                    <a:lstStyle/>
                    <a:p>
                      <a:pPr marL="0" marR="0" algn="ctr" fontAlgn="ctr">
                        <a:spcBef>
                          <a:spcPts val="1875"/>
                        </a:spcBef>
                        <a:spcAft>
                          <a:spcPts val="1875"/>
                        </a:spcAft>
                        <a:buNone/>
                      </a:pPr>
                      <a:r>
                        <a:rPr lang="en-US" sz="1250" b="0" i="0" spc="12" dirty="0">
                          <a:solidFill>
                            <a:srgbClr val="273239"/>
                          </a:solidFill>
                          <a:effectLst/>
                          <a:latin typeface="Nunito" pitchFamily="2" charset="0"/>
                        </a:rPr>
                        <a:t>Best for sensitive data like payments, logins, personal info.</a:t>
                      </a:r>
                      <a:endParaRPr lang="en-US" sz="1250" b="0" i="0" spc="10" dirty="0">
                        <a:solidFill>
                          <a:srgbClr val="273239"/>
                        </a:solidFill>
                        <a:effectLst/>
                        <a:latin typeface="Nunito" pitchFamily="2" charset="0"/>
                      </a:endParaRPr>
                    </a:p>
                  </a:txBody>
                  <a:tcPr marL="95250" marR="95250" marT="133350" marB="133350" anchor="ctr"/>
                </a:tc>
                <a:extLst>
                  <a:ext uri="{0D108BD9-81ED-4DB2-BD59-A6C34878D82A}">
                    <a16:rowId xmlns:a16="http://schemas.microsoft.com/office/drawing/2014/main" val="2180557182"/>
                  </a:ext>
                </a:extLst>
              </a:tr>
            </a:tbl>
          </a:graphicData>
        </a:graphic>
      </p:graphicFrame>
    </p:spTree>
    <p:extLst>
      <p:ext uri="{BB962C8B-B14F-4D97-AF65-F5344CB8AC3E}">
        <p14:creationId xmlns:p14="http://schemas.microsoft.com/office/powerpoint/2010/main" val="2411777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D8E02-2A9B-94B8-6633-8B6E15468977}"/>
              </a:ext>
            </a:extLst>
          </p:cNvPr>
          <p:cNvSpPr>
            <a:spLocks noGrp="1"/>
          </p:cNvSpPr>
          <p:nvPr>
            <p:ph type="title"/>
          </p:nvPr>
        </p:nvSpPr>
        <p:spPr/>
        <p:txBody>
          <a:bodyPr/>
          <a:lstStyle/>
          <a:p>
            <a:r>
              <a:rPr lang="en-US" dirty="0"/>
              <a:t>Explain the concept of web privacy.</a:t>
            </a:r>
          </a:p>
        </p:txBody>
      </p:sp>
      <p:sp>
        <p:nvSpPr>
          <p:cNvPr id="3" name="Content Placeholder 2">
            <a:extLst>
              <a:ext uri="{FF2B5EF4-FFF2-40B4-BE49-F238E27FC236}">
                <a16:creationId xmlns:a16="http://schemas.microsoft.com/office/drawing/2014/main" id="{8D30964D-2ACF-45E9-2F6F-8EB5B7FBE490}"/>
              </a:ext>
            </a:extLst>
          </p:cNvPr>
          <p:cNvSpPr>
            <a:spLocks noGrp="1"/>
          </p:cNvSpPr>
          <p:nvPr>
            <p:ph idx="1"/>
          </p:nvPr>
        </p:nvSpPr>
        <p:spPr/>
        <p:txBody>
          <a:bodyPr>
            <a:normAutofit lnSpcReduction="10000"/>
          </a:bodyPr>
          <a:lstStyle/>
          <a:p>
            <a:r>
              <a:rPr lang="en-US" b="1" dirty="0"/>
              <a:t>Web privacy</a:t>
            </a:r>
            <a:r>
              <a:rPr lang="en-US" dirty="0"/>
              <a:t> refers to protecting a user's </a:t>
            </a:r>
            <a:r>
              <a:rPr lang="en-US" b="1" dirty="0"/>
              <a:t>personal information, online activities, and communication</a:t>
            </a:r>
            <a:r>
              <a:rPr lang="en-US" dirty="0"/>
              <a:t> while using the Internet and web applications. </a:t>
            </a:r>
          </a:p>
          <a:p>
            <a:r>
              <a:rPr lang="en-US" dirty="0"/>
              <a:t>In computer networks, web privacy ensures that unauthorized people, websites, organizations, or attackers cannot improperly collect, monitor, or misuse user data.</a:t>
            </a:r>
          </a:p>
          <a:p>
            <a:pPr marL="0" indent="0">
              <a:buNone/>
            </a:pPr>
            <a:r>
              <a:rPr lang="en-US" b="1" dirty="0"/>
              <a:t>Importance of Web Privacy</a:t>
            </a:r>
          </a:p>
          <a:p>
            <a:r>
              <a:rPr lang="en-US" dirty="0"/>
              <a:t>When a user browses the Internet, information such as IP address, browsing history, location, login details, and online activities may be exposed or collected. Web privacy helps protect this information from unauthorized access.</a:t>
            </a:r>
          </a:p>
          <a:p>
            <a:endParaRPr lang="en-US" dirty="0"/>
          </a:p>
        </p:txBody>
      </p:sp>
      <mc:AlternateContent xmlns:mc="http://schemas.openxmlformats.org/markup-compatibility/2006">
        <mc:Choice xmlns:pslz="http://schemas.microsoft.com/office/powerpoint/2016/slidezoom" Requires="pslz">
          <p:graphicFrame>
            <p:nvGraphicFramePr>
              <p:cNvPr id="5" name="Slide Zoom 4">
                <a:extLst>
                  <a:ext uri="{FF2B5EF4-FFF2-40B4-BE49-F238E27FC236}">
                    <a16:creationId xmlns:a16="http://schemas.microsoft.com/office/drawing/2014/main" id="{B2DAEF27-0FB3-7E8D-CDBA-B4861944878B}"/>
                  </a:ext>
                </a:extLst>
              </p:cNvPr>
              <p:cNvGraphicFramePr>
                <a:graphicFrameLocks noChangeAspect="1"/>
              </p:cNvGraphicFramePr>
              <p:nvPr>
                <p:extLst>
                  <p:ext uri="{D42A27DB-BD31-4B8C-83A1-F6EECF244321}">
                    <p14:modId xmlns:p14="http://schemas.microsoft.com/office/powerpoint/2010/main" val="3950701998"/>
                  </p:ext>
                </p:extLst>
              </p:nvPr>
            </p:nvGraphicFramePr>
            <p:xfrm>
              <a:off x="-999029" y="-88213"/>
              <a:ext cx="3048000" cy="1714500"/>
            </p:xfrm>
            <a:graphic>
              <a:graphicData uri="http://schemas.microsoft.com/office/powerpoint/2016/slidezoom">
                <pslz:sldZm>
                  <pslz:sldZmObj sldId="263" cId="3621494031">
                    <pslz:zmPr id="{7D356EDD-E44E-4689-8815-88A5D44FF69A}"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5" name="Slide Zoom 4">
                <a:hlinkClick r:id="rId3" action="ppaction://hlinksldjump"/>
                <a:extLst>
                  <a:ext uri="{FF2B5EF4-FFF2-40B4-BE49-F238E27FC236}">
                    <a16:creationId xmlns:a16="http://schemas.microsoft.com/office/drawing/2014/main" id="{B2DAEF27-0FB3-7E8D-CDBA-B4861944878B}"/>
                  </a:ext>
                </a:extLst>
              </p:cNvPr>
              <p:cNvPicPr>
                <a:picLocks noGrp="1" noRot="1" noChangeAspect="1" noMove="1" noResize="1" noEditPoints="1" noAdjustHandles="1" noChangeArrowheads="1" noChangeShapeType="1"/>
              </p:cNvPicPr>
              <p:nvPr/>
            </p:nvPicPr>
            <p:blipFill>
              <a:blip r:embed="rId2"/>
              <a:stretch>
                <a:fillRect/>
              </a:stretch>
            </p:blipFill>
            <p:spPr>
              <a:xfrm>
                <a:off x="-999029" y="-88213"/>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693366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29505-DF5A-C9E5-E4AE-45784AED64C7}"/>
              </a:ext>
            </a:extLst>
          </p:cNvPr>
          <p:cNvSpPr>
            <a:spLocks noGrp="1"/>
          </p:cNvSpPr>
          <p:nvPr>
            <p:ph type="title"/>
          </p:nvPr>
        </p:nvSpPr>
        <p:spPr>
          <a:xfrm>
            <a:off x="838200" y="365126"/>
            <a:ext cx="10515600" cy="938574"/>
          </a:xfrm>
        </p:spPr>
        <p:txBody>
          <a:bodyPr>
            <a:normAutofit fontScale="90000"/>
          </a:bodyPr>
          <a:lstStyle/>
          <a:p>
            <a:r>
              <a:rPr lang="en-US" b="1" dirty="0"/>
              <a:t>Common Threats to Web Privacy</a:t>
            </a:r>
            <a:br>
              <a:rPr lang="en-US" b="1" dirty="0"/>
            </a:br>
            <a:endParaRPr lang="en-US" dirty="0"/>
          </a:p>
        </p:txBody>
      </p:sp>
      <p:sp>
        <p:nvSpPr>
          <p:cNvPr id="3" name="Content Placeholder 2">
            <a:extLst>
              <a:ext uri="{FF2B5EF4-FFF2-40B4-BE49-F238E27FC236}">
                <a16:creationId xmlns:a16="http://schemas.microsoft.com/office/drawing/2014/main" id="{61423C76-0BB0-01D0-D04C-D1F5D80AAC76}"/>
              </a:ext>
            </a:extLst>
          </p:cNvPr>
          <p:cNvSpPr>
            <a:spLocks noGrp="1"/>
          </p:cNvSpPr>
          <p:nvPr>
            <p:ph idx="1"/>
          </p:nvPr>
        </p:nvSpPr>
        <p:spPr>
          <a:xfrm>
            <a:off x="838200" y="1303700"/>
            <a:ext cx="10515600" cy="4873263"/>
          </a:xfrm>
        </p:spPr>
        <p:txBody>
          <a:bodyPr>
            <a:normAutofit fontScale="92500" lnSpcReduction="10000"/>
          </a:bodyPr>
          <a:lstStyle/>
          <a:p>
            <a:pPr lvl="0"/>
            <a:r>
              <a:rPr lang="en-US" b="1" dirty="0"/>
              <a:t>Tracking:</a:t>
            </a:r>
            <a:r>
              <a:rPr lang="en-US" dirty="0"/>
              <a:t> Websites and advertising networks may track users' browsing activities using cookies and other technologies.</a:t>
            </a:r>
          </a:p>
          <a:p>
            <a:pPr lvl="0"/>
            <a:r>
              <a:rPr lang="en-US" b="1" dirty="0"/>
              <a:t>Eavesdropping:</a:t>
            </a:r>
            <a:r>
              <a:rPr lang="en-US" dirty="0"/>
              <a:t> Attackers on an insecure network may intercept data transmitted between a user and a server.</a:t>
            </a:r>
          </a:p>
          <a:p>
            <a:pPr lvl="0"/>
            <a:r>
              <a:rPr lang="en-US" b="1" dirty="0"/>
              <a:t>Phishing:</a:t>
            </a:r>
            <a:r>
              <a:rPr lang="en-US" dirty="0"/>
              <a:t> Fake websites or messages may trick users into revealing passwords or financial information.</a:t>
            </a:r>
          </a:p>
          <a:p>
            <a:pPr lvl="0"/>
            <a:r>
              <a:rPr lang="en-US" b="1" dirty="0"/>
              <a:t>Data collection:</a:t>
            </a:r>
            <a:r>
              <a:rPr lang="en-US" dirty="0"/>
              <a:t> Websites and online services may collect personal information about users.</a:t>
            </a:r>
          </a:p>
          <a:p>
            <a:pPr lvl="0"/>
            <a:r>
              <a:rPr lang="en-US" b="1" dirty="0"/>
              <a:t>Malware:</a:t>
            </a:r>
            <a:r>
              <a:rPr lang="en-US" dirty="0"/>
              <a:t> Malicious software can steal sensitive information from a user's device.</a:t>
            </a:r>
          </a:p>
          <a:p>
            <a:pPr lvl="0"/>
            <a:r>
              <a:rPr lang="en-US" b="1" dirty="0"/>
              <a:t>IP address exposure:</a:t>
            </a:r>
            <a:r>
              <a:rPr lang="en-US" dirty="0"/>
              <a:t> An IP address can provide information about a user's network and approximate location.</a:t>
            </a:r>
          </a:p>
          <a:p>
            <a:endParaRPr lang="en-US" dirty="0"/>
          </a:p>
        </p:txBody>
      </p:sp>
    </p:spTree>
    <p:extLst>
      <p:ext uri="{BB962C8B-B14F-4D97-AF65-F5344CB8AC3E}">
        <p14:creationId xmlns:p14="http://schemas.microsoft.com/office/powerpoint/2010/main" val="3244864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C10F9-DB14-A52F-34D4-B8BA12C666F0}"/>
              </a:ext>
            </a:extLst>
          </p:cNvPr>
          <p:cNvSpPr>
            <a:spLocks noGrp="1"/>
          </p:cNvSpPr>
          <p:nvPr>
            <p:ph type="title"/>
          </p:nvPr>
        </p:nvSpPr>
        <p:spPr/>
        <p:txBody>
          <a:bodyPr/>
          <a:lstStyle/>
          <a:p>
            <a:r>
              <a:rPr lang="en-US" dirty="0"/>
              <a:t>Discuss the importance of web privacy in internet communication.</a:t>
            </a:r>
          </a:p>
        </p:txBody>
      </p:sp>
      <p:sp>
        <p:nvSpPr>
          <p:cNvPr id="3" name="Content Placeholder 2">
            <a:extLst>
              <a:ext uri="{FF2B5EF4-FFF2-40B4-BE49-F238E27FC236}">
                <a16:creationId xmlns:a16="http://schemas.microsoft.com/office/drawing/2014/main" id="{80DDF17B-6567-3D76-37B5-C7555E9C74A1}"/>
              </a:ext>
            </a:extLst>
          </p:cNvPr>
          <p:cNvSpPr>
            <a:spLocks noGrp="1"/>
          </p:cNvSpPr>
          <p:nvPr>
            <p:ph idx="1"/>
          </p:nvPr>
        </p:nvSpPr>
        <p:spPr/>
        <p:txBody>
          <a:bodyPr>
            <a:normAutofit fontScale="85000" lnSpcReduction="20000"/>
          </a:bodyPr>
          <a:lstStyle/>
          <a:p>
            <a:pPr marL="0" indent="0">
              <a:buNone/>
            </a:pPr>
            <a:r>
              <a:rPr lang="en-US" b="1" dirty="0"/>
              <a:t>Web privacy</a:t>
            </a:r>
            <a:r>
              <a:rPr lang="en-US" dirty="0"/>
              <a:t> is the protection of a user's personal information, online activities, and communications while using the Internet. It is an important aspect of secure Internet communication because large amounts of sensitive information are exchanged through websites and online services.</a:t>
            </a:r>
          </a:p>
          <a:p>
            <a:pPr marL="0" indent="0">
              <a:buNone/>
            </a:pPr>
            <a:r>
              <a:rPr lang="en-US" b="1" dirty="0"/>
              <a:t>Importance of Web Privacy</a:t>
            </a:r>
          </a:p>
          <a:p>
            <a:r>
              <a:rPr lang="en-US" b="1" dirty="0"/>
              <a:t>Protects personal information</a:t>
            </a:r>
            <a:br>
              <a:rPr lang="en-US" dirty="0"/>
            </a:br>
            <a:r>
              <a:rPr lang="en-US" dirty="0"/>
              <a:t>Web privacy prevents unauthorized access to information such as names, addresses, phone numbers, passwords, and account details.</a:t>
            </a:r>
          </a:p>
          <a:p>
            <a:r>
              <a:rPr lang="en-US" b="1" dirty="0"/>
              <a:t>Protects sensitive communications</a:t>
            </a:r>
            <a:br>
              <a:rPr lang="en-US" dirty="0"/>
            </a:br>
            <a:r>
              <a:rPr lang="en-US" dirty="0"/>
              <a:t>Encryption technologies such as </a:t>
            </a:r>
            <a:r>
              <a:rPr lang="en-US" b="1" dirty="0"/>
              <a:t>HTTPS/TLS</a:t>
            </a:r>
            <a:r>
              <a:rPr lang="en-US" dirty="0"/>
              <a:t> help prevent attackers from reading data exchanged between users and web servers.</a:t>
            </a:r>
          </a:p>
          <a:p>
            <a:pPr marL="0" indent="0">
              <a:buNone/>
            </a:pPr>
            <a:br>
              <a:rPr lang="en-US" dirty="0"/>
            </a:br>
            <a:br>
              <a:rPr lang="en-US" dirty="0"/>
            </a:br>
            <a:endParaRPr lang="en-US" dirty="0"/>
          </a:p>
        </p:txBody>
      </p:sp>
    </p:spTree>
    <p:extLst>
      <p:ext uri="{BB962C8B-B14F-4D97-AF65-F5344CB8AC3E}">
        <p14:creationId xmlns:p14="http://schemas.microsoft.com/office/powerpoint/2010/main" val="2843873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5B365F-8A43-148F-F788-2C71373169FC}"/>
              </a:ext>
            </a:extLst>
          </p:cNvPr>
          <p:cNvSpPr>
            <a:spLocks noGrp="1"/>
          </p:cNvSpPr>
          <p:nvPr>
            <p:ph idx="1"/>
          </p:nvPr>
        </p:nvSpPr>
        <p:spPr>
          <a:xfrm>
            <a:off x="950614" y="1131683"/>
            <a:ext cx="10403186" cy="5045280"/>
          </a:xfrm>
        </p:spPr>
        <p:txBody>
          <a:bodyPr>
            <a:normAutofit fontScale="85000" lnSpcReduction="20000"/>
          </a:bodyPr>
          <a:lstStyle/>
          <a:p>
            <a:r>
              <a:rPr lang="en-US" b="1" dirty="0"/>
              <a:t>Prevents identity theft</a:t>
            </a:r>
            <a:br>
              <a:rPr lang="en-US" dirty="0"/>
            </a:br>
            <a:r>
              <a:rPr lang="en-US" dirty="0"/>
              <a:t>Strong privacy and security measures reduce the risk of attackers obtaining personal information and using it to impersonate users.</a:t>
            </a:r>
          </a:p>
          <a:p>
            <a:pPr lvl="0"/>
            <a:r>
              <a:rPr lang="en-US" b="1" dirty="0"/>
              <a:t>Prevents unwanted tracking</a:t>
            </a:r>
            <a:br>
              <a:rPr lang="en-US" dirty="0"/>
            </a:br>
            <a:r>
              <a:rPr lang="en-US" dirty="0"/>
              <a:t>Websites and advertising networks can track browsing behavior. Privacy controls can limit unnecessary tracking and collection of user data.</a:t>
            </a:r>
          </a:p>
          <a:p>
            <a:pPr lvl="0"/>
            <a:r>
              <a:rPr lang="en-US" b="1" dirty="0"/>
              <a:t>Maintains confidentiality</a:t>
            </a:r>
            <a:br>
              <a:rPr lang="en-US" dirty="0"/>
            </a:br>
            <a:r>
              <a:rPr lang="en-US" dirty="0"/>
              <a:t>Privacy ensures that information intended for a particular user or organization is not unnecessarily exposed to third parties.</a:t>
            </a:r>
          </a:p>
          <a:p>
            <a:r>
              <a:rPr lang="en-US" b="1" dirty="0"/>
              <a:t>Provides data security</a:t>
            </a:r>
            <a:br>
              <a:rPr lang="en-US" dirty="0"/>
            </a:br>
            <a:r>
              <a:rPr lang="en-US" dirty="0"/>
              <a:t>Privacy mechanisms help reduce the risk of data breaches, interception, and misuse of personal information.</a:t>
            </a:r>
          </a:p>
          <a:p>
            <a:pPr marL="514350" lvl="0" indent="-514350">
              <a:buFont typeface="+mj-lt"/>
              <a:buAutoNum type="arabicPeriod"/>
            </a:pPr>
            <a:endParaRPr lang="en-US" dirty="0"/>
          </a:p>
          <a:p>
            <a:pPr marL="0" indent="0">
              <a:buNone/>
            </a:pPr>
            <a:br>
              <a:rPr lang="en-US" dirty="0"/>
            </a:br>
            <a:endParaRPr lang="en-US" dirty="0"/>
          </a:p>
        </p:txBody>
      </p:sp>
    </p:spTree>
    <p:extLst>
      <p:ext uri="{BB962C8B-B14F-4D97-AF65-F5344CB8AC3E}">
        <p14:creationId xmlns:p14="http://schemas.microsoft.com/office/powerpoint/2010/main" val="4031180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24EF9-FBC1-9392-22A3-23A84F7ADF2E}"/>
              </a:ext>
            </a:extLst>
          </p:cNvPr>
          <p:cNvSpPr>
            <a:spLocks noGrp="1"/>
          </p:cNvSpPr>
          <p:nvPr>
            <p:ph type="title"/>
          </p:nvPr>
        </p:nvSpPr>
        <p:spPr>
          <a:xfrm>
            <a:off x="838200" y="751438"/>
            <a:ext cx="10515600" cy="939250"/>
          </a:xfrm>
        </p:spPr>
        <p:txBody>
          <a:bodyPr>
            <a:normAutofit fontScale="90000"/>
          </a:bodyPr>
          <a:lstStyle/>
          <a:p>
            <a:pPr algn="ctr"/>
            <a:r>
              <a:rPr lang="en-US" dirty="0"/>
              <a:t>Explain Content Delivery and discuss how Content Delivery Networks (CDNS)improve internet performance.</a:t>
            </a:r>
            <a:br>
              <a:rPr lang="en-US" dirty="0"/>
            </a:br>
            <a:endParaRPr lang="en-US" b="1" dirty="0"/>
          </a:p>
        </p:txBody>
      </p:sp>
      <p:sp>
        <p:nvSpPr>
          <p:cNvPr id="3" name="Content Placeholder 2">
            <a:extLst>
              <a:ext uri="{FF2B5EF4-FFF2-40B4-BE49-F238E27FC236}">
                <a16:creationId xmlns:a16="http://schemas.microsoft.com/office/drawing/2014/main" id="{41215538-21BB-3782-DC24-07B47E04664D}"/>
              </a:ext>
            </a:extLst>
          </p:cNvPr>
          <p:cNvSpPr>
            <a:spLocks noGrp="1"/>
          </p:cNvSpPr>
          <p:nvPr>
            <p:ph idx="1"/>
          </p:nvPr>
        </p:nvSpPr>
        <p:spPr/>
        <p:txBody>
          <a:bodyPr/>
          <a:lstStyle/>
          <a:p>
            <a:r>
              <a:rPr lang="en-US" b="1" dirty="0"/>
              <a:t>Content Delivery</a:t>
            </a:r>
            <a:r>
              <a:rPr lang="en-US" dirty="0"/>
              <a:t> is the process of delivering digital content such as </a:t>
            </a:r>
            <a:r>
              <a:rPr lang="en-US" b="1" dirty="0"/>
              <a:t>web pages, images, videos, audio, software, and files</a:t>
            </a:r>
            <a:r>
              <a:rPr lang="en-US" dirty="0"/>
              <a:t> from a server to users over a computer network or the Internet.</a:t>
            </a:r>
          </a:p>
          <a:p>
            <a:r>
              <a:rPr lang="en-US" dirty="0"/>
              <a:t>The main goal of content delivery is to provide content to users </a:t>
            </a:r>
            <a:r>
              <a:rPr lang="en-US" b="1" dirty="0"/>
              <a:t>quickly, reliably, and efficiently</a:t>
            </a:r>
            <a:r>
              <a:rPr lang="en-US" dirty="0"/>
              <a:t>, even when many users access it at the same time.</a:t>
            </a:r>
          </a:p>
          <a:p>
            <a:pPr marL="0" indent="0">
              <a:buNone/>
            </a:pPr>
            <a:endParaRPr lang="en-US" dirty="0"/>
          </a:p>
        </p:txBody>
      </p:sp>
    </p:spTree>
    <p:extLst>
      <p:ext uri="{BB962C8B-B14F-4D97-AF65-F5344CB8AC3E}">
        <p14:creationId xmlns:p14="http://schemas.microsoft.com/office/powerpoint/2010/main" val="1983390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A59F0-6F6B-3E49-B517-62FF23DA0CDC}"/>
              </a:ext>
            </a:extLst>
          </p:cNvPr>
          <p:cNvSpPr>
            <a:spLocks noGrp="1"/>
          </p:cNvSpPr>
          <p:nvPr>
            <p:ph type="title"/>
          </p:nvPr>
        </p:nvSpPr>
        <p:spPr>
          <a:xfrm>
            <a:off x="838200" y="365126"/>
            <a:ext cx="10515600" cy="1011002"/>
          </a:xfrm>
        </p:spPr>
        <p:txBody>
          <a:bodyPr>
            <a:normAutofit fontScale="90000"/>
          </a:bodyPr>
          <a:lstStyle/>
          <a:p>
            <a:r>
              <a:rPr lang="en-US" b="1" dirty="0"/>
              <a:t>How Content Delivery Works</a:t>
            </a:r>
            <a:br>
              <a:rPr lang="en-US" b="1" dirty="0"/>
            </a:br>
            <a:endParaRPr lang="en-US" dirty="0"/>
          </a:p>
        </p:txBody>
      </p:sp>
      <p:sp>
        <p:nvSpPr>
          <p:cNvPr id="3" name="Content Placeholder 2">
            <a:extLst>
              <a:ext uri="{FF2B5EF4-FFF2-40B4-BE49-F238E27FC236}">
                <a16:creationId xmlns:a16="http://schemas.microsoft.com/office/drawing/2014/main" id="{5D010015-5297-C069-89D9-6B5723BCD009}"/>
              </a:ext>
            </a:extLst>
          </p:cNvPr>
          <p:cNvSpPr>
            <a:spLocks noGrp="1"/>
          </p:cNvSpPr>
          <p:nvPr>
            <p:ph idx="1"/>
          </p:nvPr>
        </p:nvSpPr>
        <p:spPr>
          <a:xfrm>
            <a:off x="838200" y="1454433"/>
            <a:ext cx="10515600" cy="4351338"/>
          </a:xfrm>
        </p:spPr>
        <p:txBody>
          <a:bodyPr>
            <a:normAutofit lnSpcReduction="10000"/>
          </a:bodyPr>
          <a:lstStyle/>
          <a:p>
            <a:pPr lvl="0"/>
            <a:r>
              <a:rPr lang="en-US" b="1" dirty="0"/>
              <a:t>User Request:</a:t>
            </a:r>
            <a:r>
              <a:rPr lang="en-US" dirty="0"/>
              <a:t> A user requests content through a web browser or application.</a:t>
            </a:r>
          </a:p>
          <a:p>
            <a:pPr lvl="0"/>
            <a:r>
              <a:rPr lang="en-US" b="1" dirty="0"/>
              <a:t>Server Identification:</a:t>
            </a:r>
            <a:r>
              <a:rPr lang="en-US" dirty="0"/>
              <a:t> The request is directed to the appropriate server.</a:t>
            </a:r>
          </a:p>
          <a:p>
            <a:pPr lvl="0"/>
            <a:r>
              <a:rPr lang="en-US" b="1" dirty="0"/>
              <a:t>Content Retrieval:</a:t>
            </a:r>
            <a:r>
              <a:rPr lang="en-US" dirty="0"/>
              <a:t> The server retrieves the requested content from storage.</a:t>
            </a:r>
          </a:p>
          <a:p>
            <a:pPr lvl="0"/>
            <a:r>
              <a:rPr lang="en-US" b="1" dirty="0"/>
              <a:t>Data Transmission:</a:t>
            </a:r>
            <a:r>
              <a:rPr lang="en-US" dirty="0"/>
              <a:t> The content is divided into packets and transmitted through the network.</a:t>
            </a:r>
          </a:p>
          <a:p>
            <a:pPr lvl="0"/>
            <a:r>
              <a:rPr lang="en-US" b="1" dirty="0"/>
              <a:t>Delivery to User:</a:t>
            </a:r>
            <a:r>
              <a:rPr lang="en-US" dirty="0"/>
              <a:t> The user's device receives the packets and reconstructs the content for display or playback.</a:t>
            </a:r>
          </a:p>
          <a:p>
            <a:endParaRPr lang="en-US" dirty="0"/>
          </a:p>
        </p:txBody>
      </p:sp>
    </p:spTree>
    <p:extLst>
      <p:ext uri="{BB962C8B-B14F-4D97-AF65-F5344CB8AC3E}">
        <p14:creationId xmlns:p14="http://schemas.microsoft.com/office/powerpoint/2010/main" val="24444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920CE-1FC5-D303-0D1B-343EE2FE23C0}"/>
              </a:ext>
            </a:extLst>
          </p:cNvPr>
          <p:cNvSpPr>
            <a:spLocks noGrp="1"/>
          </p:cNvSpPr>
          <p:nvPr>
            <p:ph type="title"/>
          </p:nvPr>
        </p:nvSpPr>
        <p:spPr/>
        <p:txBody>
          <a:bodyPr/>
          <a:lstStyle/>
          <a:p>
            <a:r>
              <a:rPr lang="en-US" b="1" dirty="0"/>
              <a:t>Ways CDNs Improve Internet Performance</a:t>
            </a:r>
            <a:br>
              <a:rPr lang="en-US" b="1" dirty="0"/>
            </a:br>
            <a:endParaRPr lang="en-US" dirty="0"/>
          </a:p>
        </p:txBody>
      </p:sp>
      <p:sp>
        <p:nvSpPr>
          <p:cNvPr id="3" name="Content Placeholder 2">
            <a:extLst>
              <a:ext uri="{FF2B5EF4-FFF2-40B4-BE49-F238E27FC236}">
                <a16:creationId xmlns:a16="http://schemas.microsoft.com/office/drawing/2014/main" id="{3F1885F5-26DF-2A1A-0F67-9C70565860A5}"/>
              </a:ext>
            </a:extLst>
          </p:cNvPr>
          <p:cNvSpPr>
            <a:spLocks noGrp="1"/>
          </p:cNvSpPr>
          <p:nvPr>
            <p:ph idx="1"/>
          </p:nvPr>
        </p:nvSpPr>
        <p:spPr>
          <a:xfrm>
            <a:off x="838200" y="1620570"/>
            <a:ext cx="10515600" cy="4556393"/>
          </a:xfrm>
        </p:spPr>
        <p:txBody>
          <a:bodyPr>
            <a:normAutofit fontScale="92500" lnSpcReduction="20000"/>
          </a:bodyPr>
          <a:lstStyle/>
          <a:p>
            <a:pPr lvl="0"/>
            <a:r>
              <a:rPr lang="en-US" b="1" dirty="0"/>
              <a:t>Reduces latency</a:t>
            </a:r>
            <a:br>
              <a:rPr lang="en-US" dirty="0"/>
            </a:br>
            <a:r>
              <a:rPr lang="en-US" dirty="0"/>
              <a:t>CDN servers are distributed around the world. Delivering content from a nearby server reduces the physical distance data must travel and therefore reduces response time.</a:t>
            </a:r>
          </a:p>
          <a:p>
            <a:pPr lvl="0"/>
            <a:r>
              <a:rPr lang="en-US" b="1" dirty="0"/>
              <a:t>Faster content delivery</a:t>
            </a:r>
            <a:br>
              <a:rPr lang="en-US" dirty="0"/>
            </a:br>
            <a:r>
              <a:rPr lang="en-US" dirty="0"/>
              <a:t>Frequently requested files such as images, videos, CSS, and JavaScript can be cached at edge servers, allowing them to load faster.</a:t>
            </a:r>
          </a:p>
          <a:p>
            <a:pPr lvl="0"/>
            <a:r>
              <a:rPr lang="en-US" b="1" dirty="0"/>
              <a:t>Reduces network congestion</a:t>
            </a:r>
            <a:br>
              <a:rPr lang="en-US" dirty="0"/>
            </a:br>
            <a:r>
              <a:rPr lang="en-US" dirty="0"/>
              <a:t>Instead of sending every request to one origin server, a CDN distributes requests across many servers. This reduces congestion.</a:t>
            </a:r>
          </a:p>
          <a:p>
            <a:pPr lvl="0"/>
            <a:r>
              <a:rPr lang="en-US" b="1" dirty="0"/>
              <a:t>Reduces load on the origin server</a:t>
            </a:r>
            <a:br>
              <a:rPr lang="en-US" dirty="0"/>
            </a:br>
            <a:r>
              <a:rPr lang="en-US" dirty="0"/>
              <a:t>Cached content does not need to be repeatedly downloaded from the original server, allowing it to handle other requests more efficiently.</a:t>
            </a:r>
          </a:p>
          <a:p>
            <a:pPr marL="0" indent="0">
              <a:buNone/>
            </a:pPr>
            <a:endParaRPr lang="en-US" dirty="0"/>
          </a:p>
        </p:txBody>
      </p:sp>
    </p:spTree>
    <p:extLst>
      <p:ext uri="{BB962C8B-B14F-4D97-AF65-F5344CB8AC3E}">
        <p14:creationId xmlns:p14="http://schemas.microsoft.com/office/powerpoint/2010/main" val="741074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E35495-C452-E27F-5606-E62577E4CE64}"/>
              </a:ext>
            </a:extLst>
          </p:cNvPr>
          <p:cNvSpPr>
            <a:spLocks noGrp="1"/>
          </p:cNvSpPr>
          <p:nvPr>
            <p:ph idx="1"/>
          </p:nvPr>
        </p:nvSpPr>
        <p:spPr>
          <a:xfrm>
            <a:off x="838200" y="959667"/>
            <a:ext cx="10515600" cy="5217296"/>
          </a:xfrm>
        </p:spPr>
        <p:txBody>
          <a:bodyPr>
            <a:normAutofit/>
          </a:bodyPr>
          <a:lstStyle/>
          <a:p>
            <a:pPr lvl="0"/>
            <a:r>
              <a:rPr lang="en-US" b="1" dirty="0"/>
              <a:t>Improves scalability</a:t>
            </a:r>
            <a:br>
              <a:rPr lang="en-US" dirty="0"/>
            </a:br>
            <a:r>
              <a:rPr lang="en-US" dirty="0"/>
              <a:t>CDNs can handle large numbers of users simultaneously, which is especially useful during traffic spikes.</a:t>
            </a:r>
          </a:p>
          <a:p>
            <a:pPr lvl="0"/>
            <a:r>
              <a:rPr lang="en-US" b="1" dirty="0"/>
              <a:t>Improves reliability and availability</a:t>
            </a:r>
            <a:br>
              <a:rPr lang="en-US" dirty="0"/>
            </a:br>
            <a:r>
              <a:rPr lang="en-US" dirty="0"/>
              <a:t>If one CDN server becomes unavailable, requests can often be routed to another available server.</a:t>
            </a:r>
          </a:p>
          <a:p>
            <a:pPr lvl="0"/>
            <a:r>
              <a:rPr lang="en-US" b="1" dirty="0"/>
              <a:t>Improves video and media streaming</a:t>
            </a:r>
            <a:br>
              <a:rPr lang="en-US" dirty="0"/>
            </a:br>
            <a:r>
              <a:rPr lang="en-US" dirty="0"/>
              <a:t>Large files and streaming content can be delivered from nearby edge servers, reducing buffering and improving playback quality.</a:t>
            </a:r>
          </a:p>
          <a:p>
            <a:pPr lvl="0"/>
            <a:r>
              <a:rPr lang="en-US" b="1" dirty="0"/>
              <a:t>Provides better user experience</a:t>
            </a:r>
            <a:br>
              <a:rPr lang="en-US" dirty="0"/>
            </a:br>
            <a:r>
              <a:rPr lang="en-US" dirty="0"/>
              <a:t>Faster page loading and reduced delays make websites and applications more responsive.</a:t>
            </a:r>
          </a:p>
          <a:p>
            <a:endParaRPr lang="en-US" dirty="0"/>
          </a:p>
        </p:txBody>
      </p:sp>
    </p:spTree>
    <p:extLst>
      <p:ext uri="{BB962C8B-B14F-4D97-AF65-F5344CB8AC3E}">
        <p14:creationId xmlns:p14="http://schemas.microsoft.com/office/powerpoint/2010/main" val="2764849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F4E93-C2F7-D805-6B2D-5A6DD8191E8E}"/>
              </a:ext>
            </a:extLst>
          </p:cNvPr>
          <p:cNvSpPr>
            <a:spLocks noGrp="1"/>
          </p:cNvSpPr>
          <p:nvPr>
            <p:ph type="title"/>
          </p:nvPr>
        </p:nvSpPr>
        <p:spPr/>
        <p:txBody>
          <a:bodyPr/>
          <a:lstStyle/>
          <a:p>
            <a:r>
              <a:rPr lang="en-US" b="1" dirty="0"/>
              <a:t>Internet Traffic and Its Characteristics</a:t>
            </a:r>
            <a:br>
              <a:rPr lang="en-US" b="1" dirty="0"/>
            </a:br>
            <a:endParaRPr lang="en-US" dirty="0"/>
          </a:p>
        </p:txBody>
      </p:sp>
      <p:sp>
        <p:nvSpPr>
          <p:cNvPr id="3" name="Content Placeholder 2">
            <a:extLst>
              <a:ext uri="{FF2B5EF4-FFF2-40B4-BE49-F238E27FC236}">
                <a16:creationId xmlns:a16="http://schemas.microsoft.com/office/drawing/2014/main" id="{E10CD618-F94C-BA56-4377-EA3AAA87BD62}"/>
              </a:ext>
            </a:extLst>
          </p:cNvPr>
          <p:cNvSpPr>
            <a:spLocks noGrp="1"/>
          </p:cNvSpPr>
          <p:nvPr>
            <p:ph idx="1"/>
          </p:nvPr>
        </p:nvSpPr>
        <p:spPr/>
        <p:txBody>
          <a:bodyPr/>
          <a:lstStyle/>
          <a:p>
            <a:r>
              <a:rPr lang="en-US" b="1" dirty="0"/>
              <a:t>Internet traffic</a:t>
            </a:r>
            <a:r>
              <a:rPr lang="en-US" dirty="0"/>
              <a:t> refers to the flow of data packets between computers, mobile devices, servers, and other network devices over the Internet. </a:t>
            </a:r>
          </a:p>
          <a:p>
            <a:r>
              <a:rPr lang="en-US" dirty="0"/>
              <a:t>Every activity such as browsing websites, sending emails, streaming videos, downloading files, and using online applications generates Internet traffic.</a:t>
            </a:r>
          </a:p>
        </p:txBody>
      </p:sp>
    </p:spTree>
    <p:extLst>
      <p:ext uri="{BB962C8B-B14F-4D97-AF65-F5344CB8AC3E}">
        <p14:creationId xmlns:p14="http://schemas.microsoft.com/office/powerpoint/2010/main" val="760438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60DB7-D7E7-261A-D4EC-EE20FE5F6C78}"/>
              </a:ext>
            </a:extLst>
          </p:cNvPr>
          <p:cNvSpPr>
            <a:spLocks noGrp="1"/>
          </p:cNvSpPr>
          <p:nvPr>
            <p:ph type="title"/>
          </p:nvPr>
        </p:nvSpPr>
        <p:spPr/>
        <p:txBody>
          <a:bodyPr/>
          <a:lstStyle/>
          <a:p>
            <a:r>
              <a:rPr lang="en-US" b="1" dirty="0"/>
              <a:t>Characteristics of Internet Traffic</a:t>
            </a:r>
            <a:br>
              <a:rPr lang="en-US" b="1" dirty="0"/>
            </a:br>
            <a:endParaRPr lang="en-US" dirty="0"/>
          </a:p>
        </p:txBody>
      </p:sp>
      <p:sp>
        <p:nvSpPr>
          <p:cNvPr id="3" name="Content Placeholder 2">
            <a:extLst>
              <a:ext uri="{FF2B5EF4-FFF2-40B4-BE49-F238E27FC236}">
                <a16:creationId xmlns:a16="http://schemas.microsoft.com/office/drawing/2014/main" id="{F5669E2D-5248-7899-2B30-C813FA021C00}"/>
              </a:ext>
            </a:extLst>
          </p:cNvPr>
          <p:cNvSpPr>
            <a:spLocks noGrp="1"/>
          </p:cNvSpPr>
          <p:nvPr>
            <p:ph idx="1"/>
          </p:nvPr>
        </p:nvSpPr>
        <p:spPr/>
        <p:txBody>
          <a:bodyPr>
            <a:normAutofit fontScale="92500"/>
          </a:bodyPr>
          <a:lstStyle/>
          <a:p>
            <a:pPr lvl="0"/>
            <a:r>
              <a:rPr lang="en-US" b="1" dirty="0"/>
              <a:t>High Volume</a:t>
            </a:r>
            <a:br>
              <a:rPr lang="en-US" dirty="0"/>
            </a:br>
            <a:r>
              <a:rPr lang="en-US" dirty="0"/>
              <a:t>The Internet carries a very large amount of data every second because millions of users and devices communicate simultaneously.</a:t>
            </a:r>
          </a:p>
          <a:p>
            <a:pPr lvl="0"/>
            <a:r>
              <a:rPr lang="en-US" b="1" dirty="0"/>
              <a:t>Variable Traffic</a:t>
            </a:r>
            <a:br>
              <a:rPr lang="en-US" dirty="0"/>
            </a:br>
            <a:r>
              <a:rPr lang="en-US" dirty="0"/>
              <a:t>Internet traffic is not constant. The amount of traffic changes depending on the time of day, number of users, and type of online activity.</a:t>
            </a:r>
          </a:p>
          <a:p>
            <a:pPr lvl="0"/>
            <a:r>
              <a:rPr lang="en-US" b="1" dirty="0"/>
              <a:t>Burstiness</a:t>
            </a:r>
            <a:br>
              <a:rPr lang="en-US" dirty="0"/>
            </a:br>
            <a:r>
              <a:rPr lang="en-US" dirty="0"/>
              <a:t>Traffic often occurs in short, sudden bursts rather than at a constant rate. For example, a popular website may receive a sudden increase in requests.</a:t>
            </a:r>
          </a:p>
          <a:p>
            <a:endParaRPr lang="en-US" dirty="0"/>
          </a:p>
        </p:txBody>
      </p:sp>
    </p:spTree>
    <p:extLst>
      <p:ext uri="{BB962C8B-B14F-4D97-AF65-F5344CB8AC3E}">
        <p14:creationId xmlns:p14="http://schemas.microsoft.com/office/powerpoint/2010/main" val="6334622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07DEE7-8041-40B4-7332-B1D966B16CA8}"/>
              </a:ext>
            </a:extLst>
          </p:cNvPr>
          <p:cNvSpPr>
            <a:spLocks noGrp="1"/>
          </p:cNvSpPr>
          <p:nvPr>
            <p:ph idx="1"/>
          </p:nvPr>
        </p:nvSpPr>
        <p:spPr>
          <a:xfrm>
            <a:off x="838200" y="1059255"/>
            <a:ext cx="10515600" cy="5117708"/>
          </a:xfrm>
        </p:spPr>
        <p:txBody>
          <a:bodyPr>
            <a:normAutofit fontScale="92500" lnSpcReduction="20000"/>
          </a:bodyPr>
          <a:lstStyle/>
          <a:p>
            <a:pPr lvl="0"/>
            <a:r>
              <a:rPr lang="en-US" b="1" dirty="0"/>
              <a:t>Different Data Types</a:t>
            </a:r>
            <a:br>
              <a:rPr lang="en-US" dirty="0"/>
            </a:br>
            <a:r>
              <a:rPr lang="en-US" dirty="0"/>
              <a:t>Internet traffic consists of different types of content, such as:</a:t>
            </a:r>
          </a:p>
          <a:p>
            <a:pPr lvl="1"/>
            <a:r>
              <a:rPr lang="en-US" dirty="0"/>
              <a:t>Text and web pages</a:t>
            </a:r>
          </a:p>
          <a:p>
            <a:pPr lvl="1"/>
            <a:r>
              <a:rPr lang="en-US" dirty="0"/>
              <a:t>Images</a:t>
            </a:r>
          </a:p>
          <a:p>
            <a:pPr lvl="1"/>
            <a:r>
              <a:rPr lang="en-US" dirty="0"/>
              <a:t>Audio</a:t>
            </a:r>
          </a:p>
          <a:p>
            <a:pPr lvl="1"/>
            <a:r>
              <a:rPr lang="en-US" dirty="0"/>
              <a:t>Video</a:t>
            </a:r>
          </a:p>
          <a:p>
            <a:pPr lvl="1"/>
            <a:r>
              <a:rPr lang="en-US" dirty="0"/>
              <a:t>Files</a:t>
            </a:r>
          </a:p>
          <a:p>
            <a:pPr lvl="1"/>
            <a:r>
              <a:rPr lang="en-US" dirty="0"/>
              <a:t>Real-time application data</a:t>
            </a:r>
          </a:p>
          <a:p>
            <a:pPr lvl="0"/>
            <a:r>
              <a:rPr lang="en-US" b="1" dirty="0"/>
              <a:t>Different Bandwidth Requirements</a:t>
            </a:r>
            <a:br>
              <a:rPr lang="en-US" dirty="0"/>
            </a:br>
            <a:r>
              <a:rPr lang="en-US" dirty="0"/>
              <a:t>Different applications require different amounts of bandwidth. Text-based websites need relatively little bandwidth, while HD video streaming requires much more.</a:t>
            </a:r>
          </a:p>
          <a:p>
            <a:pPr lvl="0"/>
            <a:r>
              <a:rPr lang="en-US" b="1" dirty="0"/>
              <a:t>Delay Sensitivity</a:t>
            </a:r>
            <a:br>
              <a:rPr lang="en-US" dirty="0"/>
            </a:br>
            <a:r>
              <a:rPr lang="en-US" dirty="0"/>
              <a:t>Some applications are highly sensitive to network delay. </a:t>
            </a:r>
            <a:r>
              <a:rPr lang="en-US" b="1" dirty="0"/>
              <a:t>Video calls, online gaming, and voice communication</a:t>
            </a:r>
            <a:r>
              <a:rPr lang="en-US" dirty="0"/>
              <a:t> require low latency, while email can tolerate greater delays.</a:t>
            </a:r>
          </a:p>
          <a:p>
            <a:endParaRPr lang="en-US" dirty="0"/>
          </a:p>
        </p:txBody>
      </p:sp>
    </p:spTree>
    <p:extLst>
      <p:ext uri="{BB962C8B-B14F-4D97-AF65-F5344CB8AC3E}">
        <p14:creationId xmlns:p14="http://schemas.microsoft.com/office/powerpoint/2010/main" val="3749176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35C7E-BF48-77FB-9EAE-26C815DD12C3}"/>
              </a:ext>
            </a:extLst>
          </p:cNvPr>
          <p:cNvSpPr>
            <a:spLocks noGrp="1"/>
          </p:cNvSpPr>
          <p:nvPr>
            <p:ph type="title"/>
          </p:nvPr>
        </p:nvSpPr>
        <p:spPr/>
        <p:txBody>
          <a:bodyPr>
            <a:normAutofit fontScale="90000"/>
          </a:bodyPr>
          <a:lstStyle/>
          <a:p>
            <a:r>
              <a:rPr lang="en-US" b="1" dirty="0"/>
              <a:t>Relationship Between Content Delivery and Internet Traffic</a:t>
            </a:r>
            <a:br>
              <a:rPr lang="en-US" b="1" dirty="0"/>
            </a:br>
            <a:endParaRPr lang="en-US" dirty="0"/>
          </a:p>
        </p:txBody>
      </p:sp>
      <p:sp>
        <p:nvSpPr>
          <p:cNvPr id="3" name="Content Placeholder 2">
            <a:extLst>
              <a:ext uri="{FF2B5EF4-FFF2-40B4-BE49-F238E27FC236}">
                <a16:creationId xmlns:a16="http://schemas.microsoft.com/office/drawing/2014/main" id="{84D96A36-FC66-9246-E216-8DECF8502201}"/>
              </a:ext>
            </a:extLst>
          </p:cNvPr>
          <p:cNvSpPr>
            <a:spLocks noGrp="1"/>
          </p:cNvSpPr>
          <p:nvPr>
            <p:ph idx="1"/>
          </p:nvPr>
        </p:nvSpPr>
        <p:spPr/>
        <p:txBody>
          <a:bodyPr/>
          <a:lstStyle/>
          <a:p>
            <a:r>
              <a:rPr lang="en-US" b="1" dirty="0"/>
              <a:t>Content delivery</a:t>
            </a:r>
            <a:r>
              <a:rPr lang="en-US" dirty="0"/>
              <a:t> is the process of transferring digital content such as web pages, images, videos, audio, and files from servers to users. </a:t>
            </a:r>
            <a:r>
              <a:rPr lang="en-US" b="1" dirty="0"/>
              <a:t>Internet traffic</a:t>
            </a:r>
            <a:r>
              <a:rPr lang="en-US" dirty="0"/>
              <a:t> is the flow of data packets across the Internet between users, servers, and network devices.</a:t>
            </a:r>
          </a:p>
          <a:p>
            <a:r>
              <a:rPr lang="en-US" dirty="0"/>
              <a:t>The two are closely related because the way content is delivered directly affects the </a:t>
            </a:r>
            <a:r>
              <a:rPr lang="en-US" b="1" dirty="0"/>
              <a:t>amount, speed, and distribution of Internet traffic</a:t>
            </a:r>
            <a:r>
              <a:rPr lang="en-US" dirty="0"/>
              <a:t>.</a:t>
            </a:r>
          </a:p>
          <a:p>
            <a:endParaRPr lang="en-US" dirty="0"/>
          </a:p>
        </p:txBody>
      </p:sp>
    </p:spTree>
    <p:extLst>
      <p:ext uri="{BB962C8B-B14F-4D97-AF65-F5344CB8AC3E}">
        <p14:creationId xmlns:p14="http://schemas.microsoft.com/office/powerpoint/2010/main" val="3522499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6EF7D1-FBFB-AAE1-3661-074EF9402D3E}"/>
              </a:ext>
            </a:extLst>
          </p:cNvPr>
          <p:cNvSpPr>
            <a:spLocks noGrp="1"/>
          </p:cNvSpPr>
          <p:nvPr>
            <p:ph idx="1"/>
          </p:nvPr>
        </p:nvSpPr>
        <p:spPr>
          <a:xfrm>
            <a:off x="838200" y="1158844"/>
            <a:ext cx="10515600" cy="5018119"/>
          </a:xfrm>
        </p:spPr>
        <p:txBody>
          <a:bodyPr>
            <a:normAutofit/>
          </a:bodyPr>
          <a:lstStyle/>
          <a:p>
            <a:pPr lvl="0"/>
            <a:r>
              <a:rPr lang="en-US" b="1" dirty="0"/>
              <a:t>Content generates Internet traffic</a:t>
            </a:r>
            <a:br>
              <a:rPr lang="en-US" dirty="0"/>
            </a:br>
            <a:r>
              <a:rPr lang="en-US" dirty="0"/>
              <a:t>Whenever a user accesses a website, watches a video, downloads a file, or uses an online application, data is transmitted through the Internet. This creates network traffic.</a:t>
            </a:r>
          </a:p>
          <a:p>
            <a:pPr lvl="0"/>
            <a:r>
              <a:rPr lang="en-US" b="1" dirty="0"/>
              <a:t>Large content creates more traffic</a:t>
            </a:r>
            <a:br>
              <a:rPr lang="en-US" dirty="0"/>
            </a:br>
            <a:r>
              <a:rPr lang="en-US" dirty="0"/>
              <a:t>Video streaming, high-resolution images, and large file downloads require much more bandwidth than simple text webpages.</a:t>
            </a:r>
          </a:p>
          <a:p>
            <a:pPr lvl="0"/>
            <a:r>
              <a:rPr lang="en-US" b="1" dirty="0"/>
              <a:t>Content delivery affects traffic distribution</a:t>
            </a:r>
            <a:br>
              <a:rPr lang="en-US" dirty="0"/>
            </a:br>
            <a:r>
              <a:rPr lang="en-US" dirty="0"/>
              <a:t>If all users obtain content from a single origin server, a large amount of traffic is concentrated on that server. This can cause congestion and slower performance.</a:t>
            </a:r>
          </a:p>
          <a:p>
            <a:endParaRPr lang="en-US" dirty="0"/>
          </a:p>
        </p:txBody>
      </p:sp>
    </p:spTree>
    <p:extLst>
      <p:ext uri="{BB962C8B-B14F-4D97-AF65-F5344CB8AC3E}">
        <p14:creationId xmlns:p14="http://schemas.microsoft.com/office/powerpoint/2010/main" val="42717436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99D8D4-5D04-AF17-9F34-B70BBA76959E}"/>
              </a:ext>
            </a:extLst>
          </p:cNvPr>
          <p:cNvSpPr>
            <a:spLocks noGrp="1"/>
          </p:cNvSpPr>
          <p:nvPr>
            <p:ph idx="1"/>
          </p:nvPr>
        </p:nvSpPr>
        <p:spPr>
          <a:xfrm>
            <a:off x="838200" y="968721"/>
            <a:ext cx="10515600" cy="5208242"/>
          </a:xfrm>
        </p:spPr>
        <p:txBody>
          <a:bodyPr>
            <a:normAutofit lnSpcReduction="10000"/>
          </a:bodyPr>
          <a:lstStyle/>
          <a:p>
            <a:pPr lvl="0"/>
            <a:r>
              <a:rPr lang="en-US" b="1" dirty="0"/>
              <a:t>CDNs reduce network traffic to origin servers</a:t>
            </a:r>
            <a:br>
              <a:rPr lang="en-US" dirty="0"/>
            </a:br>
            <a:r>
              <a:rPr lang="en-US" dirty="0"/>
              <a:t>A </a:t>
            </a:r>
            <a:r>
              <a:rPr lang="en-US" b="1" dirty="0"/>
              <a:t>Content Delivery Network (CDN)</a:t>
            </a:r>
            <a:r>
              <a:rPr lang="en-US" dirty="0"/>
              <a:t> stores copies of frequently requested content on servers located closer to users. Requests can then be served from nearby servers rather than repeatedly contacting the origin server.</a:t>
            </a:r>
          </a:p>
          <a:p>
            <a:pPr lvl="0"/>
            <a:r>
              <a:rPr lang="en-US" b="1" dirty="0"/>
              <a:t>Caching improves efficiency</a:t>
            </a:r>
            <a:br>
              <a:rPr lang="en-US" dirty="0"/>
            </a:br>
            <a:r>
              <a:rPr lang="en-US" dirty="0"/>
              <a:t>When content is cached, repeated requests can be handled locally or by a nearby edge server. This reduces unnecessary data transmission across long network paths.</a:t>
            </a:r>
          </a:p>
          <a:p>
            <a:pPr lvl="0"/>
            <a:r>
              <a:rPr lang="en-US" b="1" dirty="0"/>
              <a:t>Traffic affects content delivery performance</a:t>
            </a:r>
            <a:br>
              <a:rPr lang="en-US" dirty="0"/>
            </a:br>
            <a:r>
              <a:rPr lang="en-US" dirty="0"/>
              <a:t>Heavy Internet traffic can cause </a:t>
            </a:r>
            <a:r>
              <a:rPr lang="en-US" b="1" dirty="0"/>
              <a:t>congestion, packet loss, increased latency, and slower downloads or streaming</a:t>
            </a:r>
            <a:r>
              <a:rPr lang="en-US" dirty="0"/>
              <a:t>. Efficient content delivery mechanisms help minimize</a:t>
            </a:r>
          </a:p>
          <a:p>
            <a:endParaRPr lang="en-US" dirty="0"/>
          </a:p>
        </p:txBody>
      </p:sp>
    </p:spTree>
    <p:extLst>
      <p:ext uri="{BB962C8B-B14F-4D97-AF65-F5344CB8AC3E}">
        <p14:creationId xmlns:p14="http://schemas.microsoft.com/office/powerpoint/2010/main" val="4056199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D8F62-72C5-7F2B-27FB-B6D89DE8A0F4}"/>
              </a:ext>
            </a:extLst>
          </p:cNvPr>
          <p:cNvSpPr>
            <a:spLocks noGrp="1"/>
          </p:cNvSpPr>
          <p:nvPr>
            <p:ph type="title"/>
          </p:nvPr>
        </p:nvSpPr>
        <p:spPr/>
        <p:txBody>
          <a:bodyPr/>
          <a:lstStyle/>
          <a:p>
            <a:r>
              <a:rPr lang="en-US" dirty="0"/>
              <a:t>Compare Client Server architecture and Peer to Peer networks with suitable examples.</a:t>
            </a:r>
          </a:p>
        </p:txBody>
      </p:sp>
      <p:sp>
        <p:nvSpPr>
          <p:cNvPr id="3" name="Content Placeholder 2">
            <a:extLst>
              <a:ext uri="{FF2B5EF4-FFF2-40B4-BE49-F238E27FC236}">
                <a16:creationId xmlns:a16="http://schemas.microsoft.com/office/drawing/2014/main" id="{780CA4D3-B4E7-953B-E72B-FE8BC91FDFA6}"/>
              </a:ext>
            </a:extLst>
          </p:cNvPr>
          <p:cNvSpPr>
            <a:spLocks noGrp="1"/>
          </p:cNvSpPr>
          <p:nvPr>
            <p:ph idx="1"/>
          </p:nvPr>
        </p:nvSpPr>
        <p:spPr/>
        <p:txBody>
          <a:bodyPr>
            <a:normAutofit fontScale="70000" lnSpcReduction="20000"/>
          </a:bodyPr>
          <a:lstStyle/>
          <a:p>
            <a:r>
              <a:rPr lang="en-US" b="1" dirty="0"/>
              <a:t>Client-Server Architecture vs Peer-to-Peer Networks</a:t>
            </a:r>
          </a:p>
          <a:p>
            <a:r>
              <a:rPr lang="en-US" b="1" dirty="0"/>
              <a:t>Client-Server architecture</a:t>
            </a:r>
            <a:r>
              <a:rPr lang="en-US" dirty="0"/>
              <a:t> and </a:t>
            </a:r>
            <a:r>
              <a:rPr lang="en-US" b="1" dirty="0"/>
              <a:t>Peer-to-Peer (P2P) networks</a:t>
            </a:r>
            <a:r>
              <a:rPr lang="en-US" dirty="0"/>
              <a:t> are two common approaches to organizing communication and resource sharing in computer networks.</a:t>
            </a:r>
          </a:p>
          <a:p>
            <a:pPr marL="0" indent="0">
              <a:buNone/>
            </a:pPr>
            <a:r>
              <a:rPr lang="en-US" b="1" dirty="0"/>
              <a:t>1. Client-Server Architecture</a:t>
            </a:r>
          </a:p>
          <a:p>
            <a:r>
              <a:rPr lang="en-US" dirty="0"/>
              <a:t>In a </a:t>
            </a:r>
            <a:r>
              <a:rPr lang="en-US" b="1" dirty="0"/>
              <a:t>client-server architecture</a:t>
            </a:r>
            <a:r>
              <a:rPr lang="en-US" dirty="0"/>
              <a:t>, a central </a:t>
            </a:r>
            <a:r>
              <a:rPr lang="en-US" b="1" dirty="0"/>
              <a:t>server</a:t>
            </a:r>
            <a:r>
              <a:rPr lang="en-US" dirty="0"/>
              <a:t> provides services or resources to multiple </a:t>
            </a:r>
            <a:r>
              <a:rPr lang="en-US" b="1" dirty="0"/>
              <a:t>clients</a:t>
            </a:r>
            <a:r>
              <a:rPr lang="en-US" dirty="0"/>
              <a:t>.</a:t>
            </a:r>
          </a:p>
          <a:p>
            <a:pPr marL="0" indent="0">
              <a:buNone/>
            </a:pPr>
            <a:r>
              <a:rPr lang="en-US" dirty="0"/>
              <a:t>           Server</a:t>
            </a:r>
          </a:p>
          <a:p>
            <a:pPr marL="0" indent="0">
              <a:buNone/>
            </a:pPr>
            <a:r>
              <a:rPr lang="en-US" dirty="0"/>
              <a:t>            /  |  \</a:t>
            </a:r>
          </a:p>
          <a:p>
            <a:pPr marL="0" indent="0">
              <a:buNone/>
            </a:pPr>
            <a:r>
              <a:rPr lang="en-US" dirty="0"/>
              <a:t>           /   |   \</a:t>
            </a:r>
          </a:p>
          <a:p>
            <a:pPr marL="0" indent="0">
              <a:buNone/>
            </a:pPr>
            <a:r>
              <a:rPr lang="en-US" dirty="0"/>
              <a:t>       Client </a:t>
            </a:r>
            <a:r>
              <a:rPr lang="en-US" dirty="0" err="1"/>
              <a:t>Client</a:t>
            </a:r>
            <a:r>
              <a:rPr lang="en-US" dirty="0"/>
              <a:t> </a:t>
            </a:r>
            <a:r>
              <a:rPr lang="en-US" dirty="0" err="1"/>
              <a:t>Client</a:t>
            </a:r>
            <a:endParaRPr lang="en-US" dirty="0"/>
          </a:p>
          <a:p>
            <a:pPr marL="0" indent="0">
              <a:buNone/>
            </a:pPr>
            <a:r>
              <a:rPr lang="en-US" b="1" dirty="0"/>
              <a:t>Example:</a:t>
            </a:r>
            <a:r>
              <a:rPr lang="en-US" dirty="0"/>
              <a:t> When you access a website, your browser acts as a client and sends requests to the web server. The server processes the requests and sends back the required webpage.</a:t>
            </a:r>
          </a:p>
          <a:p>
            <a:r>
              <a:rPr lang="en-US" dirty="0"/>
              <a:t>Other examples include </a:t>
            </a:r>
            <a:r>
              <a:rPr lang="en-US" b="1" dirty="0"/>
              <a:t>email servers, online banking systems, and database servers</a:t>
            </a:r>
            <a:r>
              <a:rPr lang="en-US" dirty="0"/>
              <a:t>.</a:t>
            </a:r>
          </a:p>
          <a:p>
            <a:endParaRPr lang="en-US" dirty="0"/>
          </a:p>
        </p:txBody>
      </p:sp>
    </p:spTree>
    <p:extLst>
      <p:ext uri="{BB962C8B-B14F-4D97-AF65-F5344CB8AC3E}">
        <p14:creationId xmlns:p14="http://schemas.microsoft.com/office/powerpoint/2010/main" val="2258671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15EA8-E3BA-E601-6EEC-E140D58D1585}"/>
              </a:ext>
            </a:extLst>
          </p:cNvPr>
          <p:cNvSpPr>
            <a:spLocks noGrp="1"/>
          </p:cNvSpPr>
          <p:nvPr>
            <p:ph type="title"/>
          </p:nvPr>
        </p:nvSpPr>
        <p:spPr/>
        <p:txBody>
          <a:bodyPr/>
          <a:lstStyle/>
          <a:p>
            <a:r>
              <a:rPr lang="en-US" b="1" dirty="0"/>
              <a:t>Peer-to-Peer Network</a:t>
            </a:r>
            <a:br>
              <a:rPr lang="en-US" b="1" dirty="0"/>
            </a:br>
            <a:endParaRPr lang="en-US" dirty="0"/>
          </a:p>
        </p:txBody>
      </p:sp>
      <p:sp>
        <p:nvSpPr>
          <p:cNvPr id="3" name="Content Placeholder 2">
            <a:extLst>
              <a:ext uri="{FF2B5EF4-FFF2-40B4-BE49-F238E27FC236}">
                <a16:creationId xmlns:a16="http://schemas.microsoft.com/office/drawing/2014/main" id="{5F00ABD3-25BC-298C-62F6-AA2D9C858C17}"/>
              </a:ext>
            </a:extLst>
          </p:cNvPr>
          <p:cNvSpPr>
            <a:spLocks noGrp="1"/>
          </p:cNvSpPr>
          <p:nvPr>
            <p:ph idx="1"/>
          </p:nvPr>
        </p:nvSpPr>
        <p:spPr/>
        <p:txBody>
          <a:bodyPr/>
          <a:lstStyle/>
          <a:p>
            <a:r>
              <a:rPr lang="en-US" dirty="0"/>
              <a:t>In a </a:t>
            </a:r>
            <a:r>
              <a:rPr lang="en-US" b="1" dirty="0"/>
              <a:t>P2P network</a:t>
            </a:r>
            <a:r>
              <a:rPr lang="en-US" dirty="0"/>
              <a:t>, computers communicate directly with one another. Each computer can act as both a </a:t>
            </a:r>
            <a:r>
              <a:rPr lang="en-US" b="1" dirty="0"/>
              <a:t>client and a server</a:t>
            </a:r>
            <a:r>
              <a:rPr lang="en-US" dirty="0"/>
              <a:t>.</a:t>
            </a:r>
          </a:p>
          <a:p>
            <a:pPr marL="0" indent="0">
              <a:buNone/>
            </a:pPr>
            <a:r>
              <a:rPr lang="en-US" dirty="0"/>
              <a:t> Peer A ----- Peer B</a:t>
            </a:r>
          </a:p>
          <a:p>
            <a:pPr marL="0" indent="0">
              <a:buNone/>
            </a:pPr>
            <a:r>
              <a:rPr lang="en-US" dirty="0"/>
              <a:t>          \          /</a:t>
            </a:r>
          </a:p>
          <a:p>
            <a:pPr marL="0" indent="0">
              <a:buNone/>
            </a:pPr>
            <a:r>
              <a:rPr lang="en-US" dirty="0"/>
              <a:t>           \        /</a:t>
            </a:r>
          </a:p>
          <a:p>
            <a:pPr marL="0" indent="0">
              <a:buNone/>
            </a:pPr>
            <a:r>
              <a:rPr lang="en-US" dirty="0"/>
              <a:t>            Peer C</a:t>
            </a:r>
          </a:p>
          <a:p>
            <a:pPr marL="0" indent="0">
              <a:buNone/>
            </a:pPr>
            <a:r>
              <a:rPr lang="en-US" dirty="0"/>
              <a:t>              |</a:t>
            </a:r>
          </a:p>
          <a:p>
            <a:pPr marL="0" indent="0">
              <a:buNone/>
            </a:pPr>
            <a:r>
              <a:rPr lang="en-US" dirty="0"/>
              <a:t>            Peer D</a:t>
            </a:r>
          </a:p>
        </p:txBody>
      </p:sp>
    </p:spTree>
    <p:extLst>
      <p:ext uri="{BB962C8B-B14F-4D97-AF65-F5344CB8AC3E}">
        <p14:creationId xmlns:p14="http://schemas.microsoft.com/office/powerpoint/2010/main" val="2218727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2B51A-C3E5-ED0B-8470-36C921440D34}"/>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r>
              <a:rPr lang="en-US" b="1" dirty="0"/>
              <a:t>Example:</a:t>
            </a:r>
            <a:r>
              <a:rPr lang="en-US" dirty="0"/>
              <a:t> In a P2P file-sharing system, different computers can exchange pieces of a file directly with one another rather than downloading everything from one central server.</a:t>
            </a:r>
          </a:p>
        </p:txBody>
      </p:sp>
      <p:sp>
        <p:nvSpPr>
          <p:cNvPr id="3" name="Content Placeholder 2">
            <a:extLst>
              <a:ext uri="{FF2B5EF4-FFF2-40B4-BE49-F238E27FC236}">
                <a16:creationId xmlns:a16="http://schemas.microsoft.com/office/drawing/2014/main" id="{6CF16B52-778F-EA2E-0B39-18C22B50E8A6}"/>
              </a:ext>
            </a:extLst>
          </p:cNvPr>
          <p:cNvSpPr>
            <a:spLocks noGrp="1"/>
          </p:cNvSpPr>
          <p:nvPr>
            <p:ph idx="1"/>
          </p:nvPr>
        </p:nvSpPr>
        <p:spPr>
          <a:xfrm>
            <a:off x="838200" y="1131683"/>
            <a:ext cx="10515600" cy="5045280"/>
          </a:xfrm>
        </p:spPr>
        <p:txBody>
          <a:bodyPr/>
          <a:lstStyle/>
          <a:p>
            <a:pPr marL="0" indent="0">
              <a:buNone/>
            </a:pPr>
            <a:endParaRPr lang="en-US" dirty="0"/>
          </a:p>
        </p:txBody>
      </p:sp>
    </p:spTree>
    <p:extLst>
      <p:ext uri="{BB962C8B-B14F-4D97-AF65-F5344CB8AC3E}">
        <p14:creationId xmlns:p14="http://schemas.microsoft.com/office/powerpoint/2010/main" val="1970561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650B3C6-25A4-C4AA-D295-B86090117DEE}"/>
              </a:ext>
            </a:extLst>
          </p:cNvPr>
          <p:cNvGraphicFramePr>
            <a:graphicFrameLocks noGrp="1"/>
          </p:cNvGraphicFramePr>
          <p:nvPr>
            <p:ph idx="1"/>
            <p:extLst>
              <p:ext uri="{D42A27DB-BD31-4B8C-83A1-F6EECF244321}">
                <p14:modId xmlns:p14="http://schemas.microsoft.com/office/powerpoint/2010/main" val="650244129"/>
              </p:ext>
            </p:extLst>
          </p:nvPr>
        </p:nvGraphicFramePr>
        <p:xfrm>
          <a:off x="838200" y="570368"/>
          <a:ext cx="10515597" cy="6137840"/>
        </p:xfrm>
        <a:graphic>
          <a:graphicData uri="http://schemas.openxmlformats.org/drawingml/2006/table">
            <a:tbl>
              <a:tblPr firstRow="1" bandRow="1">
                <a:tableStyleId>{69CF1AB2-1976-4502-BF36-3FF5EA218861}</a:tableStyleId>
              </a:tblPr>
              <a:tblGrid>
                <a:gridCol w="3505199">
                  <a:extLst>
                    <a:ext uri="{9D8B030D-6E8A-4147-A177-3AD203B41FA5}">
                      <a16:colId xmlns:a16="http://schemas.microsoft.com/office/drawing/2014/main" val="3659465271"/>
                    </a:ext>
                  </a:extLst>
                </a:gridCol>
                <a:gridCol w="3505199">
                  <a:extLst>
                    <a:ext uri="{9D8B030D-6E8A-4147-A177-3AD203B41FA5}">
                      <a16:colId xmlns:a16="http://schemas.microsoft.com/office/drawing/2014/main" val="3070115621"/>
                    </a:ext>
                  </a:extLst>
                </a:gridCol>
                <a:gridCol w="3505199">
                  <a:extLst>
                    <a:ext uri="{9D8B030D-6E8A-4147-A177-3AD203B41FA5}">
                      <a16:colId xmlns:a16="http://schemas.microsoft.com/office/drawing/2014/main" val="283321108"/>
                    </a:ext>
                  </a:extLst>
                </a:gridCol>
              </a:tblGrid>
              <a:tr h="421760">
                <a:tc>
                  <a:txBody>
                    <a:bodyPr/>
                    <a:lstStyle/>
                    <a:p>
                      <a:pPr marL="0" marR="0" algn="l">
                        <a:buNone/>
                      </a:pPr>
                      <a:r>
                        <a:rPr lang="en-US" b="1" i="0" dirty="0">
                          <a:effectLst/>
                          <a:latin typeface="-apple-system-body"/>
                        </a:rPr>
                        <a:t>Feature</a:t>
                      </a:r>
                    </a:p>
                  </a:txBody>
                  <a:tcPr anchor="ctr"/>
                </a:tc>
                <a:tc>
                  <a:txBody>
                    <a:bodyPr/>
                    <a:lstStyle/>
                    <a:p>
                      <a:pPr marL="0" marR="0" algn="l">
                        <a:buNone/>
                      </a:pPr>
                      <a:r>
                        <a:rPr lang="en-US" b="1" i="0">
                          <a:effectLst/>
                          <a:latin typeface="-apple-system-body"/>
                        </a:rPr>
                        <a:t>Client-Server</a:t>
                      </a:r>
                    </a:p>
                  </a:txBody>
                  <a:tcPr anchor="ctr"/>
                </a:tc>
                <a:tc>
                  <a:txBody>
                    <a:bodyPr/>
                    <a:lstStyle/>
                    <a:p>
                      <a:pPr marL="0" marR="0" algn="l">
                        <a:buNone/>
                      </a:pPr>
                      <a:r>
                        <a:rPr lang="en-US" b="1" i="0">
                          <a:effectLst/>
                          <a:latin typeface="-apple-system-body"/>
                        </a:rPr>
                        <a:t>Peer-to-Peer</a:t>
                      </a:r>
                    </a:p>
                  </a:txBody>
                  <a:tcPr anchor="ctr"/>
                </a:tc>
                <a:extLst>
                  <a:ext uri="{0D108BD9-81ED-4DB2-BD59-A6C34878D82A}">
                    <a16:rowId xmlns:a16="http://schemas.microsoft.com/office/drawing/2014/main" val="202212255"/>
                  </a:ext>
                </a:extLst>
              </a:tr>
              <a:tr h="421760">
                <a:tc>
                  <a:txBody>
                    <a:bodyPr/>
                    <a:lstStyle/>
                    <a:p>
                      <a:pPr marL="0" marR="0" algn="l">
                        <a:buNone/>
                      </a:pPr>
                      <a:r>
                        <a:rPr lang="en-US" b="1" i="0">
                          <a:effectLst/>
                          <a:latin typeface="-apple-system-body"/>
                        </a:rPr>
                        <a:t>Architecture</a:t>
                      </a:r>
                      <a:endParaRPr lang="en-US" b="0" i="0">
                        <a:effectLst/>
                        <a:latin typeface="-apple-system-body"/>
                      </a:endParaRPr>
                    </a:p>
                  </a:txBody>
                  <a:tcPr anchor="ctr"/>
                </a:tc>
                <a:tc>
                  <a:txBody>
                    <a:bodyPr/>
                    <a:lstStyle/>
                    <a:p>
                      <a:pPr marL="0" marR="0" algn="l">
                        <a:buNone/>
                      </a:pPr>
                      <a:r>
                        <a:rPr lang="en-US" b="0" i="0">
                          <a:effectLst/>
                          <a:latin typeface="-apple-system-body"/>
                        </a:rPr>
                        <a:t>Centralized</a:t>
                      </a:r>
                    </a:p>
                  </a:txBody>
                  <a:tcPr anchor="ctr"/>
                </a:tc>
                <a:tc>
                  <a:txBody>
                    <a:bodyPr/>
                    <a:lstStyle/>
                    <a:p>
                      <a:pPr marL="0" marR="0" algn="l">
                        <a:buNone/>
                      </a:pPr>
                      <a:r>
                        <a:rPr lang="en-US" b="0" i="0">
                          <a:effectLst/>
                          <a:latin typeface="-apple-system-body"/>
                        </a:rPr>
                        <a:t>Decentralized</a:t>
                      </a:r>
                    </a:p>
                  </a:txBody>
                  <a:tcPr anchor="ctr"/>
                </a:tc>
                <a:extLst>
                  <a:ext uri="{0D108BD9-81ED-4DB2-BD59-A6C34878D82A}">
                    <a16:rowId xmlns:a16="http://schemas.microsoft.com/office/drawing/2014/main" val="2692829936"/>
                  </a:ext>
                </a:extLst>
              </a:tr>
              <a:tr h="421760">
                <a:tc>
                  <a:txBody>
                    <a:bodyPr/>
                    <a:lstStyle/>
                    <a:p>
                      <a:pPr marL="0" marR="0" algn="l">
                        <a:buNone/>
                      </a:pPr>
                      <a:r>
                        <a:rPr lang="en-US" b="1" i="0">
                          <a:effectLst/>
                          <a:latin typeface="-apple-system-body"/>
                        </a:rPr>
                        <a:t>Main components</a:t>
                      </a:r>
                      <a:endParaRPr lang="en-US" b="0" i="0">
                        <a:effectLst/>
                        <a:latin typeface="-apple-system-body"/>
                      </a:endParaRPr>
                    </a:p>
                  </a:txBody>
                  <a:tcPr anchor="ctr"/>
                </a:tc>
                <a:tc>
                  <a:txBody>
                    <a:bodyPr/>
                    <a:lstStyle/>
                    <a:p>
                      <a:pPr marL="0" marR="0" algn="l">
                        <a:buNone/>
                      </a:pPr>
                      <a:r>
                        <a:rPr lang="en-US" b="0" i="0">
                          <a:effectLst/>
                          <a:latin typeface="-apple-system-body"/>
                        </a:rPr>
                        <a:t>Clients and dedicated servers</a:t>
                      </a:r>
                    </a:p>
                  </a:txBody>
                  <a:tcPr anchor="ctr"/>
                </a:tc>
                <a:tc>
                  <a:txBody>
                    <a:bodyPr/>
                    <a:lstStyle/>
                    <a:p>
                      <a:pPr marL="0" marR="0" algn="l">
                        <a:buNone/>
                      </a:pPr>
                      <a:r>
                        <a:rPr lang="en-US" b="0" i="0">
                          <a:effectLst/>
                          <a:latin typeface="-apple-system-body"/>
                        </a:rPr>
                        <a:t>Peers</a:t>
                      </a:r>
                    </a:p>
                  </a:txBody>
                  <a:tcPr anchor="ctr"/>
                </a:tc>
                <a:extLst>
                  <a:ext uri="{0D108BD9-81ED-4DB2-BD59-A6C34878D82A}">
                    <a16:rowId xmlns:a16="http://schemas.microsoft.com/office/drawing/2014/main" val="3344158245"/>
                  </a:ext>
                </a:extLst>
              </a:tr>
              <a:tr h="421760">
                <a:tc>
                  <a:txBody>
                    <a:bodyPr/>
                    <a:lstStyle/>
                    <a:p>
                      <a:pPr marL="0" marR="0" algn="l">
                        <a:buNone/>
                      </a:pPr>
                      <a:r>
                        <a:rPr lang="en-US" b="1" i="0">
                          <a:effectLst/>
                          <a:latin typeface="-apple-system-body"/>
                        </a:rPr>
                        <a:t>Role of computers</a:t>
                      </a:r>
                      <a:endParaRPr lang="en-US" b="0" i="0">
                        <a:effectLst/>
                        <a:latin typeface="-apple-system-body"/>
                      </a:endParaRPr>
                    </a:p>
                  </a:txBody>
                  <a:tcPr anchor="ctr"/>
                </a:tc>
                <a:tc>
                  <a:txBody>
                    <a:bodyPr/>
                    <a:lstStyle/>
                    <a:p>
                      <a:pPr marL="0" marR="0" algn="l">
                        <a:buNone/>
                      </a:pPr>
                      <a:r>
                        <a:rPr lang="en-US" b="0" i="0">
                          <a:effectLst/>
                          <a:latin typeface="-apple-system-body"/>
                        </a:rPr>
                        <a:t>Client requests; server provides</a:t>
                      </a:r>
                    </a:p>
                  </a:txBody>
                  <a:tcPr anchor="ctr"/>
                </a:tc>
                <a:tc>
                  <a:txBody>
                    <a:bodyPr/>
                    <a:lstStyle/>
                    <a:p>
                      <a:pPr marL="0" marR="0" algn="l">
                        <a:buNone/>
                      </a:pPr>
                      <a:r>
                        <a:rPr lang="en-US" b="0" i="0">
                          <a:effectLst/>
                          <a:latin typeface="-apple-system-body"/>
                        </a:rPr>
                        <a:t>Each peer can request and provide</a:t>
                      </a:r>
                    </a:p>
                  </a:txBody>
                  <a:tcPr anchor="ctr"/>
                </a:tc>
                <a:extLst>
                  <a:ext uri="{0D108BD9-81ED-4DB2-BD59-A6C34878D82A}">
                    <a16:rowId xmlns:a16="http://schemas.microsoft.com/office/drawing/2014/main" val="1902723939"/>
                  </a:ext>
                </a:extLst>
              </a:tr>
              <a:tr h="421760">
                <a:tc>
                  <a:txBody>
                    <a:bodyPr/>
                    <a:lstStyle/>
                    <a:p>
                      <a:pPr marL="0" marR="0" algn="l">
                        <a:buNone/>
                      </a:pPr>
                      <a:r>
                        <a:rPr lang="en-US" b="1" i="0">
                          <a:effectLst/>
                          <a:latin typeface="-apple-system-body"/>
                        </a:rPr>
                        <a:t>Resource management</a:t>
                      </a:r>
                      <a:endParaRPr lang="en-US" b="0" i="0">
                        <a:effectLst/>
                        <a:latin typeface="-apple-system-body"/>
                      </a:endParaRPr>
                    </a:p>
                  </a:txBody>
                  <a:tcPr anchor="ctr"/>
                </a:tc>
                <a:tc>
                  <a:txBody>
                    <a:bodyPr/>
                    <a:lstStyle/>
                    <a:p>
                      <a:pPr marL="0" marR="0" algn="l">
                        <a:buNone/>
                      </a:pPr>
                      <a:r>
                        <a:rPr lang="en-US" b="0" i="0">
                          <a:effectLst/>
                          <a:latin typeface="-apple-system-body"/>
                        </a:rPr>
                        <a:t>Controlled by server</a:t>
                      </a:r>
                    </a:p>
                  </a:txBody>
                  <a:tcPr anchor="ctr"/>
                </a:tc>
                <a:tc>
                  <a:txBody>
                    <a:bodyPr/>
                    <a:lstStyle/>
                    <a:p>
                      <a:pPr marL="0" marR="0" algn="l">
                        <a:buNone/>
                      </a:pPr>
                      <a:r>
                        <a:rPr lang="en-US" b="0" i="0">
                          <a:effectLst/>
                          <a:latin typeface="-apple-system-body"/>
                        </a:rPr>
                        <a:t>Distributed among peers</a:t>
                      </a:r>
                    </a:p>
                  </a:txBody>
                  <a:tcPr anchor="ctr"/>
                </a:tc>
                <a:extLst>
                  <a:ext uri="{0D108BD9-81ED-4DB2-BD59-A6C34878D82A}">
                    <a16:rowId xmlns:a16="http://schemas.microsoft.com/office/drawing/2014/main" val="3802032065"/>
                  </a:ext>
                </a:extLst>
              </a:tr>
              <a:tr h="421760">
                <a:tc>
                  <a:txBody>
                    <a:bodyPr/>
                    <a:lstStyle/>
                    <a:p>
                      <a:pPr marL="0" marR="0" algn="l">
                        <a:buNone/>
                      </a:pPr>
                      <a:r>
                        <a:rPr lang="en-US" b="1" i="0">
                          <a:effectLst/>
                          <a:latin typeface="-apple-system-body"/>
                        </a:rPr>
                        <a:t>Server dependency</a:t>
                      </a:r>
                      <a:endParaRPr lang="en-US" b="0" i="0">
                        <a:effectLst/>
                        <a:latin typeface="-apple-system-body"/>
                      </a:endParaRPr>
                    </a:p>
                  </a:txBody>
                  <a:tcPr anchor="ctr"/>
                </a:tc>
                <a:tc>
                  <a:txBody>
                    <a:bodyPr/>
                    <a:lstStyle/>
                    <a:p>
                      <a:pPr marL="0" marR="0" algn="l">
                        <a:buNone/>
                      </a:pPr>
                      <a:r>
                        <a:rPr lang="en-US" b="0" i="0">
                          <a:effectLst/>
                          <a:latin typeface="-apple-system-body"/>
                        </a:rPr>
                        <a:t>High</a:t>
                      </a:r>
                    </a:p>
                  </a:txBody>
                  <a:tcPr anchor="ctr"/>
                </a:tc>
                <a:tc>
                  <a:txBody>
                    <a:bodyPr/>
                    <a:lstStyle/>
                    <a:p>
                      <a:pPr marL="0" marR="0" algn="l">
                        <a:buNone/>
                      </a:pPr>
                      <a:r>
                        <a:rPr lang="en-US" b="0" i="0">
                          <a:effectLst/>
                          <a:latin typeface="-apple-system-body"/>
                        </a:rPr>
                        <a:t>Low or none</a:t>
                      </a:r>
                    </a:p>
                  </a:txBody>
                  <a:tcPr anchor="ctr"/>
                </a:tc>
                <a:extLst>
                  <a:ext uri="{0D108BD9-81ED-4DB2-BD59-A6C34878D82A}">
                    <a16:rowId xmlns:a16="http://schemas.microsoft.com/office/drawing/2014/main" val="782932126"/>
                  </a:ext>
                </a:extLst>
              </a:tr>
              <a:tr h="421760">
                <a:tc>
                  <a:txBody>
                    <a:bodyPr/>
                    <a:lstStyle/>
                    <a:p>
                      <a:pPr marL="0" marR="0" algn="l">
                        <a:buNone/>
                      </a:pPr>
                      <a:r>
                        <a:rPr lang="en-US" b="1" i="0">
                          <a:effectLst/>
                          <a:latin typeface="-apple-system-body"/>
                        </a:rPr>
                        <a:t>Scalability</a:t>
                      </a:r>
                      <a:endParaRPr lang="en-US" b="0" i="0">
                        <a:effectLst/>
                        <a:latin typeface="-apple-system-body"/>
                      </a:endParaRPr>
                    </a:p>
                  </a:txBody>
                  <a:tcPr anchor="ctr"/>
                </a:tc>
                <a:tc>
                  <a:txBody>
                    <a:bodyPr/>
                    <a:lstStyle/>
                    <a:p>
                      <a:pPr marL="0" marR="0" algn="l">
                        <a:buNone/>
                      </a:pPr>
                      <a:r>
                        <a:rPr lang="en-US" b="0" i="0">
                          <a:effectLst/>
                          <a:latin typeface="-apple-system-body"/>
                        </a:rPr>
                        <a:t>Limited by server capacity</a:t>
                      </a:r>
                    </a:p>
                  </a:txBody>
                  <a:tcPr anchor="ctr"/>
                </a:tc>
                <a:tc>
                  <a:txBody>
                    <a:bodyPr/>
                    <a:lstStyle/>
                    <a:p>
                      <a:pPr marL="0" marR="0" algn="l">
                        <a:buNone/>
                      </a:pPr>
                      <a:r>
                        <a:rPr lang="en-US" b="0" i="0">
                          <a:effectLst/>
                          <a:latin typeface="-apple-system-body"/>
                        </a:rPr>
                        <a:t>Generally highly scalable</a:t>
                      </a:r>
                    </a:p>
                  </a:txBody>
                  <a:tcPr anchor="ctr"/>
                </a:tc>
                <a:extLst>
                  <a:ext uri="{0D108BD9-81ED-4DB2-BD59-A6C34878D82A}">
                    <a16:rowId xmlns:a16="http://schemas.microsoft.com/office/drawing/2014/main" val="434345145"/>
                  </a:ext>
                </a:extLst>
              </a:tr>
              <a:tr h="421760">
                <a:tc>
                  <a:txBody>
                    <a:bodyPr/>
                    <a:lstStyle/>
                    <a:p>
                      <a:pPr marL="0" marR="0" algn="l">
                        <a:buNone/>
                      </a:pPr>
                      <a:r>
                        <a:rPr lang="en-US" b="1" i="0">
                          <a:effectLst/>
                          <a:latin typeface="-apple-system-body"/>
                        </a:rPr>
                        <a:t>Management</a:t>
                      </a:r>
                      <a:endParaRPr lang="en-US" b="0" i="0">
                        <a:effectLst/>
                        <a:latin typeface="-apple-system-body"/>
                      </a:endParaRPr>
                    </a:p>
                  </a:txBody>
                  <a:tcPr anchor="ctr"/>
                </a:tc>
                <a:tc>
                  <a:txBody>
                    <a:bodyPr/>
                    <a:lstStyle/>
                    <a:p>
                      <a:pPr marL="0" marR="0" algn="l">
                        <a:buNone/>
                      </a:pPr>
                      <a:r>
                        <a:rPr lang="en-US" b="0" i="0">
                          <a:effectLst/>
                          <a:latin typeface="-apple-system-body"/>
                        </a:rPr>
                        <a:t>Easier to manage centrally</a:t>
                      </a:r>
                    </a:p>
                  </a:txBody>
                  <a:tcPr anchor="ctr"/>
                </a:tc>
                <a:tc>
                  <a:txBody>
                    <a:bodyPr/>
                    <a:lstStyle/>
                    <a:p>
                      <a:pPr marL="0" marR="0" algn="l">
                        <a:buNone/>
                      </a:pPr>
                      <a:r>
                        <a:rPr lang="en-US" b="0" i="0">
                          <a:effectLst/>
                          <a:latin typeface="-apple-system-body"/>
                        </a:rPr>
                        <a:t>More difficult to manage</a:t>
                      </a:r>
                    </a:p>
                  </a:txBody>
                  <a:tcPr anchor="ctr"/>
                </a:tc>
                <a:extLst>
                  <a:ext uri="{0D108BD9-81ED-4DB2-BD59-A6C34878D82A}">
                    <a16:rowId xmlns:a16="http://schemas.microsoft.com/office/drawing/2014/main" val="3307592231"/>
                  </a:ext>
                </a:extLst>
              </a:tr>
              <a:tr h="421760">
                <a:tc>
                  <a:txBody>
                    <a:bodyPr/>
                    <a:lstStyle/>
                    <a:p>
                      <a:pPr marL="0" marR="0" algn="l">
                        <a:buNone/>
                      </a:pPr>
                      <a:r>
                        <a:rPr lang="en-US" b="1" i="0">
                          <a:effectLst/>
                          <a:latin typeface="-apple-system-body"/>
                        </a:rPr>
                        <a:t>Security</a:t>
                      </a:r>
                      <a:endParaRPr lang="en-US" b="0" i="0">
                        <a:effectLst/>
                        <a:latin typeface="-apple-system-body"/>
                      </a:endParaRPr>
                    </a:p>
                  </a:txBody>
                  <a:tcPr anchor="ctr"/>
                </a:tc>
                <a:tc>
                  <a:txBody>
                    <a:bodyPr/>
                    <a:lstStyle/>
                    <a:p>
                      <a:pPr marL="0" marR="0" algn="l">
                        <a:buNone/>
                      </a:pPr>
                      <a:r>
                        <a:rPr lang="en-US" b="0" i="0">
                          <a:effectLst/>
                          <a:latin typeface="-apple-system-body"/>
                        </a:rPr>
                        <a:t>Easier to enforce centrally</a:t>
                      </a:r>
                    </a:p>
                  </a:txBody>
                  <a:tcPr anchor="ctr"/>
                </a:tc>
                <a:tc>
                  <a:txBody>
                    <a:bodyPr/>
                    <a:lstStyle/>
                    <a:p>
                      <a:pPr marL="0" marR="0" algn="l">
                        <a:buNone/>
                      </a:pPr>
                      <a:r>
                        <a:rPr lang="en-US" b="0" i="0">
                          <a:effectLst/>
                          <a:latin typeface="-apple-system-body"/>
                        </a:rPr>
                        <a:t>More difficult to control</a:t>
                      </a:r>
                    </a:p>
                  </a:txBody>
                  <a:tcPr anchor="ctr"/>
                </a:tc>
                <a:extLst>
                  <a:ext uri="{0D108BD9-81ED-4DB2-BD59-A6C34878D82A}">
                    <a16:rowId xmlns:a16="http://schemas.microsoft.com/office/drawing/2014/main" val="1841856794"/>
                  </a:ext>
                </a:extLst>
              </a:tr>
              <a:tr h="610038">
                <a:tc>
                  <a:txBody>
                    <a:bodyPr/>
                    <a:lstStyle/>
                    <a:p>
                      <a:pPr marL="0" marR="0" algn="l">
                        <a:buNone/>
                      </a:pPr>
                      <a:r>
                        <a:rPr lang="en-US" b="1" i="0">
                          <a:effectLst/>
                          <a:latin typeface="-apple-system-body"/>
                        </a:rPr>
                        <a:t>Failure</a:t>
                      </a:r>
                      <a:endParaRPr lang="en-US" b="0" i="0">
                        <a:effectLst/>
                        <a:latin typeface="-apple-system-body"/>
                      </a:endParaRPr>
                    </a:p>
                  </a:txBody>
                  <a:tcPr anchor="ctr"/>
                </a:tc>
                <a:tc>
                  <a:txBody>
                    <a:bodyPr/>
                    <a:lstStyle/>
                    <a:p>
                      <a:pPr marL="0" marR="0" algn="l">
                        <a:buNone/>
                      </a:pPr>
                      <a:r>
                        <a:rPr lang="en-US" b="0" i="0">
                          <a:effectLst/>
                          <a:latin typeface="-apple-system-body"/>
                        </a:rPr>
                        <a:t>Server failure can affect many clients</a:t>
                      </a:r>
                    </a:p>
                  </a:txBody>
                  <a:tcPr anchor="ctr"/>
                </a:tc>
                <a:tc>
                  <a:txBody>
                    <a:bodyPr/>
                    <a:lstStyle/>
                    <a:p>
                      <a:pPr marL="0" marR="0" algn="l">
                        <a:buNone/>
                      </a:pPr>
                      <a:r>
                        <a:rPr lang="en-US" b="0" i="0">
                          <a:effectLst/>
                          <a:latin typeface="-apple-system-body"/>
                        </a:rPr>
                        <a:t>Failure of one peer usually does not affect the entire network</a:t>
                      </a:r>
                    </a:p>
                  </a:txBody>
                  <a:tcPr anchor="ctr"/>
                </a:tc>
                <a:extLst>
                  <a:ext uri="{0D108BD9-81ED-4DB2-BD59-A6C34878D82A}">
                    <a16:rowId xmlns:a16="http://schemas.microsoft.com/office/drawing/2014/main" val="3437078516"/>
                  </a:ext>
                </a:extLst>
              </a:tr>
              <a:tr h="610038">
                <a:tc>
                  <a:txBody>
                    <a:bodyPr/>
                    <a:lstStyle/>
                    <a:p>
                      <a:pPr marL="0" marR="0" algn="l">
                        <a:buNone/>
                      </a:pPr>
                      <a:r>
                        <a:rPr lang="en-US" b="1" i="0">
                          <a:effectLst/>
                          <a:latin typeface="-apple-system-body"/>
                        </a:rPr>
                        <a:t>Cost</a:t>
                      </a:r>
                      <a:endParaRPr lang="en-US" b="0" i="0">
                        <a:effectLst/>
                        <a:latin typeface="-apple-system-body"/>
                      </a:endParaRPr>
                    </a:p>
                  </a:txBody>
                  <a:tcPr anchor="ctr"/>
                </a:tc>
                <a:tc>
                  <a:txBody>
                    <a:bodyPr/>
                    <a:lstStyle/>
                    <a:p>
                      <a:pPr marL="0" marR="0" algn="l">
                        <a:buNone/>
                      </a:pPr>
                      <a:r>
                        <a:rPr lang="en-US" b="0" i="0">
                          <a:effectLst/>
                          <a:latin typeface="-apple-system-body"/>
                        </a:rPr>
                        <a:t>Requires dedicated server infrastructure</a:t>
                      </a:r>
                    </a:p>
                  </a:txBody>
                  <a:tcPr anchor="ctr"/>
                </a:tc>
                <a:tc>
                  <a:txBody>
                    <a:bodyPr/>
                    <a:lstStyle/>
                    <a:p>
                      <a:pPr marL="0" marR="0" algn="l">
                        <a:buNone/>
                      </a:pPr>
                      <a:r>
                        <a:rPr lang="en-US" b="0" i="0">
                          <a:effectLst/>
                          <a:latin typeface="-apple-system-body"/>
                        </a:rPr>
                        <a:t>Can use existing peer resources</a:t>
                      </a:r>
                    </a:p>
                  </a:txBody>
                  <a:tcPr anchor="ctr"/>
                </a:tc>
                <a:extLst>
                  <a:ext uri="{0D108BD9-81ED-4DB2-BD59-A6C34878D82A}">
                    <a16:rowId xmlns:a16="http://schemas.microsoft.com/office/drawing/2014/main" val="2772837954"/>
                  </a:ext>
                </a:extLst>
              </a:tr>
              <a:tr h="421760">
                <a:tc>
                  <a:txBody>
                    <a:bodyPr/>
                    <a:lstStyle/>
                    <a:p>
                      <a:pPr marL="0" marR="0" algn="l">
                        <a:buNone/>
                      </a:pPr>
                      <a:r>
                        <a:rPr lang="en-US" b="1" i="0">
                          <a:effectLst/>
                          <a:latin typeface="-apple-system-body"/>
                        </a:rPr>
                        <a:t>Performance</a:t>
                      </a:r>
                      <a:endParaRPr lang="en-US" b="0" i="0">
                        <a:effectLst/>
                        <a:latin typeface="-apple-system-body"/>
                      </a:endParaRPr>
                    </a:p>
                  </a:txBody>
                  <a:tcPr anchor="ctr"/>
                </a:tc>
                <a:tc>
                  <a:txBody>
                    <a:bodyPr/>
                    <a:lstStyle/>
                    <a:p>
                      <a:pPr marL="0" marR="0" algn="l">
                        <a:buNone/>
                      </a:pPr>
                      <a:r>
                        <a:rPr lang="en-US" b="0" i="0">
                          <a:effectLst/>
                          <a:latin typeface="-apple-system-body"/>
                        </a:rPr>
                        <a:t>Depends heavily on server capacity</a:t>
                      </a:r>
                    </a:p>
                  </a:txBody>
                  <a:tcPr anchor="ctr"/>
                </a:tc>
                <a:tc>
                  <a:txBody>
                    <a:bodyPr/>
                    <a:lstStyle/>
                    <a:p>
                      <a:pPr marL="0" marR="0" algn="l">
                        <a:buNone/>
                      </a:pPr>
                      <a:r>
                        <a:rPr lang="en-US" b="0" i="0">
                          <a:effectLst/>
                          <a:latin typeface="-apple-system-body"/>
                        </a:rPr>
                        <a:t>Depends on participating peers</a:t>
                      </a:r>
                    </a:p>
                  </a:txBody>
                  <a:tcPr anchor="ctr"/>
                </a:tc>
                <a:extLst>
                  <a:ext uri="{0D108BD9-81ED-4DB2-BD59-A6C34878D82A}">
                    <a16:rowId xmlns:a16="http://schemas.microsoft.com/office/drawing/2014/main" val="3677367710"/>
                  </a:ext>
                </a:extLst>
              </a:tr>
              <a:tr h="610038">
                <a:tc>
                  <a:txBody>
                    <a:bodyPr/>
                    <a:lstStyle/>
                    <a:p>
                      <a:pPr marL="0" marR="0" algn="l">
                        <a:buNone/>
                      </a:pPr>
                      <a:r>
                        <a:rPr lang="en-US" b="1" i="0">
                          <a:effectLst/>
                          <a:latin typeface="-apple-system-body"/>
                        </a:rPr>
                        <a:t>Examples</a:t>
                      </a:r>
                      <a:endParaRPr lang="en-US" b="0" i="0">
                        <a:effectLst/>
                        <a:latin typeface="-apple-system-body"/>
                      </a:endParaRPr>
                    </a:p>
                  </a:txBody>
                  <a:tcPr anchor="ctr"/>
                </a:tc>
                <a:tc>
                  <a:txBody>
                    <a:bodyPr/>
                    <a:lstStyle/>
                    <a:p>
                      <a:pPr marL="0" marR="0" algn="l">
                        <a:buNone/>
                      </a:pPr>
                      <a:r>
                        <a:rPr lang="en-US" b="0" i="0">
                          <a:effectLst/>
                          <a:latin typeface="-apple-system-body"/>
                        </a:rPr>
                        <a:t>Web servers, email, banking systems</a:t>
                      </a:r>
                    </a:p>
                  </a:txBody>
                  <a:tcPr anchor="ctr"/>
                </a:tc>
                <a:tc>
                  <a:txBody>
                    <a:bodyPr/>
                    <a:lstStyle/>
                    <a:p>
                      <a:pPr marL="0" marR="0" algn="l">
                        <a:buNone/>
                      </a:pPr>
                      <a:r>
                        <a:rPr lang="en-US" b="0" i="0" dirty="0">
                          <a:effectLst/>
                          <a:latin typeface="-apple-system-body"/>
                        </a:rPr>
                        <a:t>File sharing, blockchain networks</a:t>
                      </a:r>
                    </a:p>
                  </a:txBody>
                  <a:tcPr anchor="ctr"/>
                </a:tc>
                <a:extLst>
                  <a:ext uri="{0D108BD9-81ED-4DB2-BD59-A6C34878D82A}">
                    <a16:rowId xmlns:a16="http://schemas.microsoft.com/office/drawing/2014/main" val="1730726159"/>
                  </a:ext>
                </a:extLst>
              </a:tr>
            </a:tbl>
          </a:graphicData>
        </a:graphic>
      </p:graphicFrame>
    </p:spTree>
    <p:extLst>
      <p:ext uri="{BB962C8B-B14F-4D97-AF65-F5344CB8AC3E}">
        <p14:creationId xmlns:p14="http://schemas.microsoft.com/office/powerpoint/2010/main" val="26286934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26ADC-5C95-A1BD-49D5-49483984B029}"/>
              </a:ext>
            </a:extLst>
          </p:cNvPr>
          <p:cNvSpPr>
            <a:spLocks noGrp="1"/>
          </p:cNvSpPr>
          <p:nvPr>
            <p:ph type="title"/>
          </p:nvPr>
        </p:nvSpPr>
        <p:spPr/>
        <p:txBody>
          <a:bodyPr/>
          <a:lstStyle/>
          <a:p>
            <a:r>
              <a:rPr lang="en-US" b="1" dirty="0"/>
              <a:t>Evolution of the Internet</a:t>
            </a:r>
            <a:br>
              <a:rPr lang="en-US" b="1" dirty="0"/>
            </a:br>
            <a:endParaRPr lang="en-US" dirty="0"/>
          </a:p>
        </p:txBody>
      </p:sp>
      <p:sp>
        <p:nvSpPr>
          <p:cNvPr id="3" name="Content Placeholder 2">
            <a:extLst>
              <a:ext uri="{FF2B5EF4-FFF2-40B4-BE49-F238E27FC236}">
                <a16:creationId xmlns:a16="http://schemas.microsoft.com/office/drawing/2014/main" id="{9A651DD9-EEEF-8AEB-0F75-0CF6B5BB79BC}"/>
              </a:ext>
            </a:extLst>
          </p:cNvPr>
          <p:cNvSpPr>
            <a:spLocks noGrp="1"/>
          </p:cNvSpPr>
          <p:nvPr>
            <p:ph idx="1"/>
          </p:nvPr>
        </p:nvSpPr>
        <p:spPr/>
        <p:txBody>
          <a:bodyPr/>
          <a:lstStyle/>
          <a:p>
            <a:r>
              <a:rPr lang="en-US" dirty="0"/>
              <a:t>The </a:t>
            </a:r>
            <a:r>
              <a:rPr lang="en-US" b="1" dirty="0"/>
              <a:t>Internet</a:t>
            </a:r>
            <a:r>
              <a:rPr lang="en-US" dirty="0"/>
              <a:t> has evolved from a small research network into a global communication and information system connecting billions of devices. </a:t>
            </a:r>
          </a:p>
          <a:p>
            <a:r>
              <a:rPr lang="en-US" dirty="0"/>
              <a:t>Its development can be understood through several important stages.</a:t>
            </a:r>
          </a:p>
        </p:txBody>
      </p:sp>
    </p:spTree>
    <p:extLst>
      <p:ext uri="{BB962C8B-B14F-4D97-AF65-F5344CB8AC3E}">
        <p14:creationId xmlns:p14="http://schemas.microsoft.com/office/powerpoint/2010/main" val="1772358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F88A9C-2C16-DCA1-312F-BF816AFD1C4A}"/>
              </a:ext>
            </a:extLst>
          </p:cNvPr>
          <p:cNvSpPr>
            <a:spLocks noGrp="1"/>
          </p:cNvSpPr>
          <p:nvPr>
            <p:ph idx="1"/>
          </p:nvPr>
        </p:nvSpPr>
        <p:spPr>
          <a:xfrm>
            <a:off x="838200" y="823865"/>
            <a:ext cx="10515600" cy="5353098"/>
          </a:xfrm>
        </p:spPr>
        <p:txBody>
          <a:bodyPr>
            <a:normAutofit fontScale="77500" lnSpcReduction="20000"/>
          </a:bodyPr>
          <a:lstStyle/>
          <a:p>
            <a:pPr marL="0" indent="0">
              <a:buNone/>
            </a:pPr>
            <a:r>
              <a:rPr lang="en-US" b="1" dirty="0"/>
              <a:t>1. ARPANET – 1960s and 1970s</a:t>
            </a:r>
          </a:p>
          <a:p>
            <a:r>
              <a:rPr lang="en-US" dirty="0"/>
              <a:t>The early foundation of the Internet was </a:t>
            </a:r>
            <a:r>
              <a:rPr lang="en-US" b="1" dirty="0"/>
              <a:t>ARPANET (Advanced Research Projects Agency Network)</a:t>
            </a:r>
            <a:r>
              <a:rPr lang="en-US" dirty="0"/>
              <a:t>, developed in the United States.</a:t>
            </a:r>
          </a:p>
          <a:p>
            <a:pPr lvl="0"/>
            <a:r>
              <a:rPr lang="en-US" dirty="0"/>
              <a:t>It was created to connect research institutions and universities.</a:t>
            </a:r>
          </a:p>
          <a:p>
            <a:pPr lvl="0"/>
            <a:r>
              <a:rPr lang="en-US" dirty="0"/>
              <a:t>The first ARPANET connection was established in </a:t>
            </a:r>
            <a:r>
              <a:rPr lang="en-US" b="1" dirty="0"/>
              <a:t>1969</a:t>
            </a:r>
            <a:r>
              <a:rPr lang="en-US" dirty="0"/>
              <a:t>.</a:t>
            </a:r>
          </a:p>
          <a:p>
            <a:pPr lvl="0"/>
            <a:r>
              <a:rPr lang="en-US" dirty="0"/>
              <a:t>It introduced the concept of </a:t>
            </a:r>
            <a:r>
              <a:rPr lang="en-US" b="1" dirty="0"/>
              <a:t>packet switching</a:t>
            </a:r>
            <a:r>
              <a:rPr lang="en-US" dirty="0"/>
              <a:t>, where data is divided into packets and transmitted across a network.</a:t>
            </a:r>
          </a:p>
          <a:p>
            <a:pPr lvl="0"/>
            <a:r>
              <a:rPr lang="en-US" dirty="0"/>
              <a:t>Initially, only a small number of institutions were connected.</a:t>
            </a:r>
          </a:p>
          <a:p>
            <a:pPr marL="0" indent="0">
              <a:buNone/>
            </a:pPr>
            <a:r>
              <a:rPr lang="en-US" b="1" dirty="0"/>
              <a:t>2. Development of TCP/IP – 1970s and 1980s</a:t>
            </a:r>
          </a:p>
          <a:p>
            <a:r>
              <a:rPr lang="en-US" dirty="0"/>
              <a:t>A major step was the development of </a:t>
            </a:r>
            <a:r>
              <a:rPr lang="en-US" b="1" dirty="0"/>
              <a:t>TCP/IP (Transmission Control Protocol/Internet Protocol)</a:t>
            </a:r>
            <a:r>
              <a:rPr lang="en-US" dirty="0"/>
              <a:t>.</a:t>
            </a:r>
          </a:p>
          <a:p>
            <a:pPr lvl="0"/>
            <a:r>
              <a:rPr lang="en-US" dirty="0"/>
              <a:t>TCP/IP provided a common set of communication rules for different networks.</a:t>
            </a:r>
          </a:p>
          <a:p>
            <a:pPr lvl="0"/>
            <a:r>
              <a:rPr lang="en-US" dirty="0"/>
              <a:t>On </a:t>
            </a:r>
            <a:r>
              <a:rPr lang="en-US" b="1" dirty="0"/>
              <a:t>January 1, 1983</a:t>
            </a:r>
            <a:r>
              <a:rPr lang="en-US" dirty="0"/>
              <a:t>, ARPANET adopted TCP/IP as its standard protocol.</a:t>
            </a:r>
          </a:p>
          <a:p>
            <a:pPr lvl="0"/>
            <a:r>
              <a:rPr lang="en-US" dirty="0"/>
              <a:t>This helped different networks communicate with each other and contributed to the development of the modern Internet.</a:t>
            </a:r>
          </a:p>
          <a:p>
            <a:pPr marL="0" indent="0">
              <a:buNone/>
            </a:pPr>
            <a:endParaRPr lang="en-US" dirty="0"/>
          </a:p>
        </p:txBody>
      </p:sp>
    </p:spTree>
    <p:extLst>
      <p:ext uri="{BB962C8B-B14F-4D97-AF65-F5344CB8AC3E}">
        <p14:creationId xmlns:p14="http://schemas.microsoft.com/office/powerpoint/2010/main" val="2567306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1A9759-190E-8E52-F09F-C2C0A45F590F}"/>
              </a:ext>
            </a:extLst>
          </p:cNvPr>
          <p:cNvSpPr>
            <a:spLocks noGrp="1"/>
          </p:cNvSpPr>
          <p:nvPr>
            <p:ph idx="1"/>
          </p:nvPr>
        </p:nvSpPr>
        <p:spPr>
          <a:xfrm>
            <a:off x="838200" y="715224"/>
            <a:ext cx="10515600" cy="5461739"/>
          </a:xfrm>
        </p:spPr>
        <p:txBody>
          <a:bodyPr>
            <a:normAutofit fontScale="92500" lnSpcReduction="20000"/>
          </a:bodyPr>
          <a:lstStyle/>
          <a:p>
            <a:pPr marL="0" indent="0">
              <a:buNone/>
            </a:pPr>
            <a:r>
              <a:rPr lang="en-US" b="1" dirty="0"/>
              <a:t>3. Domain Name System – 1980s</a:t>
            </a:r>
          </a:p>
          <a:p>
            <a:r>
              <a:rPr lang="en-US" dirty="0"/>
              <a:t>As the number of Internet-connected computers increased, remembering numerical IP addresses became difficult.</a:t>
            </a:r>
          </a:p>
          <a:p>
            <a:r>
              <a:rPr lang="en-US" dirty="0"/>
              <a:t>The </a:t>
            </a:r>
            <a:r>
              <a:rPr lang="en-US" b="1" dirty="0"/>
              <a:t>Domain Name System (DNS)</a:t>
            </a:r>
            <a:r>
              <a:rPr lang="en-US" dirty="0"/>
              <a:t> was introduced to map human-readable domain names, such as example.com, to IP addresses.</a:t>
            </a:r>
          </a:p>
          <a:p>
            <a:r>
              <a:rPr lang="en-US" dirty="0"/>
              <a:t>This made Internet resources easier to access.</a:t>
            </a:r>
          </a:p>
          <a:p>
            <a:pPr marL="0" indent="0">
              <a:buNone/>
            </a:pPr>
            <a:r>
              <a:rPr lang="en-US" b="1" dirty="0"/>
              <a:t>4. World Wide Web – 1989–1990s</a:t>
            </a:r>
          </a:p>
          <a:p>
            <a:r>
              <a:rPr lang="en-US" b="1" dirty="0"/>
              <a:t>Tim Berners-Lee</a:t>
            </a:r>
            <a:r>
              <a:rPr lang="en-US" dirty="0"/>
              <a:t> developed the </a:t>
            </a:r>
            <a:r>
              <a:rPr lang="en-US" b="1" dirty="0"/>
              <a:t>World Wide Web (WWW)</a:t>
            </a:r>
            <a:r>
              <a:rPr lang="en-US" dirty="0"/>
              <a:t> while working at CERN.</a:t>
            </a:r>
          </a:p>
          <a:p>
            <a:r>
              <a:rPr lang="en-US" dirty="0"/>
              <a:t>The Web introduced important technologies such as:</a:t>
            </a:r>
          </a:p>
          <a:p>
            <a:pPr lvl="0"/>
            <a:r>
              <a:rPr lang="en-US" b="1" dirty="0"/>
              <a:t>HTML</a:t>
            </a:r>
            <a:r>
              <a:rPr lang="en-US" dirty="0"/>
              <a:t> – for creating webpages</a:t>
            </a:r>
          </a:p>
          <a:p>
            <a:pPr lvl="0"/>
            <a:r>
              <a:rPr lang="en-US" b="1" dirty="0"/>
              <a:t>HTTP</a:t>
            </a:r>
            <a:r>
              <a:rPr lang="en-US" dirty="0"/>
              <a:t> – for transferring web resources</a:t>
            </a:r>
          </a:p>
          <a:p>
            <a:pPr lvl="0"/>
            <a:r>
              <a:rPr lang="en-US" b="1" dirty="0"/>
              <a:t>URLs</a:t>
            </a:r>
            <a:r>
              <a:rPr lang="en-US" dirty="0"/>
              <a:t> – for identifying web resources</a:t>
            </a:r>
          </a:p>
          <a:p>
            <a:r>
              <a:rPr lang="en-US" dirty="0"/>
              <a:t>The Web made the Internet much easier for ordinary people to use.</a:t>
            </a:r>
          </a:p>
          <a:p>
            <a:endParaRPr lang="en-US" dirty="0"/>
          </a:p>
        </p:txBody>
      </p:sp>
    </p:spTree>
    <p:extLst>
      <p:ext uri="{BB962C8B-B14F-4D97-AF65-F5344CB8AC3E}">
        <p14:creationId xmlns:p14="http://schemas.microsoft.com/office/powerpoint/2010/main" val="3629115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B2A02F08-3BA0-F20B-01E8-B094BD321A11}"/>
              </a:ext>
            </a:extLst>
          </p:cNvPr>
          <p:cNvSpPr>
            <a:spLocks noGrp="1"/>
          </p:cNvSpPr>
          <p:nvPr>
            <p:ph idx="1"/>
          </p:nvPr>
        </p:nvSpPr>
        <p:spPr>
          <a:xfrm>
            <a:off x="838200" y="805758"/>
            <a:ext cx="10515600" cy="5371205"/>
          </a:xfrm>
        </p:spPr>
        <p:txBody>
          <a:bodyPr>
            <a:normAutofit fontScale="47500" lnSpcReduction="20000"/>
          </a:bodyPr>
          <a:lstStyle/>
          <a:p>
            <a:pPr marL="0" indent="0">
              <a:buNone/>
            </a:pPr>
            <a:r>
              <a:rPr lang="en-US" b="1" dirty="0"/>
              <a:t>5. Commercial Internet – 1990s</a:t>
            </a:r>
          </a:p>
          <a:p>
            <a:r>
              <a:rPr lang="en-US" dirty="0"/>
              <a:t>During the 1990s, the Internet moved beyond research and academic institutions.</a:t>
            </a:r>
          </a:p>
          <a:p>
            <a:pPr lvl="0"/>
            <a:r>
              <a:rPr lang="en-US" dirty="0"/>
              <a:t>Internet Service Providers (ISPs) began offering public Internet access.</a:t>
            </a:r>
          </a:p>
          <a:p>
            <a:pPr lvl="0"/>
            <a:r>
              <a:rPr lang="en-US" dirty="0"/>
              <a:t>Web browsers made browsing easier.</a:t>
            </a:r>
          </a:p>
          <a:p>
            <a:pPr lvl="0"/>
            <a:r>
              <a:rPr lang="en-US" dirty="0"/>
              <a:t>Search engines and websites became increasingly popular.</a:t>
            </a:r>
          </a:p>
          <a:p>
            <a:pPr lvl="0"/>
            <a:r>
              <a:rPr lang="en-US" dirty="0"/>
              <a:t>Businesses began establishing an online presence.</a:t>
            </a:r>
          </a:p>
          <a:p>
            <a:pPr lvl="0"/>
            <a:r>
              <a:rPr lang="en-US" dirty="0"/>
              <a:t>E-commerce started developing.</a:t>
            </a:r>
          </a:p>
          <a:p>
            <a:r>
              <a:rPr lang="en-US" dirty="0"/>
              <a:t>This period marked the beginning of widespread public Internet use.</a:t>
            </a:r>
          </a:p>
          <a:p>
            <a:pPr marL="0" indent="0">
              <a:buNone/>
            </a:pPr>
            <a:r>
              <a:rPr lang="en-US" b="1" dirty="0"/>
              <a:t>6. Web 2.0 – 2000s</a:t>
            </a:r>
          </a:p>
          <a:p>
            <a:r>
              <a:rPr lang="en-US" dirty="0"/>
              <a:t>The Internet became more interactive and user-driven.</a:t>
            </a:r>
          </a:p>
          <a:p>
            <a:r>
              <a:rPr lang="en-US" dirty="0"/>
              <a:t>Users could not only consume information but also </a:t>
            </a:r>
            <a:r>
              <a:rPr lang="en-US" b="1" dirty="0"/>
              <a:t>create and share content</a:t>
            </a:r>
            <a:r>
              <a:rPr lang="en-US" dirty="0"/>
              <a:t>.</a:t>
            </a:r>
          </a:p>
          <a:p>
            <a:r>
              <a:rPr lang="en-US" dirty="0"/>
              <a:t>Examples included:</a:t>
            </a:r>
          </a:p>
          <a:p>
            <a:pPr lvl="0"/>
            <a:r>
              <a:rPr lang="en-US" dirty="0"/>
              <a:t>Social networking</a:t>
            </a:r>
          </a:p>
          <a:p>
            <a:pPr lvl="0"/>
            <a:r>
              <a:rPr lang="en-US" dirty="0"/>
              <a:t>Blogs</a:t>
            </a:r>
          </a:p>
          <a:p>
            <a:pPr lvl="0"/>
            <a:r>
              <a:rPr lang="en-US" dirty="0"/>
              <a:t>Wikis</a:t>
            </a:r>
          </a:p>
          <a:p>
            <a:pPr lvl="0"/>
            <a:r>
              <a:rPr lang="en-US" dirty="0"/>
              <a:t>Online video sharing</a:t>
            </a:r>
          </a:p>
          <a:p>
            <a:pPr lvl="0"/>
            <a:r>
              <a:rPr lang="en-US" dirty="0"/>
              <a:t>Online collaboration</a:t>
            </a:r>
          </a:p>
          <a:p>
            <a:pPr lvl="0"/>
            <a:r>
              <a:rPr lang="en-US" dirty="0"/>
              <a:t>Cloud-based services</a:t>
            </a:r>
          </a:p>
          <a:p>
            <a:r>
              <a:rPr lang="en-US" dirty="0"/>
              <a:t>Web applications became an important part of everyday Internet use.</a:t>
            </a:r>
          </a:p>
          <a:p>
            <a:endParaRPr lang="en-US" dirty="0"/>
          </a:p>
        </p:txBody>
      </p:sp>
    </p:spTree>
    <p:extLst>
      <p:ext uri="{BB962C8B-B14F-4D97-AF65-F5344CB8AC3E}">
        <p14:creationId xmlns:p14="http://schemas.microsoft.com/office/powerpoint/2010/main" val="15592128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ED0CC8-D909-54C1-C18F-804A418EEE64}"/>
              </a:ext>
            </a:extLst>
          </p:cNvPr>
          <p:cNvSpPr>
            <a:spLocks noGrp="1"/>
          </p:cNvSpPr>
          <p:nvPr>
            <p:ph idx="1"/>
          </p:nvPr>
        </p:nvSpPr>
        <p:spPr>
          <a:xfrm>
            <a:off x="838200" y="497941"/>
            <a:ext cx="10515600" cy="5679022"/>
          </a:xfrm>
        </p:spPr>
        <p:txBody>
          <a:bodyPr>
            <a:normAutofit fontScale="55000" lnSpcReduction="20000"/>
          </a:bodyPr>
          <a:lstStyle/>
          <a:p>
            <a:pPr marL="0" indent="0">
              <a:buNone/>
            </a:pPr>
            <a:r>
              <a:rPr lang="en-US" b="1" dirty="0"/>
              <a:t>7. Mobile and Wireless Internet – 2010s</a:t>
            </a:r>
          </a:p>
          <a:p>
            <a:r>
              <a:rPr lang="en-US" dirty="0"/>
              <a:t>The growth of </a:t>
            </a:r>
            <a:r>
              <a:rPr lang="en-US" b="1" dirty="0"/>
              <a:t>smartphones, mobile networks, Wi-Fi, and 4G</a:t>
            </a:r>
            <a:r>
              <a:rPr lang="en-US" dirty="0"/>
              <a:t> changed how people accessed the Internet.</a:t>
            </a:r>
          </a:p>
          <a:p>
            <a:r>
              <a:rPr lang="en-US" dirty="0"/>
              <a:t>People could access websites and applications from almost anywhere.</a:t>
            </a:r>
          </a:p>
          <a:p>
            <a:r>
              <a:rPr lang="en-US" dirty="0"/>
              <a:t>Popular activities included:</a:t>
            </a:r>
          </a:p>
          <a:p>
            <a:pPr lvl="0"/>
            <a:r>
              <a:rPr lang="en-US" dirty="0"/>
              <a:t>Mobile banking</a:t>
            </a:r>
          </a:p>
          <a:p>
            <a:pPr lvl="0"/>
            <a:r>
              <a:rPr lang="en-US" dirty="0"/>
              <a:t>Social media</a:t>
            </a:r>
          </a:p>
          <a:p>
            <a:pPr lvl="0"/>
            <a:r>
              <a:rPr lang="en-US" dirty="0"/>
              <a:t>Video streaming</a:t>
            </a:r>
          </a:p>
          <a:p>
            <a:pPr lvl="0"/>
            <a:r>
              <a:rPr lang="en-US" dirty="0"/>
              <a:t>Online shopping</a:t>
            </a:r>
          </a:p>
          <a:p>
            <a:pPr lvl="0"/>
            <a:r>
              <a:rPr lang="en-US" dirty="0"/>
              <a:t>GPS and location-based services</a:t>
            </a:r>
          </a:p>
          <a:p>
            <a:pPr lvl="0"/>
            <a:r>
              <a:rPr lang="en-US" dirty="0"/>
              <a:t>Mobile applications</a:t>
            </a:r>
          </a:p>
          <a:p>
            <a:pPr marL="0" indent="0">
              <a:buNone/>
            </a:pPr>
            <a:r>
              <a:rPr lang="en-US" b="1" dirty="0"/>
              <a:t>8. Modern Internet – 2020s and Beyond</a:t>
            </a:r>
          </a:p>
          <a:p>
            <a:r>
              <a:rPr lang="en-US" dirty="0"/>
              <a:t>Today, the Internet connects a huge variety of devices and services.</a:t>
            </a:r>
          </a:p>
          <a:p>
            <a:r>
              <a:rPr lang="en-US" dirty="0"/>
              <a:t>Major developments include:</a:t>
            </a:r>
          </a:p>
          <a:p>
            <a:pPr lvl="0"/>
            <a:r>
              <a:rPr lang="en-US" b="1" dirty="0"/>
              <a:t>5G networks</a:t>
            </a:r>
            <a:endParaRPr lang="en-US" dirty="0"/>
          </a:p>
          <a:p>
            <a:pPr lvl="0"/>
            <a:r>
              <a:rPr lang="en-US" b="1" dirty="0"/>
              <a:t>Cloud computing</a:t>
            </a:r>
            <a:endParaRPr lang="en-US" dirty="0"/>
          </a:p>
          <a:p>
            <a:pPr lvl="0"/>
            <a:r>
              <a:rPr lang="en-US" b="1" dirty="0"/>
              <a:t>Internet of Things (IoT)</a:t>
            </a:r>
            <a:endParaRPr lang="en-US" dirty="0"/>
          </a:p>
          <a:p>
            <a:pPr lvl="0"/>
            <a:r>
              <a:rPr lang="en-US" b="1" dirty="0"/>
              <a:t>Artificial intelligence</a:t>
            </a:r>
            <a:endParaRPr lang="en-US" dirty="0"/>
          </a:p>
          <a:p>
            <a:pPr lvl="0"/>
            <a:r>
              <a:rPr lang="en-US" b="1" dirty="0"/>
              <a:t>Edge computing</a:t>
            </a:r>
            <a:endParaRPr lang="en-US" dirty="0"/>
          </a:p>
          <a:p>
            <a:pPr lvl="0"/>
            <a:r>
              <a:rPr lang="en-US" b="1" dirty="0"/>
              <a:t>High-speed fiber networks</a:t>
            </a:r>
            <a:endParaRPr lang="en-US" dirty="0"/>
          </a:p>
          <a:p>
            <a:endParaRPr lang="en-US" dirty="0"/>
          </a:p>
        </p:txBody>
      </p:sp>
    </p:spTree>
    <p:extLst>
      <p:ext uri="{BB962C8B-B14F-4D97-AF65-F5344CB8AC3E}">
        <p14:creationId xmlns:p14="http://schemas.microsoft.com/office/powerpoint/2010/main" val="7840092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3101</Words>
  <Application>Microsoft Office PowerPoint</Application>
  <PresentationFormat>Widescreen</PresentationFormat>
  <Paragraphs>266</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-apple-system-body</vt:lpstr>
      <vt:lpstr>Aptos</vt:lpstr>
      <vt:lpstr>Aptos Display</vt:lpstr>
      <vt:lpstr>Arial</vt:lpstr>
      <vt:lpstr>Nunito</vt:lpstr>
      <vt:lpstr>Office Theme</vt:lpstr>
      <vt:lpstr> </vt:lpstr>
      <vt:lpstr>What are Static Web Pages?</vt:lpstr>
      <vt:lpstr>PowerPoint Presentation</vt:lpstr>
      <vt:lpstr>What are Dynamic Web Pages? </vt:lpstr>
      <vt:lpstr>PowerPoint Presentation</vt:lpstr>
      <vt:lpstr>PowerPoint Presentation</vt:lpstr>
      <vt:lpstr>4b)Explain the concept of web Applications with suitable examples.</vt:lpstr>
      <vt:lpstr>Suitable Examples </vt:lpstr>
      <vt:lpstr>5a) Explain  the working of  HTTP  and HTTPS protocols.Compare them with respect to communication,security and applications</vt:lpstr>
      <vt:lpstr>PowerPoint Presentation</vt:lpstr>
      <vt:lpstr>PowerPoint Presentation</vt:lpstr>
      <vt:lpstr>Hypertext Transfer Protocol Secure (HTTPS) </vt:lpstr>
      <vt:lpstr>PowerPoint Presentation</vt:lpstr>
      <vt:lpstr>Explain the concept of web privacy.</vt:lpstr>
      <vt:lpstr>Common Threats to Web Privacy </vt:lpstr>
      <vt:lpstr>Discuss the importance of web privacy in internet communication.</vt:lpstr>
      <vt:lpstr>PowerPoint Presentation</vt:lpstr>
      <vt:lpstr>Explain Content Delivery and discuss how Content Delivery Networks (CDNS)improve internet performance. </vt:lpstr>
      <vt:lpstr>How Content Delivery Works </vt:lpstr>
      <vt:lpstr>Ways CDNs Improve Internet Performance </vt:lpstr>
      <vt:lpstr>PowerPoint Presentation</vt:lpstr>
      <vt:lpstr>Internet Traffic and Its Characteristics </vt:lpstr>
      <vt:lpstr>Characteristics of Internet Traffic </vt:lpstr>
      <vt:lpstr>PowerPoint Presentation</vt:lpstr>
      <vt:lpstr>Relationship Between Content Delivery and Internet Traffic </vt:lpstr>
      <vt:lpstr>PowerPoint Presentation</vt:lpstr>
      <vt:lpstr>PowerPoint Presentation</vt:lpstr>
      <vt:lpstr>Compare Client Server architecture and Peer to Peer networks with suitable examples.</vt:lpstr>
      <vt:lpstr>Peer-to-Peer Network </vt:lpstr>
      <vt:lpstr>         Example: In a P2P file-sharing system, different computers can exchange pieces of a file directly with one another rather than downloading everything from one central server.</vt:lpstr>
      <vt:lpstr>PowerPoint Presentation</vt:lpstr>
      <vt:lpstr>Evolution of the Internet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SVCE</dc:creator>
  <cp:lastModifiedBy>SVCE</cp:lastModifiedBy>
  <cp:revision>33</cp:revision>
  <dcterms:created xsi:type="dcterms:W3CDTF">2026-09-11T16:55:32Z</dcterms:created>
  <dcterms:modified xsi:type="dcterms:W3CDTF">2026-09-11T18:14:45Z</dcterms:modified>
</cp:coreProperties>
</file>